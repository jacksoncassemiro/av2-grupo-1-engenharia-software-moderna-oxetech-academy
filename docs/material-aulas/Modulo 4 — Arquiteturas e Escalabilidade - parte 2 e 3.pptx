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5143500" cy="9144000"/>
  <p:embeddedFontLst>
    <p:embeddedFont>
      <p:font typeface="Roboto"/>
      <p:bold r:id="rId88"/>
      <p:boldItalic r:id="rId89"/>
    </p:embeddedFont>
    <p:embeddedFont>
      <p:font typeface="Roboto Medium"/>
      <p:regular r:id="rId90"/>
      <p:bold r:id="rId91"/>
      <p:italic r:id="rId92"/>
      <p:boldItalic r:id="rId93"/>
    </p:embeddedFont>
    <p:embeddedFont>
      <p:font typeface="IBM Plex Mono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8" roundtripDataSignature="AMtx7mgioXH51rUFdGHMBvYwP7iLw0Y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61BDE-00F7-468C-AC32-F8DF8D188D39}">
  <a:tblStyle styleId="{BB561BDE-00F7-468C-AC32-F8DF8D188D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IBMPlexMono-bold.fntdata"/><Relationship Id="rId94" Type="http://schemas.openxmlformats.org/officeDocument/2006/relationships/font" Target="fonts/IBMPlexMono-regular.fntdata"/><Relationship Id="rId97" Type="http://schemas.openxmlformats.org/officeDocument/2006/relationships/font" Target="fonts/IBMPlexMono-boldItalic.fntdata"/><Relationship Id="rId96" Type="http://schemas.openxmlformats.org/officeDocument/2006/relationships/font" Target="fonts/IBMPlex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8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RobotoMedium-bold.fntdata"/><Relationship Id="rId90" Type="http://schemas.openxmlformats.org/officeDocument/2006/relationships/font" Target="fonts/RobotoMedium-regular.fntdata"/><Relationship Id="rId93" Type="http://schemas.openxmlformats.org/officeDocument/2006/relationships/font" Target="fonts/RobotoMedium-boldItalic.fntdata"/><Relationship Id="rId92" Type="http://schemas.openxmlformats.org/officeDocument/2006/relationships/font" Target="fonts/Roboto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font" Target="fonts/Roboto-bold.fntdata"/><Relationship Id="rId87" Type="http://schemas.openxmlformats.org/officeDocument/2006/relationships/slide" Target="slides/slide82.xml"/><Relationship Id="rId89" Type="http://schemas.openxmlformats.org/officeDocument/2006/relationships/font" Target="fonts/Roboto-boldItalic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5c3bc1242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3e5c3bc1242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5c3bc1242_0_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e5c3bc1242_0_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5c3bc1242_0_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e5c3bc1242_0_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5c3bc1242_0_1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e5c3bc1242_0_1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5c3bc1242_0_1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e5c3bc1242_0_1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5c3bc1242_0_7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e5c3bc1242_0_7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c3bc1242_0_8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c3bc1242_0_8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5c3bc1242_0_8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5c3bc1242_0_8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5c3bc1242_0_19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5c3bc1242_0_19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c3bc1242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5c3bc1242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5c3bc1242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5c3bc1242_0_209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5c3bc1242_0_20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5c3bc1242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e5c3bc1242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5c3bc1242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c3bc1242_0_9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5c3bc1242_0_9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5c3bc1242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5c3bc1242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5c3bc1242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5c3bc1242_0_21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5c3bc1242_0_21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5c3bc1242_0_20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5c3bc1242_0_20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5c3bc1242_0_20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5c3bc1242_0_20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5c3bc1242_0_21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5c3bc1242_0_2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5c3bc1242_0_22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5c3bc1242_0_2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5c3bc1242_0_22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5c3bc1242_0_2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5c3bc1242_0_23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5c3bc1242_0_23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5c3bc1242_0_23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e5c3bc1242_0_23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5c3bc1242_0_239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e5c3bc1242_0_23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5c3bc1242_0_244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5c3bc1242_0_24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5c3bc1242_0_248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e5c3bc1242_0_24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5c3bc1242_0_252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e5c3bc1242_0_25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5c3bc1242_0_25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e5c3bc1242_0_25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5c3bc1242_0_26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e5c3bc1242_0_26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e5c3bc1242_0_26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e5c3bc1242_0_26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e5c3bc1242_0_27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e5c3bc1242_0_27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e5c3bc1242_0_27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e5c3bc1242_0_27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e5c3bc1242_0_279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e5c3bc1242_0_27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e5c3bc1242_0_28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e5c3bc1242_0_28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e5c3bc1242_0_28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e5c3bc1242_0_28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e5c3bc1242_0_29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e5c3bc1242_0_29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e5c3bc1242_0_29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3e5c3bc1242_0_29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e5c3bc1242_0_30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e5c3bc1242_0_30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2" name="Google Shape;133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e5c3bc1242_0_30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e5c3bc1242_0_30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e5c3bc1242_0_31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e5c3bc1242_0_31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1" name="Google Shape;140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e5c3bc1242_0_314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3e5c3bc1242_0_31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e5c3bc1242_0_318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e5c3bc1242_0_31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5" name="Google Shape;14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e5c3bc1242_0_32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e5c3bc1242_0_32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5" name="Google Shape;151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e5c3bc1242_0_328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e5c3bc1242_0_32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5" name="Google Shape;158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3e5c3bc1242_0_33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3e5c3bc1242_0_33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2" name="Google Shape;163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3e5c3bc1242_0_33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3e5c3bc1242_0_33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3e5c3bc1242_0_342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3e5c3bc1242_0_34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3" name="Google Shape;18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5c3bc1242_0_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g3e5c3bc1242_0_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g3e5c3bc1242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5c3bc1242_0_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7" name="Google Shape;17;g3e5c3bc1242_0_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e5c3bc1242_0_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e5c3bc1242_0_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g3e5c3bc1242_0_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e5c3bc1242_0_3"/>
          <p:cNvSpPr txBox="1"/>
          <p:nvPr>
            <p:ph type="title"/>
          </p:nvPr>
        </p:nvSpPr>
        <p:spPr>
          <a:xfrm>
            <a:off x="311700" y="2120147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Cronograma</a:t>
            </a:r>
            <a:endParaRPr b="1"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oogle Shape;35;g3e5c3bc1242_0_7"/>
          <p:cNvGraphicFramePr/>
          <p:nvPr/>
        </p:nvGraphicFramePr>
        <p:xfrm>
          <a:off x="535650" y="13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{BB561BDE-00F7-468C-AC32-F8DF8D188D39}</a:tableStyleId>
              </a:tblPr>
              <a:tblGrid>
                <a:gridCol w="4120550"/>
                <a:gridCol w="4120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Módulos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Conteúdo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Módulo 1 — Fundamentos da Engenharia Moderna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Processos, versionamento e code review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Gestão de dependências, Documentação viva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Módulo 2 — Clean Code e SOLID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Legibilidade, funções e acoplamento, SOLID aplicado, Refatoração incremental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Módulo 3 — Back -end com Node.js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Factory, Strategy,Observer, Repository, Adapter, Decorator, Anti -patterns comuns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g3e5c3bc1242_0_11"/>
          <p:cNvGraphicFramePr/>
          <p:nvPr/>
        </p:nvGraphicFramePr>
        <p:xfrm>
          <a:off x="517925" y="122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{BB561BDE-00F7-468C-AC32-F8DF8D188D39}</a:tableStyleId>
              </a:tblPr>
              <a:tblGrid>
                <a:gridCol w="4120550"/>
                <a:gridCol w="4120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Módulos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Conteúdo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Módulo 4 — Arquiteturas e Escalabilidade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Monólito modular, hexagonal, Microserviços e mensageria, DDD básico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Módulo 5 — Qualidade, Testes e Segurança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Pirâmide de testes e cobertura, Sonar, linters, quality gates, Segurança básica em apps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Módulo 6 — CI/ CD e Operação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Pipelines ( build/ test/ deploy), Blue green, canary e rollback, Observabilidade ( logs/ metrics/ traces)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Módulo 7 — Projeto Final Integrador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Sistema modular com integração contínua, Qualidade e observabilidade integradas, Defesa técnica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5c3bc1242_0_15"/>
          <p:cNvSpPr txBox="1"/>
          <p:nvPr>
            <p:ph type="title"/>
          </p:nvPr>
        </p:nvSpPr>
        <p:spPr>
          <a:xfrm>
            <a:off x="311700" y="2120147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Revisão</a:t>
            </a:r>
            <a:endParaRPr b="1"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5c3bc1242_0_76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Arquitetura de Software: Fundamentos e Práticas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428625" y="839391"/>
            <a:ext cx="8286750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Uma jornada completa para entender e implementar arquiteturas modernas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28625" y="1066205"/>
            <a:ext cx="4093369" cy="182768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514350" y="1151930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📚 O que é Arquitetura de Software?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514350" y="1368028"/>
            <a:ext cx="3921919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 de Software é o design de alto nível de um sistema de software. Define a estrutura, componentes, interfaces e comportamento do sistema como um todo. É como o "blueprint" de um edifício - estabelece como as partes se conectam e interagem.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514350" y="1836641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Uma boa arquitetura permite que o sistema seja: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514350" y="2030946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Escalável (cresce com a demanda)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514350" y="2225250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Manutenível (fácil de modificar)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514350" y="2419555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Testável (fácil de validar)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514350" y="2613859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Resiliente (tolera falhas)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4622006" y="1066205"/>
            <a:ext cx="4093369" cy="182768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4707731" y="1151930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Objetivos desta Aula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707731" y="1368028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Entender os conceitos fundamentais de arquitetura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707731" y="1562333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Conhecer diferentes estilos arquiteturais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4707731" y="1756637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padrões de design e implementação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4707731" y="1950941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Explorar tecnologias modernas (Kafka, Kubernetes)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4707731" y="2145246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Analisar casos reais de grandes empresas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4707731" y="2339550"/>
            <a:ext cx="3921919" cy="13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Desenvolver habilidades de decisão arquitetural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59450" y="2979625"/>
            <a:ext cx="4825200" cy="124470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85725" y="3065338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📖 Referências Principais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85725" y="3281437"/>
            <a:ext cx="89725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Microservices</a:t>
            </a: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Sam Newman (2015) - Guia prático sobre design de microserviços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85725" y="3452887"/>
            <a:ext cx="89725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Software Architecture: The Hard Parts</a:t>
            </a: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Ford, Richards, Parsons (2021) - Decisões arquiteturais complexas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85725" y="3624337"/>
            <a:ext cx="89725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Domain-Driven Design</a:t>
            </a: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Eric Evans (2003) - Design orientado ao domínio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85725" y="3795787"/>
            <a:ext cx="89725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Phoenix Project</a:t>
            </a: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Gene Kim (2013) - DevOps e cultura organizacional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85725" y="3967237"/>
            <a:ext cx="89725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Designing Data-Intensive Applications</a:t>
            </a: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 Martin Kleppmann (2017) - Sistemas distribuídos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5c3bc1242_0_8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Conceitos Fundamentais de Arquitetura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 pilares que sustentam qualquer decisão arquitetural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28625" y="1191220"/>
            <a:ext cx="8286750" cy="64293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514350" y="1276945"/>
            <a:ext cx="81153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🏗️ Componentes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514350" y="1421606"/>
            <a:ext cx="8115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São as partes independentes do sistema. Cada componente tem uma responsabilidade específica. Exemplo: em um e-commerce, temos componentes de Pedidos, Pagamento, Inventário, etc. Componentes bem definidos facilitam manutenção e testes.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14350" y="1578769"/>
            <a:ext cx="8115300" cy="16966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514350" y="1578769"/>
            <a:ext cx="8115300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Exemplo: UserService, OrderService, PaymentService (cada um é um componente)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28625" y="1905595"/>
            <a:ext cx="8286750" cy="64293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14350" y="1991320"/>
            <a:ext cx="81153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🔗 Conectores/Interfaces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514350" y="2135981"/>
            <a:ext cx="8115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São as formas como os componentes se comunicam. Podem ser síncronos (REST APIs, gRPC) ou assíncronos (Message Queues, Event Streams). Uma boa interface é clara, versionada e bem documentada.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14350" y="2293144"/>
            <a:ext cx="8115300" cy="16966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514350" y="2293144"/>
            <a:ext cx="8115300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Exemplo: API REST, Message Queue (Kafka), gRPC, Webhooks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28625" y="2619970"/>
            <a:ext cx="8286750" cy="64293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514350" y="2705695"/>
            <a:ext cx="81153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⚖️ Trade-offs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14350" y="2850356"/>
            <a:ext cx="8115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Toda decisão arquitetural tem prós e contras. Não existe arquitetura perfeita. Você precisa escolher baseado em seus requisitos: performance vs. simplicidade, escalabilidade vs. complexidade, etc.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14350" y="3007519"/>
            <a:ext cx="8115300" cy="16966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14350" y="3007519"/>
            <a:ext cx="8115300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Exemplo: Microserviços são escaláveis mas complexos. Monolítica é simples mas menos escalável.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28625" y="3334345"/>
            <a:ext cx="8286750" cy="64293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14350" y="3420070"/>
            <a:ext cx="81153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Requisitos Não-Funcionais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14350" y="3564731"/>
            <a:ext cx="8115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São as qualidades do sistema: performance (latência, throughput), confiabilidade (uptime), escalabilidade, segurança, manutenibilidade. A arquitetura deve ser projetada para atender esses requisitos.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14350" y="3721894"/>
            <a:ext cx="8115300" cy="16966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514350" y="3721894"/>
            <a:ext cx="8115300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Exemplo: "Sistema deve processar 1M requisições/segundo com latência &lt;100ms e 99.99% uptime"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0" y="4063008"/>
            <a:ext cx="9144000" cy="483989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5725" y="4148733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📖 Leitura Recomendada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5725" y="4364831"/>
            <a:ext cx="8972550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Software Architecture Patterns</a:t>
            </a: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- Mark Richards (2015) - Explora padrões arquiteturais fundamentais com exemplos práticos. Disponível gratuitamente em O'Reilly.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5c3bc1242_0_86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Princípios de Design de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Diretrizes fundamentais para tomar boas decisões arquiteturais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28625" y="1191220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14350" y="1276945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Separação de Responsabilidades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14350" y="14358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Cada componente deve ter uma única responsabilidade bem definida. Facilita manutenção e testes.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14350" y="1600200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14350" y="1600200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UserService: gerencia usuários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PaymentService: processa pagamentos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NotificationService: envia notificações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614863" y="1191220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700588" y="1276945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DRY (Don't Repeat Yourself)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700588" y="14358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Evite duplicação de código e lógica. Reutilize componentes e abstrações sempre que possível.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700588" y="1600200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700588" y="1600200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❌ Copiar validação em 3 serviços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Criar validador compartilhado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Usar biblioteca comum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28625" y="2136679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514350" y="2222404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KISS (Keep It Simple, Stupid)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14350" y="238135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Mantenha o design simples e direto. Evite over-engineering e complexidade desnecessária.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14350" y="2545659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14350" y="2545659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❌ 5 padrões de design em 1 classe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Solução simples que funciona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Refatore quando necessário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614863" y="2136679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4700588" y="2222404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⚡ YAGNI (You Aren't Gonna Need It)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700588" y="238135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Não implemente funcionalidades que você acha que pode precisar no futuro. Implemente apenas o necessário agora.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700588" y="2545659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4700588" y="2545659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❌ Suporte a 10 idiomas antes de precisar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Implementar quando requisitado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Evitar desperdício de tempo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428625" y="3082137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14350" y="3167862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📖 Open/Closed Principle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14350" y="33268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Aberto para extensão, fechado para modificação. Novos comportamentos sem alterar código existente.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14350" y="3491117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514350" y="3491117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Strategy Pattern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Decorator Pattern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Plugin Architecture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4614863" y="3082137"/>
            <a:ext cx="4100513" cy="85973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4700588" y="3167862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🔗 Dependency Inversion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4700588" y="33268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Dependa de abstrações, não de implementações concretas. Facilita testes e mudanças futuras.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700588" y="3491117"/>
            <a:ext cx="3929063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4700588" y="3491117"/>
            <a:ext cx="3929063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interface IRepository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class MySQLRepository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class MongoRepository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c3bc1242_0_197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Introdução a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g3e5c3bc1242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5c3bc1242_0_131"/>
          <p:cNvSpPr/>
          <p:nvPr/>
        </p:nvSpPr>
        <p:spPr>
          <a:xfrm>
            <a:off x="707231" y="312539"/>
            <a:ext cx="10020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 Academy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5c3bc1242_0_131"/>
          <p:cNvSpPr/>
          <p:nvPr/>
        </p:nvSpPr>
        <p:spPr>
          <a:xfrm>
            <a:off x="428625" y="600075"/>
            <a:ext cx="8286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Introdução a Microserviços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5c3bc1242_0_131"/>
          <p:cNvSpPr/>
          <p:nvPr/>
        </p:nvSpPr>
        <p:spPr>
          <a:xfrm>
            <a:off x="428625" y="944761"/>
            <a:ext cx="82869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moderna para aplicações escaláveis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e5c3bc1242_0_131"/>
          <p:cNvSpPr/>
          <p:nvPr/>
        </p:nvSpPr>
        <p:spPr>
          <a:xfrm>
            <a:off x="428625" y="1191220"/>
            <a:ext cx="4093500" cy="22650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g3e5c3bc1242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323547"/>
            <a:ext cx="3921919" cy="200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e5c3bc1242_0_131"/>
          <p:cNvSpPr/>
          <p:nvPr/>
        </p:nvSpPr>
        <p:spPr>
          <a:xfrm>
            <a:off x="4622006" y="1191220"/>
            <a:ext cx="4093500" cy="22650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5c3bc1242_0_131"/>
          <p:cNvSpPr/>
          <p:nvPr/>
        </p:nvSpPr>
        <p:spPr>
          <a:xfrm>
            <a:off x="4707731" y="1276945"/>
            <a:ext cx="3921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📚 O que são Microserviços?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5c3bc1242_0_131"/>
          <p:cNvSpPr/>
          <p:nvPr/>
        </p:nvSpPr>
        <p:spPr>
          <a:xfrm>
            <a:off x="4707731" y="1493044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5c3bc1242_0_131"/>
          <p:cNvSpPr/>
          <p:nvPr/>
        </p:nvSpPr>
        <p:spPr>
          <a:xfrm>
            <a:off x="4707731" y="1635919"/>
            <a:ext cx="392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Microserviços é um estilo arquitetural que estrutura uma aplicação como um conjunto de serviços pequenos, independentes e fracamente acoplados. Cada serviço é responsável por uma função de negócio específica e pode ser desenvolvido, testado e deployado independentemente.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5c3bc1242_0_131"/>
          <p:cNvSpPr/>
          <p:nvPr/>
        </p:nvSpPr>
        <p:spPr>
          <a:xfrm>
            <a:off x="4707731" y="2050256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Características Principais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5c3bc1242_0_131"/>
          <p:cNvSpPr/>
          <p:nvPr/>
        </p:nvSpPr>
        <p:spPr>
          <a:xfrm>
            <a:off x="4707731" y="2193131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Serviços pequenos e focados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5c3bc1242_0_131"/>
          <p:cNvSpPr/>
          <p:nvPr/>
        </p:nvSpPr>
        <p:spPr>
          <a:xfrm>
            <a:off x="4707731" y="2336006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Independência de deployment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5c3bc1242_0_131"/>
          <p:cNvSpPr/>
          <p:nvPr/>
        </p:nvSpPr>
        <p:spPr>
          <a:xfrm>
            <a:off x="4707731" y="2478881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Comunicação via APIs/Mensagens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5c3bc1242_0_131"/>
          <p:cNvSpPr/>
          <p:nvPr/>
        </p:nvSpPr>
        <p:spPr>
          <a:xfrm>
            <a:off x="4707731" y="2621756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Banco de dados por serviço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5c3bc1242_0_131"/>
          <p:cNvSpPr/>
          <p:nvPr/>
        </p:nvSpPr>
        <p:spPr>
          <a:xfrm>
            <a:off x="4707731" y="2764631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granular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5c3bc1242_0_131"/>
          <p:cNvSpPr/>
          <p:nvPr/>
        </p:nvSpPr>
        <p:spPr>
          <a:xfrm>
            <a:off x="4707731" y="2950369"/>
            <a:ext cx="3921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Exemplo Prático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5c3bc1242_0_131"/>
          <p:cNvSpPr/>
          <p:nvPr/>
        </p:nvSpPr>
        <p:spPr>
          <a:xfrm>
            <a:off x="4707731" y="3093244"/>
            <a:ext cx="392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Um e-commerce com Microserviços teria: Serviço de Usuários, Serviço de Pedidos, Serviço de Pagamento, Serviço de Inventário, cada um com sua própria responsabilidade e banco de dados.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5c3bc1242_0_209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Monolítica vs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e5c3bc1242_0_95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e5c3bc1242_0_95"/>
          <p:cNvSpPr/>
          <p:nvPr/>
        </p:nvSpPr>
        <p:spPr>
          <a:xfrm>
            <a:off x="428625" y="944761"/>
            <a:ext cx="82869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Entendendo os dois estilos arquiteturais mais populares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5c3bc1242_0_95"/>
          <p:cNvSpPr/>
          <p:nvPr/>
        </p:nvSpPr>
        <p:spPr>
          <a:xfrm>
            <a:off x="428625" y="1191220"/>
            <a:ext cx="4093500" cy="32166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g3e5c3bc1242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276945"/>
            <a:ext cx="3921919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5c3bc1242_0_95"/>
          <p:cNvSpPr/>
          <p:nvPr/>
        </p:nvSpPr>
        <p:spPr>
          <a:xfrm>
            <a:off x="514350" y="2662833"/>
            <a:ext cx="3921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🏢 Arquitetura Monolítica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5c3bc1242_0_95"/>
          <p:cNvSpPr/>
          <p:nvPr/>
        </p:nvSpPr>
        <p:spPr>
          <a:xfrm>
            <a:off x="514350" y="2886075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5c3bc1242_0_95"/>
          <p:cNvSpPr/>
          <p:nvPr/>
        </p:nvSpPr>
        <p:spPr>
          <a:xfrm>
            <a:off x="514350" y="3014663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Simples de desenvolver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e5c3bc1242_0_95"/>
          <p:cNvSpPr/>
          <p:nvPr/>
        </p:nvSpPr>
        <p:spPr>
          <a:xfrm>
            <a:off x="514350" y="3132534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de fazer deploy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5c3bc1242_0_95"/>
          <p:cNvSpPr/>
          <p:nvPr/>
        </p:nvSpPr>
        <p:spPr>
          <a:xfrm>
            <a:off x="514350" y="325040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Melhor performance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5c3bc1242_0_95"/>
          <p:cNvSpPr/>
          <p:nvPr/>
        </p:nvSpPr>
        <p:spPr>
          <a:xfrm>
            <a:off x="514350" y="3403997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5c3bc1242_0_95"/>
          <p:cNvSpPr/>
          <p:nvPr/>
        </p:nvSpPr>
        <p:spPr>
          <a:xfrm>
            <a:off x="514350" y="3532584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de escalar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e5c3bc1242_0_95"/>
          <p:cNvSpPr/>
          <p:nvPr/>
        </p:nvSpPr>
        <p:spPr>
          <a:xfrm>
            <a:off x="514350" y="365045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aumenta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5c3bc1242_0_95"/>
          <p:cNvSpPr/>
          <p:nvPr/>
        </p:nvSpPr>
        <p:spPr>
          <a:xfrm>
            <a:off x="514350" y="3768328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Uma falha derruba tudo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5c3bc1242_0_95"/>
          <p:cNvSpPr/>
          <p:nvPr/>
        </p:nvSpPr>
        <p:spPr>
          <a:xfrm>
            <a:off x="514350" y="3921919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5c3bc1242_0_95"/>
          <p:cNvSpPr/>
          <p:nvPr/>
        </p:nvSpPr>
        <p:spPr>
          <a:xfrm>
            <a:off x="514350" y="405050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Startups / MVP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5c3bc1242_0_95"/>
          <p:cNvSpPr/>
          <p:nvPr/>
        </p:nvSpPr>
        <p:spPr>
          <a:xfrm>
            <a:off x="514350" y="4168378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Equipes pequenas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5c3bc1242_0_95"/>
          <p:cNvSpPr/>
          <p:nvPr/>
        </p:nvSpPr>
        <p:spPr>
          <a:xfrm>
            <a:off x="4622006" y="1191220"/>
            <a:ext cx="4093500" cy="32166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g3e5c3bc1242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7731" y="1276945"/>
            <a:ext cx="3921919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e5c3bc1242_0_95"/>
          <p:cNvSpPr/>
          <p:nvPr/>
        </p:nvSpPr>
        <p:spPr>
          <a:xfrm>
            <a:off x="4707731" y="2662833"/>
            <a:ext cx="3921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Arquitetura de Microserviços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e5c3bc1242_0_95"/>
          <p:cNvSpPr/>
          <p:nvPr/>
        </p:nvSpPr>
        <p:spPr>
          <a:xfrm>
            <a:off x="4707731" y="2886075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5c3bc1242_0_95"/>
          <p:cNvSpPr/>
          <p:nvPr/>
        </p:nvSpPr>
        <p:spPr>
          <a:xfrm>
            <a:off x="4707731" y="3014663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Escalável independentemente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5c3bc1242_0_95"/>
          <p:cNvSpPr/>
          <p:nvPr/>
        </p:nvSpPr>
        <p:spPr>
          <a:xfrm>
            <a:off x="4707731" y="3132534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de manter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5c3bc1242_0_95"/>
          <p:cNvSpPr/>
          <p:nvPr/>
        </p:nvSpPr>
        <p:spPr>
          <a:xfrm>
            <a:off x="4707731" y="325040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Falhas isoladas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5c3bc1242_0_95"/>
          <p:cNvSpPr/>
          <p:nvPr/>
        </p:nvSpPr>
        <p:spPr>
          <a:xfrm>
            <a:off x="4707731" y="3403997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5c3bc1242_0_95"/>
          <p:cNvSpPr/>
          <p:nvPr/>
        </p:nvSpPr>
        <p:spPr>
          <a:xfrm>
            <a:off x="4707731" y="3532584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Complexo de desenvolver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5c3bc1242_0_95"/>
          <p:cNvSpPr/>
          <p:nvPr/>
        </p:nvSpPr>
        <p:spPr>
          <a:xfrm>
            <a:off x="4707731" y="365045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mais difíceis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5c3bc1242_0_95"/>
          <p:cNvSpPr/>
          <p:nvPr/>
        </p:nvSpPr>
        <p:spPr>
          <a:xfrm>
            <a:off x="4707731" y="3768328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 de rede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e5c3bc1242_0_95"/>
          <p:cNvSpPr/>
          <p:nvPr/>
        </p:nvSpPr>
        <p:spPr>
          <a:xfrm>
            <a:off x="4707731" y="3921919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5c3bc1242_0_95"/>
          <p:cNvSpPr/>
          <p:nvPr/>
        </p:nvSpPr>
        <p:spPr>
          <a:xfrm>
            <a:off x="4707731" y="4050506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Aplicações grandes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e5c3bc1242_0_95"/>
          <p:cNvSpPr/>
          <p:nvPr/>
        </p:nvSpPr>
        <p:spPr>
          <a:xfrm>
            <a:off x="4707731" y="4168378"/>
            <a:ext cx="39219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crítica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5c3bc1242_0_9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Padrões de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e5c3bc1242_0_153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5c3bc1242_0_153"/>
          <p:cNvSpPr/>
          <p:nvPr/>
        </p:nvSpPr>
        <p:spPr>
          <a:xfrm>
            <a:off x="428625" y="944761"/>
            <a:ext cx="82869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Padrões essenciais para construir sistemas distribuídos robustos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5c3bc1242_0_153"/>
          <p:cNvSpPr/>
          <p:nvPr/>
        </p:nvSpPr>
        <p:spPr>
          <a:xfrm>
            <a:off x="428625" y="1191220"/>
            <a:ext cx="4093500" cy="13998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5c3bc1242_0_153"/>
          <p:cNvSpPr/>
          <p:nvPr/>
        </p:nvSpPr>
        <p:spPr>
          <a:xfrm>
            <a:off x="514350" y="1276945"/>
            <a:ext cx="39219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🚪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5c3bc1242_0_153"/>
          <p:cNvSpPr/>
          <p:nvPr/>
        </p:nvSpPr>
        <p:spPr>
          <a:xfrm>
            <a:off x="514350" y="1501973"/>
            <a:ext cx="39219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Gateway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5c3bc1242_0_153"/>
          <p:cNvSpPr/>
          <p:nvPr/>
        </p:nvSpPr>
        <p:spPr>
          <a:xfrm>
            <a:off x="514350" y="1660922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5c3bc1242_0_153"/>
          <p:cNvSpPr/>
          <p:nvPr/>
        </p:nvSpPr>
        <p:spPr>
          <a:xfrm>
            <a:off x="514350" y="1764506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Clientes precisam conhecer endereço de cada serviço. Difícil de manter e escalar.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5c3bc1242_0_153"/>
          <p:cNvSpPr/>
          <p:nvPr/>
        </p:nvSpPr>
        <p:spPr>
          <a:xfrm>
            <a:off x="514350" y="1928813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5c3bc1242_0_153"/>
          <p:cNvSpPr/>
          <p:nvPr/>
        </p:nvSpPr>
        <p:spPr>
          <a:xfrm>
            <a:off x="514350" y="2032397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Ponto de entrada único que roteia requisições para serviços corretos.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5c3bc1242_0_153"/>
          <p:cNvSpPr/>
          <p:nvPr/>
        </p:nvSpPr>
        <p:spPr>
          <a:xfrm>
            <a:off x="514350" y="2196703"/>
            <a:ext cx="3921900" cy="308700"/>
          </a:xfrm>
          <a:prstGeom prst="rect">
            <a:avLst/>
          </a:prstGeom>
          <a:solidFill>
            <a:srgbClr val="000000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5c3bc1242_0_153"/>
          <p:cNvSpPr/>
          <p:nvPr/>
        </p:nvSpPr>
        <p:spPr>
          <a:xfrm>
            <a:off x="514350" y="2196703"/>
            <a:ext cx="392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GET /api/orders → OrderService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GET /api/payments → PaymentService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GET /api/inventory → InventoryService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5c3bc1242_0_153"/>
          <p:cNvSpPr/>
          <p:nvPr/>
        </p:nvSpPr>
        <p:spPr>
          <a:xfrm>
            <a:off x="4622006" y="1191220"/>
            <a:ext cx="4093500" cy="13998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5c3bc1242_0_153"/>
          <p:cNvSpPr/>
          <p:nvPr/>
        </p:nvSpPr>
        <p:spPr>
          <a:xfrm>
            <a:off x="4707731" y="1276945"/>
            <a:ext cx="39219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5c3bc1242_0_153"/>
          <p:cNvSpPr/>
          <p:nvPr/>
        </p:nvSpPr>
        <p:spPr>
          <a:xfrm>
            <a:off x="4707731" y="1501973"/>
            <a:ext cx="39219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 Discovery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5c3bc1242_0_153"/>
          <p:cNvSpPr/>
          <p:nvPr/>
        </p:nvSpPr>
        <p:spPr>
          <a:xfrm>
            <a:off x="4707731" y="1660922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e5c3bc1242_0_153"/>
          <p:cNvSpPr/>
          <p:nvPr/>
        </p:nvSpPr>
        <p:spPr>
          <a:xfrm>
            <a:off x="4707731" y="1764506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Serviços mudam de endereço (IP/porta) dinamicamente em containers.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5c3bc1242_0_153"/>
          <p:cNvSpPr/>
          <p:nvPr/>
        </p:nvSpPr>
        <p:spPr>
          <a:xfrm>
            <a:off x="4707731" y="1928813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e5c3bc1242_0_153"/>
          <p:cNvSpPr/>
          <p:nvPr/>
        </p:nvSpPr>
        <p:spPr>
          <a:xfrm>
            <a:off x="4707731" y="2032397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Registro dinâmico de serviços. Descoberta automática de localização.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5c3bc1242_0_153"/>
          <p:cNvSpPr/>
          <p:nvPr/>
        </p:nvSpPr>
        <p:spPr>
          <a:xfrm>
            <a:off x="4707731" y="2196703"/>
            <a:ext cx="3921900" cy="308700"/>
          </a:xfrm>
          <a:prstGeom prst="rect">
            <a:avLst/>
          </a:prstGeom>
          <a:solidFill>
            <a:srgbClr val="000000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5c3bc1242_0_153"/>
          <p:cNvSpPr/>
          <p:nvPr/>
        </p:nvSpPr>
        <p:spPr>
          <a:xfrm>
            <a:off x="4707731" y="2196703"/>
            <a:ext cx="392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Consul, Eureka, Kubernetes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Service registra: name, host, port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Cliente consulta registry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5c3bc1242_0_153"/>
          <p:cNvSpPr/>
          <p:nvPr/>
        </p:nvSpPr>
        <p:spPr>
          <a:xfrm>
            <a:off x="428625" y="2691017"/>
            <a:ext cx="4093500" cy="13998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5c3bc1242_0_153"/>
          <p:cNvSpPr/>
          <p:nvPr/>
        </p:nvSpPr>
        <p:spPr>
          <a:xfrm>
            <a:off x="514350" y="2776742"/>
            <a:ext cx="39219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5c3bc1242_0_153"/>
          <p:cNvSpPr/>
          <p:nvPr/>
        </p:nvSpPr>
        <p:spPr>
          <a:xfrm>
            <a:off x="514350" y="3001770"/>
            <a:ext cx="39219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Circuit Breaker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5c3bc1242_0_153"/>
          <p:cNvSpPr/>
          <p:nvPr/>
        </p:nvSpPr>
        <p:spPr>
          <a:xfrm>
            <a:off x="514350" y="3160719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5c3bc1242_0_153"/>
          <p:cNvSpPr/>
          <p:nvPr/>
        </p:nvSpPr>
        <p:spPr>
          <a:xfrm>
            <a:off x="514350" y="3264303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Falha em um serviço causa cascata de falhas em outros (cascading failure).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e5c3bc1242_0_153"/>
          <p:cNvSpPr/>
          <p:nvPr/>
        </p:nvSpPr>
        <p:spPr>
          <a:xfrm>
            <a:off x="514350" y="3428609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5c3bc1242_0_153"/>
          <p:cNvSpPr/>
          <p:nvPr/>
        </p:nvSpPr>
        <p:spPr>
          <a:xfrm>
            <a:off x="514350" y="3532194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Monitora falhas. Abre circuito para evitar requisições a serviço com falha.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5c3bc1242_0_153"/>
          <p:cNvSpPr/>
          <p:nvPr/>
        </p:nvSpPr>
        <p:spPr>
          <a:xfrm>
            <a:off x="514350" y="3696500"/>
            <a:ext cx="3921900" cy="308700"/>
          </a:xfrm>
          <a:prstGeom prst="rect">
            <a:avLst/>
          </a:prstGeom>
          <a:solidFill>
            <a:srgbClr val="000000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e5c3bc1242_0_153"/>
          <p:cNvSpPr/>
          <p:nvPr/>
        </p:nvSpPr>
        <p:spPr>
          <a:xfrm>
            <a:off x="514350" y="3696500"/>
            <a:ext cx="392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Estados: CLOSED → OPEN → HALF_OPEN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Falhas consecutivas → OPEN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Timeout → HALF_OPEN → CLOSED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5c3bc1242_0_153"/>
          <p:cNvSpPr/>
          <p:nvPr/>
        </p:nvSpPr>
        <p:spPr>
          <a:xfrm>
            <a:off x="4622006" y="2691017"/>
            <a:ext cx="4093500" cy="1399800"/>
          </a:xfrm>
          <a:prstGeom prst="rect">
            <a:avLst/>
          </a:prstGeom>
          <a:solidFill>
            <a:srgbClr val="000000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5c3bc1242_0_153"/>
          <p:cNvSpPr/>
          <p:nvPr/>
        </p:nvSpPr>
        <p:spPr>
          <a:xfrm>
            <a:off x="4707731" y="2776742"/>
            <a:ext cx="39219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5c3bc1242_0_153"/>
          <p:cNvSpPr/>
          <p:nvPr/>
        </p:nvSpPr>
        <p:spPr>
          <a:xfrm>
            <a:off x="4707731" y="3001770"/>
            <a:ext cx="39219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Saga Pattern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5c3bc1242_0_153"/>
          <p:cNvSpPr/>
          <p:nvPr/>
        </p:nvSpPr>
        <p:spPr>
          <a:xfrm>
            <a:off x="4707731" y="3160719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5c3bc1242_0_153"/>
          <p:cNvSpPr/>
          <p:nvPr/>
        </p:nvSpPr>
        <p:spPr>
          <a:xfrm>
            <a:off x="4707731" y="3264303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Transações ACID não funcionam em sistemas distribuídos.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5c3bc1242_0_153"/>
          <p:cNvSpPr/>
          <p:nvPr/>
        </p:nvSpPr>
        <p:spPr>
          <a:xfrm>
            <a:off x="4707731" y="3428609"/>
            <a:ext cx="3921900" cy="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5c3bc1242_0_153"/>
          <p:cNvSpPr/>
          <p:nvPr/>
        </p:nvSpPr>
        <p:spPr>
          <a:xfrm>
            <a:off x="4707731" y="3532194"/>
            <a:ext cx="39219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Sequência de transações locais com compensação em caso de falha.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5c3bc1242_0_153"/>
          <p:cNvSpPr/>
          <p:nvPr/>
        </p:nvSpPr>
        <p:spPr>
          <a:xfrm>
            <a:off x="4707731" y="3696500"/>
            <a:ext cx="3921900" cy="308700"/>
          </a:xfrm>
          <a:prstGeom prst="rect">
            <a:avLst/>
          </a:prstGeom>
          <a:solidFill>
            <a:srgbClr val="000000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5c3bc1242_0_153"/>
          <p:cNvSpPr/>
          <p:nvPr/>
        </p:nvSpPr>
        <p:spPr>
          <a:xfrm>
            <a:off x="4707731" y="3696500"/>
            <a:ext cx="392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 → Payment → Inventory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Falha em Inventory?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Compensate: Refund Payment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5c3bc1242_0_213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Trade-offs em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Entender as compensações entre diferentes atributos de qualidade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428625" y="1191220"/>
            <a:ext cx="2705081" cy="187702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514350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⚡ Performance vs Escalabilidade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514350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514350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Cache agressivo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514350" y="17787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Processamento síncrono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514350" y="19288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Monolítica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514350" y="209311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514350" y="222885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Processamento 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514350" y="237886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Assíncrono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514350" y="252888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514350" y="26931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escolher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514350" y="2828925"/>
            <a:ext cx="2533631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Performance: Aplicações com &lt;100k usuários. Escalabilidade: Crescimento esperado.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3219431" y="1191220"/>
            <a:ext cx="2705109" cy="187702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"/>
          <p:cNvSpPr/>
          <p:nvPr/>
        </p:nvSpPr>
        <p:spPr>
          <a:xfrm>
            <a:off x="3305156" y="1276945"/>
            <a:ext cx="253365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Consistência vs Disponibilidade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3305156" y="14930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Consistência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3305156" y="16287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Strong Consistency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3305156" y="177879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ACID Transactions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3305156" y="1928813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Banco centralizado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3305156" y="2093119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/>
          <p:nvPr/>
        </p:nvSpPr>
        <p:spPr>
          <a:xfrm>
            <a:off x="3305156" y="2228850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Eventual Consistency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3305156" y="2378869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BASE Model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3305156" y="2528888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3305156" y="269319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escolher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3305156" y="2828925"/>
            <a:ext cx="253365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Consistência: Transações financeiras. Disponibilidade: Redes sociais.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6010266" y="1191220"/>
            <a:ext cx="2705081" cy="187702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"/>
          <p:cNvSpPr/>
          <p:nvPr/>
        </p:nvSpPr>
        <p:spPr>
          <a:xfrm>
            <a:off x="6095991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Simplicidade vs Flexibilidade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6095991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Simplicidade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6095991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Monolítica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6095991" y="17787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Menos componentes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6095991" y="19288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Fácil deploy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6095991" y="209311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Flexibilidade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6095991" y="222885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6095991" y="237886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Múltiplas tecnologias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6095991" y="252888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Deploy independente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6095991" y="26931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escolher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6095991" y="2828925"/>
            <a:ext cx="2533631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Simplicidade: MVP/Prototipagem. Flexibilidade: Evolução de longo prazo.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5c3bc1242_0_20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Comunicação entre 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Síncrona vs Assíncrona: quando usar cada uma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428625" y="1191220"/>
            <a:ext cx="4093369" cy="293998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514350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📡 Comunicação Síncrona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514350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514350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Cliente aguarda resposta do servidor. Bloqueante.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514350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514350" y="2007394"/>
            <a:ext cx="3921919" cy="44860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"/>
          <p:cNvSpPr/>
          <p:nvPr/>
        </p:nvSpPr>
        <p:spPr>
          <a:xfrm>
            <a:off x="514350" y="2007394"/>
            <a:ext cx="3921919" cy="4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REST/HTTP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gRPC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SOAP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GraphQL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514350" y="252743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514350" y="267745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Simples de implementar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514350" y="28131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Resposta imediata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514350" y="2948918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de debugar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514350" y="312751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514350" y="327753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temporal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514350" y="341326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Falha em cascata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514350" y="354899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Menos escalável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514350" y="37275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514350" y="387760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Requisições que precisam de resposta imediata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4622006" y="1191220"/>
            <a:ext cx="4093369" cy="293998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"/>
          <p:cNvSpPr/>
          <p:nvPr/>
        </p:nvSpPr>
        <p:spPr>
          <a:xfrm>
            <a:off x="4707731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📨 Comunicação Assíncrona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4707731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/>
          <p:nvPr/>
        </p:nvSpPr>
        <p:spPr>
          <a:xfrm>
            <a:off x="4707731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Cliente não aguarda resposta. Não-bloqueante.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"/>
          <p:cNvSpPr/>
          <p:nvPr/>
        </p:nvSpPr>
        <p:spPr>
          <a:xfrm>
            <a:off x="4707731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4707731" y="2007394"/>
            <a:ext cx="3921919" cy="44860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"/>
          <p:cNvSpPr/>
          <p:nvPr/>
        </p:nvSpPr>
        <p:spPr>
          <a:xfrm>
            <a:off x="4707731" y="2007394"/>
            <a:ext cx="3921919" cy="4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RabbitMQ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Apache Kafka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AWS SQS/SNS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Redis Streams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4707731" y="252743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4707731" y="267745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"/>
          <p:cNvSpPr/>
          <p:nvPr/>
        </p:nvSpPr>
        <p:spPr>
          <a:xfrm>
            <a:off x="4707731" y="28131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Escalável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"/>
          <p:cNvSpPr/>
          <p:nvPr/>
        </p:nvSpPr>
        <p:spPr>
          <a:xfrm>
            <a:off x="4707731" y="2948918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Resiliente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4707731" y="312751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5"/>
          <p:cNvSpPr/>
          <p:nvPr/>
        </p:nvSpPr>
        <p:spPr>
          <a:xfrm>
            <a:off x="4707731" y="327753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complexo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/>
          <p:nvPr/>
        </p:nvSpPr>
        <p:spPr>
          <a:xfrm>
            <a:off x="4707731" y="341326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Eventual consistency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"/>
          <p:cNvSpPr/>
          <p:nvPr/>
        </p:nvSpPr>
        <p:spPr>
          <a:xfrm>
            <a:off x="4707731" y="354899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de debugar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5"/>
          <p:cNvSpPr/>
          <p:nvPr/>
        </p:nvSpPr>
        <p:spPr>
          <a:xfrm>
            <a:off x="4707731" y="37275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4707731" y="387760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Operações que não precisam de resposta imediata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5c3bc1242_0_205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Domain-Driven Design (DDD)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6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575" y="-530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Organizando sistemas complexos em torno do domínio de negócio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428625" y="1191220"/>
            <a:ext cx="1600200" cy="116217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"/>
          <p:cNvSpPr/>
          <p:nvPr/>
        </p:nvSpPr>
        <p:spPr>
          <a:xfrm>
            <a:off x="500063" y="1262658"/>
            <a:ext cx="14573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🎯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6"/>
          <p:cNvSpPr/>
          <p:nvPr/>
        </p:nvSpPr>
        <p:spPr>
          <a:xfrm>
            <a:off x="500063" y="147339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Bounded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"/>
          <p:cNvSpPr/>
          <p:nvPr/>
        </p:nvSpPr>
        <p:spPr>
          <a:xfrm>
            <a:off x="500063" y="1609130"/>
            <a:ext cx="1457325" cy="26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 explícito onde um modelo de domínio é aplicável. Cada contexto tem sua própria linguagem e regras.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500063" y="1921976"/>
            <a:ext cx="1457325" cy="29141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"/>
          <p:cNvSpPr/>
          <p:nvPr/>
        </p:nvSpPr>
        <p:spPr>
          <a:xfrm>
            <a:off x="500063" y="1921976"/>
            <a:ext cx="1457325" cy="291415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 Context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Payment Context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Inventory Context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6"/>
          <p:cNvSpPr/>
          <p:nvPr/>
        </p:nvSpPr>
        <p:spPr>
          <a:xfrm>
            <a:off x="2100263" y="1191220"/>
            <a:ext cx="1600200" cy="116217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"/>
          <p:cNvSpPr/>
          <p:nvPr/>
        </p:nvSpPr>
        <p:spPr>
          <a:xfrm>
            <a:off x="2171700" y="1262658"/>
            <a:ext cx="14573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2171700" y="147339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Ubiquitous Language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6"/>
          <p:cNvSpPr/>
          <p:nvPr/>
        </p:nvSpPr>
        <p:spPr>
          <a:xfrm>
            <a:off x="2171700" y="1609130"/>
            <a:ext cx="1457325" cy="26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Linguagem comum compartilhada entre desenvolvedores e especialistas de negócio. Evita mal-entendidos.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2171700" y="1921976"/>
            <a:ext cx="1457325" cy="29141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"/>
          <p:cNvSpPr/>
          <p:nvPr/>
        </p:nvSpPr>
        <p:spPr>
          <a:xfrm>
            <a:off x="2171700" y="1921976"/>
            <a:ext cx="1457325" cy="291415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"Order", "Payment",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"Shipment", não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"OrderDTO", "PaymentVO"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3771900" y="1191220"/>
            <a:ext cx="1600200" cy="116217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"/>
          <p:cNvSpPr/>
          <p:nvPr/>
        </p:nvSpPr>
        <p:spPr>
          <a:xfrm>
            <a:off x="3843338" y="1262658"/>
            <a:ext cx="14573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📦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3843338" y="147339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3843338" y="1609130"/>
            <a:ext cx="1457325" cy="26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 de objetos relacionados tratados como uma unidade. Tem um root que é o ponto de entrada.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3843338" y="1921976"/>
            <a:ext cx="1457325" cy="35997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"/>
          <p:cNvSpPr/>
          <p:nvPr/>
        </p:nvSpPr>
        <p:spPr>
          <a:xfrm>
            <a:off x="3843338" y="1921976"/>
            <a:ext cx="1457325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 Aggregate: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- Order (root)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- OrderItems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- Payments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5443538" y="1191220"/>
            <a:ext cx="1600200" cy="116217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"/>
          <p:cNvSpPr/>
          <p:nvPr/>
        </p:nvSpPr>
        <p:spPr>
          <a:xfrm>
            <a:off x="5514975" y="1262658"/>
            <a:ext cx="14573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💎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5514975" y="147339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Value Objects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5514975" y="1609130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Objetos sem identidade própria, definidos por seus atributos. Imutáveis e comparáveis por valor.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5514975" y="1831981"/>
            <a:ext cx="1457325" cy="35997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"/>
          <p:cNvSpPr/>
          <p:nvPr/>
        </p:nvSpPr>
        <p:spPr>
          <a:xfrm>
            <a:off x="5514975" y="1831981"/>
            <a:ext cx="1457325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Money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Address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Email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Date Range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7115175" y="1191220"/>
            <a:ext cx="1600200" cy="116217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"/>
          <p:cNvSpPr/>
          <p:nvPr/>
        </p:nvSpPr>
        <p:spPr>
          <a:xfrm>
            <a:off x="7186613" y="1262658"/>
            <a:ext cx="145732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Times New Roman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7186613" y="147339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Entities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7186613" y="1609130"/>
            <a:ext cx="1457325" cy="26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Objetos com identidade única. Continuam sendo a mesma entidade mesmo que seus atributos mudem.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7186613" y="1921976"/>
            <a:ext cx="1457325" cy="29141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"/>
          <p:cNvSpPr/>
          <p:nvPr/>
        </p:nvSpPr>
        <p:spPr>
          <a:xfrm>
            <a:off x="7186613" y="1921976"/>
            <a:ext cx="1457325" cy="291415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User (id: 123)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 (id: 456)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 (id: 789)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0" y="2439116"/>
            <a:ext cx="9144000" cy="55899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6"/>
          <p:cNvSpPr/>
          <p:nvPr/>
        </p:nvSpPr>
        <p:spPr>
          <a:xfrm>
            <a:off x="85725" y="2524841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🎓 O que é Domain-Driven Design?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85725" y="2683790"/>
            <a:ext cx="897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DDD é uma abordagem para design de software que coloca o foco no domínio de negócio. Promove a colaboração entre desenvolvedores e especialistas de negócio, resultando em modelos que refletem a realidade do negócio. É especialmente útil em sistemas complexos onde o domínio é intrincado e em constante evolução.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5c3bc1242_0_217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DDD na Prática: E-commerce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7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7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Aplicação de Domain-Driven Design em um sistema de e-commerce com múltiplos bounded contexts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428625" y="1191220"/>
            <a:ext cx="1600200" cy="120146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500063" y="1262658"/>
            <a:ext cx="14573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🛒 Order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500063" y="145553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500063" y="157410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Gerenciar pedidos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500063" y="168553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Validar pedidos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500063" y="183267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Agregados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500063" y="1951248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 (root)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500063" y="206267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OrderItem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500063" y="2174100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OrderStatus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2100263" y="1191220"/>
            <a:ext cx="1600200" cy="120146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"/>
          <p:cNvSpPr/>
          <p:nvPr/>
        </p:nvSpPr>
        <p:spPr>
          <a:xfrm>
            <a:off x="2171700" y="1262658"/>
            <a:ext cx="14573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💳 Payment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2171700" y="145553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2171700" y="157410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Processar pagamentos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2171700" y="168553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Reembolsos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2171700" y="183267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Agregados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2171700" y="1951248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 (root)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2171700" y="206267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Money (VO)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2171700" y="2174100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PaymentMethod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3771900" y="1191220"/>
            <a:ext cx="1600200" cy="120146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3843338" y="1262658"/>
            <a:ext cx="14573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📦 Inventory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3843338" y="145553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3843338" y="157410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Gerenciar estoque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3843338" y="168553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Reservar itens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3843338" y="183267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Agregados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3843338" y="1951248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Product (root)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3843338" y="206267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Stock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3843338" y="2174100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Reservation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5443538" y="1191220"/>
            <a:ext cx="1600200" cy="120146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7"/>
          <p:cNvSpPr/>
          <p:nvPr/>
        </p:nvSpPr>
        <p:spPr>
          <a:xfrm>
            <a:off x="5514975" y="1262658"/>
            <a:ext cx="14573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🚚 Shipping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5514975" y="145553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5514975" y="157410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Gerenciar envios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5514975" y="168553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Rastrear pedidos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5514975" y="183267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Agregados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5514975" y="1951248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Shipment (root)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5514975" y="206267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Address (VO)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5514975" y="2174100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TrackingInfo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7115175" y="1191220"/>
            <a:ext cx="1600200" cy="120146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"/>
          <p:cNvSpPr/>
          <p:nvPr/>
        </p:nvSpPr>
        <p:spPr>
          <a:xfrm>
            <a:off x="7186613" y="1262658"/>
            <a:ext cx="14573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📧 Notification Context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7186613" y="145553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7186613" y="157410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Enviar notificações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7186613" y="168553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Comunicação com usuário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7186613" y="183267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Agregados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7186613" y="1951248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Notification (root)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7186613" y="2062674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 (VO)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7186613" y="2174100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Template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0" y="2478407"/>
            <a:ext cx="9144000" cy="55899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"/>
          <p:cNvSpPr/>
          <p:nvPr/>
        </p:nvSpPr>
        <p:spPr>
          <a:xfrm>
            <a:off x="85725" y="2564132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Fluxo de Comunicação entre Contexts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85725" y="2723080"/>
            <a:ext cx="897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 Context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cria novo pedido → 2.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 Context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processa pagamento → 3.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Inventory Context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reserva itens → 4.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Shipping Context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prepara envio → 5.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Notification Context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envia confirmações. Cada context é independente com sua própria linguagem ubíqua e modelo de domínio.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5c3bc1242_0_22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Escalabilidade: Vertical vs Horizontal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8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8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Estratégias para aumentar a capacidade do sistema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428625" y="1191220"/>
            <a:ext cx="4093369" cy="293998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514350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📈 Escalabilidade Vertical (Scale-Up)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514350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514350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Aumentar recursos de uma máquina (CPU, RAM, Disco).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514350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514350" y="2007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Simples de implementar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514350" y="2143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mudanças de código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514350" y="227885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complexidade distribuída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514350" y="24574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514350" y="26074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 físico de hardware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514350" y="274320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 exponencial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514350" y="287893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Downtime durante upgrade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514350" y="30575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Técnicas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514350" y="3207544"/>
            <a:ext cx="3921919" cy="44860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514350" y="3207544"/>
            <a:ext cx="3921919" cy="4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Upgrade de CPU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Aumento de RAM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SSD mais rápido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Melhor rede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514350" y="37275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14350" y="387760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Aplicações com crescimento previsível e limitado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4622006" y="1191220"/>
            <a:ext cx="4093369" cy="293998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4707731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Escalabilidade Horizontal (Scale-Out)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4707731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4707731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Adicionar mais máquinas ao sistema (distribuir carga).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4707731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4707731" y="2007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ilimitada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4707731" y="2143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 linear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4707731" y="227885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downtime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4707731" y="24574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4707731" y="26074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Complexidade distribuída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4707731" y="274320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Requer mudanças de código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4707731" y="287893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Sincronização de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4707731" y="30575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Técnicas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4707731" y="3207544"/>
            <a:ext cx="3921919" cy="44860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8"/>
          <p:cNvSpPr/>
          <p:nvPr/>
        </p:nvSpPr>
        <p:spPr>
          <a:xfrm>
            <a:off x="4707731" y="3207544"/>
            <a:ext cx="3921919" cy="4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Load Balancing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Database Sharding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Cache distribuído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Microserviços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4707731" y="372758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Quando usar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4707731" y="387760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Crescimento rápido, alta concorrência, sistemas críticos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e5c3bc1242_0_225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Consistência em Sistemas Distribuídos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"/>
          <p:cNvSpPr/>
          <p:nvPr/>
        </p:nvSpPr>
        <p:spPr>
          <a:xfrm>
            <a:off x="707231" y="312539"/>
            <a:ext cx="1001911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Architecture Academy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 Theorem, Eventual Consistency e Strong Consistency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428625" y="1191220"/>
            <a:ext cx="2705081" cy="115193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514350" y="1276945"/>
            <a:ext cx="25336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514350" y="1568053"/>
            <a:ext cx="2533631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514350" y="1727002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Todos os nós veem os mesmos dados no mesmo tempo.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514350" y="1891308"/>
            <a:ext cx="2533631" cy="36611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514350" y="1891308"/>
            <a:ext cx="2533631" cy="3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Strong Consistency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Transações ACID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Banco centralizado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3219431" y="1191220"/>
            <a:ext cx="2705109" cy="115193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3305156" y="1276945"/>
            <a:ext cx="253365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3305156" y="1568053"/>
            <a:ext cx="2533659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Availability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3305156" y="1727002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sempre disponível para requisições.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3305156" y="1891308"/>
            <a:ext cx="2533659" cy="36611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"/>
          <p:cNvSpPr/>
          <p:nvPr/>
        </p:nvSpPr>
        <p:spPr>
          <a:xfrm>
            <a:off x="3305156" y="1891308"/>
            <a:ext cx="2533659" cy="3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 downtime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Responde sempre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Replicação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6010266" y="1191220"/>
            <a:ext cx="2705081" cy="115193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"/>
          <p:cNvSpPr/>
          <p:nvPr/>
        </p:nvSpPr>
        <p:spPr>
          <a:xfrm>
            <a:off x="6095991" y="1276945"/>
            <a:ext cx="253363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400"/>
              <a:buFont typeface="Roboto"/>
              <a:buNone/>
            </a:pPr>
            <a:r>
              <a:rPr b="1" i="0" lang="en-US" sz="14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6095991" y="1568053"/>
            <a:ext cx="2533631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Partition Tolerance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6095991" y="1727002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funciona mesmo com falhas de rede.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6095991" y="1891308"/>
            <a:ext cx="2533631" cy="36611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9"/>
          <p:cNvSpPr/>
          <p:nvPr/>
        </p:nvSpPr>
        <p:spPr>
          <a:xfrm>
            <a:off x="6095991" y="1891308"/>
            <a:ext cx="2533631" cy="36611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Distribuído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Tolerância a falhas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Nós independentes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428625" y="2443163"/>
            <a:ext cx="4100513" cy="12483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"/>
          <p:cNvSpPr/>
          <p:nvPr/>
        </p:nvSpPr>
        <p:spPr>
          <a:xfrm>
            <a:off x="514350" y="25288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🔒 Strong Consistency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14350" y="27449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Todos os nós sincronizados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514350" y="289500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anomalias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514350" y="304502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Transações ACID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514350" y="319504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lento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514350" y="33450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Exemplo: Banco de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514350" y="3509367"/>
            <a:ext cx="3929063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D29922"/>
                </a:solidFill>
                <a:latin typeface="Roboto"/>
                <a:ea typeface="Roboto"/>
                <a:cs typeface="Roboto"/>
                <a:sym typeface="Roboto"/>
              </a:rPr>
              <a:t>Quando: Dados críticos (financeiro)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4614863" y="2443163"/>
            <a:ext cx="4100513" cy="12483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9"/>
          <p:cNvSpPr/>
          <p:nvPr/>
        </p:nvSpPr>
        <p:spPr>
          <a:xfrm>
            <a:off x="4700588" y="25288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⏱️ Eventual Consistency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4700588" y="27449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Nós sincronizam com delay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4700588" y="289500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Anomalias temporárias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4700588" y="304502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BASE Model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4700588" y="319504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rápido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4700588" y="33450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Exemplo: Cache 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4700588" y="3509367"/>
            <a:ext cx="3929063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Quando: Dados menos críticos (social)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5c3bc1242_0_230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 Gateway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0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Ponto de entrada único para microserviços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428625" y="1191220"/>
            <a:ext cx="4093369" cy="220206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4" name="Google Shape;5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292126"/>
            <a:ext cx="3921919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0"/>
          <p:cNvSpPr/>
          <p:nvPr/>
        </p:nvSpPr>
        <p:spPr>
          <a:xfrm>
            <a:off x="4622006" y="1191220"/>
            <a:ext cx="4093369" cy="220206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0"/>
          <p:cNvSpPr/>
          <p:nvPr/>
        </p:nvSpPr>
        <p:spPr>
          <a:xfrm>
            <a:off x="4707731" y="127694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🔌 O que é API Gateway?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0"/>
          <p:cNvSpPr/>
          <p:nvPr/>
        </p:nvSpPr>
        <p:spPr>
          <a:xfrm>
            <a:off x="4707731" y="14930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0"/>
          <p:cNvSpPr/>
          <p:nvPr/>
        </p:nvSpPr>
        <p:spPr>
          <a:xfrm>
            <a:off x="4707731" y="1635919"/>
            <a:ext cx="39219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Gateway é um padrão arquitetural que fornece um ponto de entrada único para clientes (Web, Mobile, Desktop) acessarem múltiplos microserviços. Funciona como um intermediário que roteia requisições para o serviço apropriado.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4707731" y="193595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0"/>
          <p:cNvSpPr/>
          <p:nvPr/>
        </p:nvSpPr>
        <p:spPr>
          <a:xfrm>
            <a:off x="4707731" y="207883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Roteamento de requisições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4707731" y="222170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Autenticação e autorização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4707731" y="236458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Limitação de taxa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4707731" y="250745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Logging e monitoramento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4707731" y="265033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Transformação de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4707731" y="283606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 Populares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4707731" y="29789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Kong, AWS API Gateway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4707731" y="312181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Nginx, Apache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e5c3bc1242_0_235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 Discovery: Implementação Detalhada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11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1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Localizando serviços dinamicamente em ambientes distribuídos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428625" y="1191220"/>
            <a:ext cx="4093369" cy="25385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514350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📱 Client-Side Discovery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514350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514350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Cliente consulta registro e escolhe serviço.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514350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514350" y="2007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514350" y="2143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intermediário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514350" y="227885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rápido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514350" y="24574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514350" y="26074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no cliente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514350" y="274320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Dependência de SDK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14350" y="287893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complexo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514350" y="30575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514350" y="3207544"/>
            <a:ext cx="3921919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>
            <a:off x="514350" y="3207544"/>
            <a:ext cx="3921919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Consul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Eureka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etcd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4622006" y="1191220"/>
            <a:ext cx="4093369" cy="25385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/>
          <p:cNvSpPr/>
          <p:nvPr/>
        </p:nvSpPr>
        <p:spPr>
          <a:xfrm>
            <a:off x="4707731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🖥️ Server-Side Discovery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4707731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4707731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Load balancer consulta registro e roteia.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4707731" y="18573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4707731" y="2007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Transparente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4707731" y="2143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SDK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4707731" y="227885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707731" y="24574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4707731" y="26074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Ponto único falha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4707731" y="274320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 adicional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4707731" y="287893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complexo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4707731" y="30575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4707731" y="3207544"/>
            <a:ext cx="3921919" cy="36502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1"/>
          <p:cNvSpPr/>
          <p:nvPr/>
        </p:nvSpPr>
        <p:spPr>
          <a:xfrm>
            <a:off x="4707731" y="3207544"/>
            <a:ext cx="3921919" cy="36502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Kubernetes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AWS ELB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Nginx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5c3bc1242_0_239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Circuit Breaker: Implementação Detalhada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2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Prevenindo falhas em cascata com estados de circuito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428625" y="1191220"/>
            <a:ext cx="2705081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514350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🟢 Closed (Normal)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514350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Comportamento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514350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Requisições passam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514350" y="17645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Monitora falhas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514350" y="190023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Conta erros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514350" y="20645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514350" y="22002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Open (se falhas &gt; limite)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3219431" y="1191220"/>
            <a:ext cx="2705109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2"/>
          <p:cNvSpPr/>
          <p:nvPr/>
        </p:nvSpPr>
        <p:spPr>
          <a:xfrm>
            <a:off x="3305156" y="1276945"/>
            <a:ext cx="253365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🔴 Open (Falha)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3305156" y="14930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Comportamento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3305156" y="16287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Rejeita requisições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3305156" y="1764506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Retorna erro imediato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3305156" y="1900238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Aguarda timeout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3305156" y="20645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3305156" y="22002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Half-Open (após timeout)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6010266" y="1191220"/>
            <a:ext cx="2705081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2"/>
          <p:cNvSpPr/>
          <p:nvPr/>
        </p:nvSpPr>
        <p:spPr>
          <a:xfrm>
            <a:off x="6095991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🟡 Half-Open (Teste)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6095991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Comportamento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6095991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Permite requisições teste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6095991" y="17645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Monitora resultado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6095991" y="190023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Decide próximo estado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6095991" y="20645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6095991" y="22002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Closed (sucesso)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6095991" y="23360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Open (falha)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0" y="2671763"/>
            <a:ext cx="9144000" cy="57507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2"/>
          <p:cNvSpPr/>
          <p:nvPr/>
        </p:nvSpPr>
        <p:spPr>
          <a:xfrm>
            <a:off x="85725" y="2757488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⚙️ Estratégias de Resiliência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85725" y="2973586"/>
            <a:ext cx="293368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Retry Logic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85725" y="3086100"/>
            <a:ext cx="293368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Tenta novamente com backoff exponencial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3105131" y="2973586"/>
            <a:ext cx="2933709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⏱️ Timeout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3105131" y="3086100"/>
            <a:ext cx="2933709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Limita tempo de espera por resposta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6124566" y="2973586"/>
            <a:ext cx="293368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🔀 Fallback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6124566" y="3086100"/>
            <a:ext cx="293368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Retorna valor padrão em caso de falha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5c3bc1242_0_244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Saga Pattern: Implementação Detalhada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3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3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Transações distribuídas em microserviços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428625" y="1191220"/>
            <a:ext cx="4093369" cy="23592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514350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🎼 Saga Coreografada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514350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3"/>
          <p:cNvSpPr/>
          <p:nvPr/>
        </p:nvSpPr>
        <p:spPr>
          <a:xfrm>
            <a:off x="514350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 1 executa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514350" y="181451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Publica evento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514350" y="19502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 2 escuta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514350" y="20859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Continua cadeia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3"/>
          <p:cNvSpPr/>
          <p:nvPr/>
        </p:nvSpPr>
        <p:spPr>
          <a:xfrm>
            <a:off x="514350" y="22645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514350" y="2414588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514350" y="255031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Simples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514350" y="26860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Flexível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514350" y="28646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514350" y="30146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de rastrear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514350" y="3150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implícito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514350" y="3286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complexos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4622006" y="1191220"/>
            <a:ext cx="4093369" cy="23592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3"/>
          <p:cNvSpPr/>
          <p:nvPr/>
        </p:nvSpPr>
        <p:spPr>
          <a:xfrm>
            <a:off x="4707731" y="1276945"/>
            <a:ext cx="3921919" cy="18038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🎭 Saga Orquestrada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4707731" y="15287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4707731" y="1678781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Orquestrador inicia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4707731" y="181451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Chama Serviço 1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4707731" y="19502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Aguarda resposta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4707731" y="208597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Chama próximo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4707731" y="226456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3"/>
          <p:cNvSpPr/>
          <p:nvPr/>
        </p:nvSpPr>
        <p:spPr>
          <a:xfrm>
            <a:off x="4707731" y="2414588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de rastrear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4707731" y="2550319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explícito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4707731" y="2686050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simples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4707731" y="28646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4707731" y="3014663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Ponto único falha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4707731" y="315039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complexo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4707731" y="3286125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0" y="3636169"/>
            <a:ext cx="9144000" cy="59326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3"/>
          <p:cNvSpPr/>
          <p:nvPr/>
        </p:nvSpPr>
        <p:spPr>
          <a:xfrm>
            <a:off x="85725" y="3721894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📝 Exemplo: Compensating Transactions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85725" y="3937992"/>
            <a:ext cx="8972550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Pedido: 1. Reservar Inventário → 2. Processar Pagamento → 3. Enviar Pedido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 falhar em 3: Desfazer 2 (Reembolso) → Desfazer 1 (Liberar Inventário)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5c3bc1242_0_248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Apache Kafka: Fundamentos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14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4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Plataforma de streaming distribuída para processamento em tempo real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428625" y="1191220"/>
            <a:ext cx="1600200" cy="45859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4"/>
          <p:cNvSpPr/>
          <p:nvPr/>
        </p:nvSpPr>
        <p:spPr>
          <a:xfrm>
            <a:off x="500063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📚 Topics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500063" y="1398389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Categorias de mensagens. Produtores enviam para topics, consumidores leem de topics.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2100263" y="1191220"/>
            <a:ext cx="1600200" cy="45859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4"/>
          <p:cNvSpPr/>
          <p:nvPr/>
        </p:nvSpPr>
        <p:spPr>
          <a:xfrm>
            <a:off x="2171700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Partitions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4"/>
          <p:cNvSpPr/>
          <p:nvPr/>
        </p:nvSpPr>
        <p:spPr>
          <a:xfrm>
            <a:off x="2171700" y="1398389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Subdivisões de um topic. Cada partição é uma fila ordenada de mensagens.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3771900" y="1191220"/>
            <a:ext cx="1600200" cy="45859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4"/>
          <p:cNvSpPr/>
          <p:nvPr/>
        </p:nvSpPr>
        <p:spPr>
          <a:xfrm>
            <a:off x="3843338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📤 Producers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4"/>
          <p:cNvSpPr/>
          <p:nvPr/>
        </p:nvSpPr>
        <p:spPr>
          <a:xfrm>
            <a:off x="3843338" y="1398389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Aplicações que enviam mensagens para topics. Escolhem partição.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4"/>
          <p:cNvSpPr/>
          <p:nvPr/>
        </p:nvSpPr>
        <p:spPr>
          <a:xfrm>
            <a:off x="5443538" y="1191220"/>
            <a:ext cx="1600200" cy="45859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4"/>
          <p:cNvSpPr/>
          <p:nvPr/>
        </p:nvSpPr>
        <p:spPr>
          <a:xfrm>
            <a:off x="5514975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📥 Consumers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5514975" y="1398389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Aplicações que leem mensagens de topics. Rastreiam posição (offset).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4"/>
          <p:cNvSpPr/>
          <p:nvPr/>
        </p:nvSpPr>
        <p:spPr>
          <a:xfrm>
            <a:off x="7115175" y="1191220"/>
            <a:ext cx="1600200" cy="45859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4"/>
          <p:cNvSpPr/>
          <p:nvPr/>
        </p:nvSpPr>
        <p:spPr>
          <a:xfrm>
            <a:off x="7186613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🖥️ Brokers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7186613" y="1398389"/>
            <a:ext cx="1457325" cy="17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Servidores Kafka que armazenam e replicam mensagens. Formam cluster.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428625" y="1735541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4"/>
          <p:cNvSpPr/>
          <p:nvPr/>
        </p:nvSpPr>
        <p:spPr>
          <a:xfrm>
            <a:off x="514350" y="1821266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Vantagens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4"/>
          <p:cNvSpPr/>
          <p:nvPr/>
        </p:nvSpPr>
        <p:spPr>
          <a:xfrm>
            <a:off x="514350" y="203736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horizontal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514350" y="218738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Throughput alto (1M+ msg/s)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514350" y="233740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 baixa (&lt;10ms)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4"/>
          <p:cNvSpPr/>
          <p:nvPr/>
        </p:nvSpPr>
        <p:spPr>
          <a:xfrm>
            <a:off x="514350" y="248742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Replicação e durabilidade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4"/>
          <p:cNvSpPr/>
          <p:nvPr/>
        </p:nvSpPr>
        <p:spPr>
          <a:xfrm>
            <a:off x="514350" y="263743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4614863" y="1735541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4"/>
          <p:cNvSpPr/>
          <p:nvPr/>
        </p:nvSpPr>
        <p:spPr>
          <a:xfrm>
            <a:off x="4700588" y="1821266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Use Cases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4700588" y="203736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 streaming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4700588" y="218738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 agregação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4700588" y="233740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Processamento em tempo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4"/>
          <p:cNvSpPr/>
          <p:nvPr/>
        </p:nvSpPr>
        <p:spPr>
          <a:xfrm>
            <a:off x="4700588" y="248742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Integração de sistemas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4"/>
          <p:cNvSpPr/>
          <p:nvPr/>
        </p:nvSpPr>
        <p:spPr>
          <a:xfrm>
            <a:off x="4700588" y="263743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Replicação de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15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15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Implementação de sistema de processamento de pedidos com Kafka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0" y="1191220"/>
            <a:ext cx="9144000" cy="58182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5"/>
          <p:cNvSpPr/>
          <p:nvPr/>
        </p:nvSpPr>
        <p:spPr>
          <a:xfrm>
            <a:off x="85725" y="1276945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Fluxo de Order Processing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85725" y="1435894"/>
            <a:ext cx="8972550" cy="251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OrderService publica "OrderCreated" → 2. PaymentService consome e processa pagamento → 3. Publica "PaymentProcessed" → 4. InventoryService consome e reserva itens → 5. Publica "InventoryReserved" → 6. ShippingService consome e prepara envio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0" y="1858770"/>
            <a:ext cx="9144000" cy="172691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5"/>
          <p:cNvSpPr/>
          <p:nvPr/>
        </p:nvSpPr>
        <p:spPr>
          <a:xfrm>
            <a:off x="85725" y="1944495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💻 Exemplo de Código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85725" y="2103444"/>
            <a:ext cx="8972550" cy="1396519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5"/>
          <p:cNvSpPr/>
          <p:nvPr/>
        </p:nvSpPr>
        <p:spPr>
          <a:xfrm>
            <a:off x="85725" y="2103444"/>
            <a:ext cx="8972550" cy="1396519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// Producer: OrderService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const producer = kafka.producer();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await producer.send({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topic: 'orders',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messages: [{ value: JSON.stringify(order) }]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});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// Consumer: PaymentService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const consumer = kafka.consumer();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await consumer.subscribe({ topic: 'orders' });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await consumer.run({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eachMessage: async ({ message }) =&gt; {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processPayment(JSON.parse(message.value));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});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428625" y="3671413"/>
            <a:ext cx="4100513" cy="9876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5"/>
          <p:cNvSpPr/>
          <p:nvPr/>
        </p:nvSpPr>
        <p:spPr>
          <a:xfrm>
            <a:off x="514350" y="375713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Benefícios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514350" y="397323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 total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514350" y="412325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independente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514350" y="427327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Resiliência (retry)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514350" y="442329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Auditoria (log de eventos)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4614863" y="3671413"/>
            <a:ext cx="4100513" cy="9876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5"/>
          <p:cNvSpPr/>
          <p:nvPr/>
        </p:nvSpPr>
        <p:spPr>
          <a:xfrm>
            <a:off x="4700588" y="375713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Resultados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5"/>
          <p:cNvSpPr/>
          <p:nvPr/>
        </p:nvSpPr>
        <p:spPr>
          <a:xfrm>
            <a:off x="4700588" y="397323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Throughput: 1M+ msg/s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5"/>
          <p:cNvSpPr/>
          <p:nvPr/>
        </p:nvSpPr>
        <p:spPr>
          <a:xfrm>
            <a:off x="4700588" y="412325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Latência: &lt;100ms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5"/>
          <p:cNvSpPr/>
          <p:nvPr/>
        </p:nvSpPr>
        <p:spPr>
          <a:xfrm>
            <a:off x="4700588" y="427327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Disponibilidade: 99.99%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4700588" y="442329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manutenção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e5c3bc1242_0_252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Testes em Arquitetura de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17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17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Pirâmide de testes para sistemas distribuídos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7"/>
          <p:cNvSpPr/>
          <p:nvPr/>
        </p:nvSpPr>
        <p:spPr>
          <a:xfrm>
            <a:off x="428625" y="1191220"/>
            <a:ext cx="4100513" cy="142339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🧪 Unit Tests (Base)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7"/>
          <p:cNvSpPr/>
          <p:nvPr/>
        </p:nvSpPr>
        <p:spPr>
          <a:xfrm>
            <a:off x="514350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Testam funções isoladas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7"/>
          <p:cNvSpPr/>
          <p:nvPr/>
        </p:nvSpPr>
        <p:spPr>
          <a:xfrm>
            <a:off x="514350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dependências externas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7"/>
          <p:cNvSpPr/>
          <p:nvPr/>
        </p:nvSpPr>
        <p:spPr>
          <a:xfrm>
            <a:off x="514350" y="192881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7"/>
          <p:cNvSpPr/>
          <p:nvPr/>
        </p:nvSpPr>
        <p:spPr>
          <a:xfrm>
            <a:off x="514350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Jest, Mocha, pytest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7"/>
          <p:cNvSpPr/>
          <p:nvPr/>
        </p:nvSpPr>
        <p:spPr>
          <a:xfrm>
            <a:off x="514350" y="222885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Cobertura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7"/>
          <p:cNvSpPr/>
          <p:nvPr/>
        </p:nvSpPr>
        <p:spPr>
          <a:xfrm>
            <a:off x="514350" y="23645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70-80% do código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7"/>
          <p:cNvSpPr/>
          <p:nvPr/>
        </p:nvSpPr>
        <p:spPr>
          <a:xfrm>
            <a:off x="4614863" y="1191220"/>
            <a:ext cx="4100513" cy="142339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7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🔗 Integration Tests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7"/>
          <p:cNvSpPr/>
          <p:nvPr/>
        </p:nvSpPr>
        <p:spPr>
          <a:xfrm>
            <a:off x="4700588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Testam componentes juntos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7"/>
          <p:cNvSpPr/>
          <p:nvPr/>
        </p:nvSpPr>
        <p:spPr>
          <a:xfrm>
            <a:off x="4700588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 BD em memória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7"/>
          <p:cNvSpPr/>
          <p:nvPr/>
        </p:nvSpPr>
        <p:spPr>
          <a:xfrm>
            <a:off x="4700588" y="192881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7"/>
          <p:cNvSpPr/>
          <p:nvPr/>
        </p:nvSpPr>
        <p:spPr>
          <a:xfrm>
            <a:off x="4700588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TestContainers, Docker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4700588" y="222885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Cobertura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4700588" y="23645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Fluxos principais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7"/>
          <p:cNvSpPr/>
          <p:nvPr/>
        </p:nvSpPr>
        <p:spPr>
          <a:xfrm>
            <a:off x="428625" y="2700338"/>
            <a:ext cx="4100513" cy="142339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7"/>
          <p:cNvSpPr/>
          <p:nvPr/>
        </p:nvSpPr>
        <p:spPr>
          <a:xfrm>
            <a:off x="514350" y="278606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📋 Contract Tests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7"/>
          <p:cNvSpPr/>
          <p:nvPr/>
        </p:nvSpPr>
        <p:spPr>
          <a:xfrm>
            <a:off x="514350" y="30021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/>
          <p:cNvSpPr/>
          <p:nvPr/>
        </p:nvSpPr>
        <p:spPr>
          <a:xfrm>
            <a:off x="514350" y="313789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Testam contratos entre 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7"/>
          <p:cNvSpPr/>
          <p:nvPr/>
        </p:nvSpPr>
        <p:spPr>
          <a:xfrm>
            <a:off x="514350" y="327362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chamar serviço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7"/>
          <p:cNvSpPr/>
          <p:nvPr/>
        </p:nvSpPr>
        <p:spPr>
          <a:xfrm>
            <a:off x="514350" y="34379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7"/>
          <p:cNvSpPr/>
          <p:nvPr/>
        </p:nvSpPr>
        <p:spPr>
          <a:xfrm>
            <a:off x="514350" y="35736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Pact, Spring Cloud Contract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/>
          <p:nvPr/>
        </p:nvSpPr>
        <p:spPr>
          <a:xfrm>
            <a:off x="514350" y="37379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514350" y="387369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Previne breaking changes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7"/>
          <p:cNvSpPr/>
          <p:nvPr/>
        </p:nvSpPr>
        <p:spPr>
          <a:xfrm>
            <a:off x="4614863" y="2700338"/>
            <a:ext cx="4100513" cy="142339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7"/>
          <p:cNvSpPr/>
          <p:nvPr/>
        </p:nvSpPr>
        <p:spPr>
          <a:xfrm>
            <a:off x="4700588" y="278606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🚀 E2E Tests (Topo)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7"/>
          <p:cNvSpPr/>
          <p:nvPr/>
        </p:nvSpPr>
        <p:spPr>
          <a:xfrm>
            <a:off x="4700588" y="30021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4700588" y="313789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Testam fluxo completo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7"/>
          <p:cNvSpPr/>
          <p:nvPr/>
        </p:nvSpPr>
        <p:spPr>
          <a:xfrm>
            <a:off x="4700588" y="327362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Ambiente similar produção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4700588" y="34379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4700588" y="357366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Selenium, Cypress, Playwright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4700588" y="37379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Cobertura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4700588" y="387369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Casos críticos apenas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0" y="4209455"/>
            <a:ext cx="9144000" cy="57507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>
            <a:off x="85725" y="4295180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Estratégias de Teste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85725" y="4511278"/>
            <a:ext cx="217884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Continuous Testing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/>
          <p:nvPr/>
        </p:nvSpPr>
        <p:spPr>
          <a:xfrm>
            <a:off x="85725" y="4623792"/>
            <a:ext cx="2178844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em cada commit/PR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2350294" y="4511278"/>
            <a:ext cx="217884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🧬 Mutation Testing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7"/>
          <p:cNvSpPr/>
          <p:nvPr/>
        </p:nvSpPr>
        <p:spPr>
          <a:xfrm>
            <a:off x="2350294" y="4623792"/>
            <a:ext cx="2178844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 qualidade dos testes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7"/>
          <p:cNvSpPr/>
          <p:nvPr/>
        </p:nvSpPr>
        <p:spPr>
          <a:xfrm>
            <a:off x="4614863" y="4511278"/>
            <a:ext cx="217884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⚡ Performance Tests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7"/>
          <p:cNvSpPr/>
          <p:nvPr/>
        </p:nvSpPr>
        <p:spPr>
          <a:xfrm>
            <a:off x="4614863" y="4623792"/>
            <a:ext cx="2178844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 escalabilidade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6879431" y="4511278"/>
            <a:ext cx="217884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🛡️ Chaos Engineering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7"/>
          <p:cNvSpPr/>
          <p:nvPr/>
        </p:nvSpPr>
        <p:spPr>
          <a:xfrm>
            <a:off x="6879431" y="4623792"/>
            <a:ext cx="2178844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 resiliência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e5c3bc1242_0_256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Kubernetes: Orquestração de Containers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19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19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Plataforma para automação, escala e gerenciamento de containers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9"/>
          <p:cNvSpPr/>
          <p:nvPr/>
        </p:nvSpPr>
        <p:spPr>
          <a:xfrm>
            <a:off x="428625" y="1191220"/>
            <a:ext cx="4100513" cy="7911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9"/>
          <p:cNvSpPr/>
          <p:nvPr/>
        </p:nvSpPr>
        <p:spPr>
          <a:xfrm>
            <a:off x="514350" y="1276945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📦 Pods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9"/>
          <p:cNvSpPr/>
          <p:nvPr/>
        </p:nvSpPr>
        <p:spPr>
          <a:xfrm>
            <a:off x="514350" y="14358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Unidade mínima do Kubernetes. Contém um ou mais containers.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514350" y="1585913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Compartilham rede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9"/>
          <p:cNvSpPr/>
          <p:nvPr/>
        </p:nvSpPr>
        <p:spPr>
          <a:xfrm>
            <a:off x="514350" y="1689497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Compartilham storage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514350" y="1793081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Ciclo de vida comum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9"/>
          <p:cNvSpPr/>
          <p:nvPr/>
        </p:nvSpPr>
        <p:spPr>
          <a:xfrm>
            <a:off x="4614863" y="1191220"/>
            <a:ext cx="4100513" cy="7911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9"/>
          <p:cNvSpPr/>
          <p:nvPr/>
        </p:nvSpPr>
        <p:spPr>
          <a:xfrm>
            <a:off x="4700588" y="1276945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🔌 Services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9"/>
          <p:cNvSpPr/>
          <p:nvPr/>
        </p:nvSpPr>
        <p:spPr>
          <a:xfrm>
            <a:off x="4700588" y="14358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Expõem Pods na rede. Permitem comunicação entre serviços.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9"/>
          <p:cNvSpPr/>
          <p:nvPr/>
        </p:nvSpPr>
        <p:spPr>
          <a:xfrm>
            <a:off x="4700588" y="1585913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ClusterIP (interno)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9"/>
          <p:cNvSpPr/>
          <p:nvPr/>
        </p:nvSpPr>
        <p:spPr>
          <a:xfrm>
            <a:off x="4700588" y="1689497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NodePort (externo)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9"/>
          <p:cNvSpPr/>
          <p:nvPr/>
        </p:nvSpPr>
        <p:spPr>
          <a:xfrm>
            <a:off x="4700588" y="1793081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LoadBalancer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9"/>
          <p:cNvSpPr/>
          <p:nvPr/>
        </p:nvSpPr>
        <p:spPr>
          <a:xfrm>
            <a:off x="428625" y="2068116"/>
            <a:ext cx="4100513" cy="7911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9"/>
          <p:cNvSpPr/>
          <p:nvPr/>
        </p:nvSpPr>
        <p:spPr>
          <a:xfrm>
            <a:off x="514350" y="2153841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🚀 Deployments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9"/>
          <p:cNvSpPr/>
          <p:nvPr/>
        </p:nvSpPr>
        <p:spPr>
          <a:xfrm>
            <a:off x="514350" y="231278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Gerenciam replicação e atualização de Pods.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9"/>
          <p:cNvSpPr/>
          <p:nvPr/>
        </p:nvSpPr>
        <p:spPr>
          <a:xfrm>
            <a:off x="514350" y="2462808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Escalabilidade automática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9"/>
          <p:cNvSpPr/>
          <p:nvPr/>
        </p:nvSpPr>
        <p:spPr>
          <a:xfrm>
            <a:off x="514350" y="2566392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Rolling updates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9"/>
          <p:cNvSpPr/>
          <p:nvPr/>
        </p:nvSpPr>
        <p:spPr>
          <a:xfrm>
            <a:off x="514350" y="2669977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Rollback automático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9"/>
          <p:cNvSpPr/>
          <p:nvPr/>
        </p:nvSpPr>
        <p:spPr>
          <a:xfrm>
            <a:off x="4614863" y="2068116"/>
            <a:ext cx="4100513" cy="79117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4700588" y="2153841"/>
            <a:ext cx="3929063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⚙️ ConfigMaps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"/>
          <p:cNvSpPr/>
          <p:nvPr/>
        </p:nvSpPr>
        <p:spPr>
          <a:xfrm>
            <a:off x="4700588" y="231278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Armazenam configurações e variáveis de ambiente.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9"/>
          <p:cNvSpPr/>
          <p:nvPr/>
        </p:nvSpPr>
        <p:spPr>
          <a:xfrm>
            <a:off x="4700588" y="2462808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Separação de config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9"/>
          <p:cNvSpPr/>
          <p:nvPr/>
        </p:nvSpPr>
        <p:spPr>
          <a:xfrm>
            <a:off x="4700588" y="2566392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Fácil atualização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4700588" y="2669977"/>
            <a:ext cx="392906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Times New Roman"/>
              <a:buNone/>
            </a:pPr>
            <a:r>
              <a:rPr b="0" i="0" lang="en-US" sz="4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Reutilização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9"/>
          <p:cNvSpPr/>
          <p:nvPr/>
        </p:nvSpPr>
        <p:spPr>
          <a:xfrm>
            <a:off x="428625" y="2945011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9"/>
          <p:cNvSpPr/>
          <p:nvPr/>
        </p:nvSpPr>
        <p:spPr>
          <a:xfrm>
            <a:off x="514350" y="3030736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Vantagens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9"/>
          <p:cNvSpPr/>
          <p:nvPr/>
        </p:nvSpPr>
        <p:spPr>
          <a:xfrm>
            <a:off x="514350" y="324683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Orquestração automática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9"/>
          <p:cNvSpPr/>
          <p:nvPr/>
        </p:nvSpPr>
        <p:spPr>
          <a:xfrm>
            <a:off x="514350" y="339685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horizontal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9"/>
          <p:cNvSpPr/>
          <p:nvPr/>
        </p:nvSpPr>
        <p:spPr>
          <a:xfrm>
            <a:off x="514350" y="354687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Auto-healing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9"/>
          <p:cNvSpPr/>
          <p:nvPr/>
        </p:nvSpPr>
        <p:spPr>
          <a:xfrm>
            <a:off x="514350" y="369689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Gerenciamento de 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9"/>
          <p:cNvSpPr/>
          <p:nvPr/>
        </p:nvSpPr>
        <p:spPr>
          <a:xfrm>
            <a:off x="514350" y="38469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9"/>
          <p:cNvSpPr/>
          <p:nvPr/>
        </p:nvSpPr>
        <p:spPr>
          <a:xfrm>
            <a:off x="4614863" y="2945011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9"/>
          <p:cNvSpPr/>
          <p:nvPr/>
        </p:nvSpPr>
        <p:spPr>
          <a:xfrm>
            <a:off x="4700588" y="3030736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Casos de Uso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9"/>
          <p:cNvSpPr/>
          <p:nvPr/>
        </p:nvSpPr>
        <p:spPr>
          <a:xfrm>
            <a:off x="4700588" y="324683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9"/>
          <p:cNvSpPr/>
          <p:nvPr/>
        </p:nvSpPr>
        <p:spPr>
          <a:xfrm>
            <a:off x="4700588" y="339685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Aplicações cloud-native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9"/>
          <p:cNvSpPr/>
          <p:nvPr/>
        </p:nvSpPr>
        <p:spPr>
          <a:xfrm>
            <a:off x="4700588" y="354687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CI/CD pipelines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9"/>
          <p:cNvSpPr/>
          <p:nvPr/>
        </p:nvSpPr>
        <p:spPr>
          <a:xfrm>
            <a:off x="4700588" y="369689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Batch processing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9"/>
          <p:cNvSpPr/>
          <p:nvPr/>
        </p:nvSpPr>
        <p:spPr>
          <a:xfrm>
            <a:off x="4700588" y="38469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Multi-cloud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e5c3bc1242_0_260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Monitoramento e Observabilidade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8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 3 pilares da observabilidade em sistemas distribuídos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/>
          <p:nvPr/>
        </p:nvSpPr>
        <p:spPr>
          <a:xfrm>
            <a:off x="428625" y="1191220"/>
            <a:ext cx="2705081" cy="18305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8"/>
          <p:cNvSpPr/>
          <p:nvPr/>
        </p:nvSpPr>
        <p:spPr>
          <a:xfrm>
            <a:off x="514350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📝 Logs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8"/>
          <p:cNvSpPr/>
          <p:nvPr/>
        </p:nvSpPr>
        <p:spPr>
          <a:xfrm>
            <a:off x="514350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8"/>
          <p:cNvSpPr/>
          <p:nvPr/>
        </p:nvSpPr>
        <p:spPr>
          <a:xfrm>
            <a:off x="514350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Registros de 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/>
          <p:nvPr/>
        </p:nvSpPr>
        <p:spPr>
          <a:xfrm>
            <a:off x="514350" y="17645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Informações detalhadas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8"/>
          <p:cNvSpPr/>
          <p:nvPr/>
        </p:nvSpPr>
        <p:spPr>
          <a:xfrm>
            <a:off x="514350" y="19288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8"/>
          <p:cNvSpPr/>
          <p:nvPr/>
        </p:nvSpPr>
        <p:spPr>
          <a:xfrm>
            <a:off x="514350" y="20645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ELK Stack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8"/>
          <p:cNvSpPr/>
          <p:nvPr/>
        </p:nvSpPr>
        <p:spPr>
          <a:xfrm>
            <a:off x="514350" y="22002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Splunk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8"/>
          <p:cNvSpPr/>
          <p:nvPr/>
        </p:nvSpPr>
        <p:spPr>
          <a:xfrm>
            <a:off x="514350" y="23360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CloudWatch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8"/>
          <p:cNvSpPr/>
          <p:nvPr/>
        </p:nvSpPr>
        <p:spPr>
          <a:xfrm>
            <a:off x="514350" y="25003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8"/>
          <p:cNvSpPr/>
          <p:nvPr/>
        </p:nvSpPr>
        <p:spPr>
          <a:xfrm>
            <a:off x="514350" y="2636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Debugging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8"/>
          <p:cNvSpPr/>
          <p:nvPr/>
        </p:nvSpPr>
        <p:spPr>
          <a:xfrm>
            <a:off x="514350" y="2771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Auditoria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8"/>
          <p:cNvSpPr/>
          <p:nvPr/>
        </p:nvSpPr>
        <p:spPr>
          <a:xfrm>
            <a:off x="3219431" y="1191220"/>
            <a:ext cx="2705109" cy="18305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8"/>
          <p:cNvSpPr/>
          <p:nvPr/>
        </p:nvSpPr>
        <p:spPr>
          <a:xfrm>
            <a:off x="3305156" y="1276945"/>
            <a:ext cx="253365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Métricas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3305156" y="14930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8"/>
          <p:cNvSpPr/>
          <p:nvPr/>
        </p:nvSpPr>
        <p:spPr>
          <a:xfrm>
            <a:off x="3305156" y="16287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Dados numéricos agregados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8"/>
          <p:cNvSpPr/>
          <p:nvPr/>
        </p:nvSpPr>
        <p:spPr>
          <a:xfrm>
            <a:off x="3305156" y="1764506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Séries temporais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3305156" y="1928813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8"/>
          <p:cNvSpPr/>
          <p:nvPr/>
        </p:nvSpPr>
        <p:spPr>
          <a:xfrm>
            <a:off x="3305156" y="20645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Prometheus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8"/>
          <p:cNvSpPr/>
          <p:nvPr/>
        </p:nvSpPr>
        <p:spPr>
          <a:xfrm>
            <a:off x="3305156" y="22002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Grafana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/>
          <p:nvPr/>
        </p:nvSpPr>
        <p:spPr>
          <a:xfrm>
            <a:off x="3305156" y="2336006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DataDog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8"/>
          <p:cNvSpPr/>
          <p:nvPr/>
        </p:nvSpPr>
        <p:spPr>
          <a:xfrm>
            <a:off x="3305156" y="2500313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8"/>
          <p:cNvSpPr/>
          <p:nvPr/>
        </p:nvSpPr>
        <p:spPr>
          <a:xfrm>
            <a:off x="3305156" y="26360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Alertas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8"/>
          <p:cNvSpPr/>
          <p:nvPr/>
        </p:nvSpPr>
        <p:spPr>
          <a:xfrm>
            <a:off x="3305156" y="27717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8"/>
          <p:cNvSpPr/>
          <p:nvPr/>
        </p:nvSpPr>
        <p:spPr>
          <a:xfrm>
            <a:off x="6010266" y="1191220"/>
            <a:ext cx="2705081" cy="18305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8"/>
          <p:cNvSpPr/>
          <p:nvPr/>
        </p:nvSpPr>
        <p:spPr>
          <a:xfrm>
            <a:off x="6095991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🔍 Traces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8"/>
          <p:cNvSpPr/>
          <p:nvPr/>
        </p:nvSpPr>
        <p:spPr>
          <a:xfrm>
            <a:off x="6095991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8"/>
          <p:cNvSpPr/>
          <p:nvPr/>
        </p:nvSpPr>
        <p:spPr>
          <a:xfrm>
            <a:off x="6095991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Rastreamento de requisições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8"/>
          <p:cNvSpPr/>
          <p:nvPr/>
        </p:nvSpPr>
        <p:spPr>
          <a:xfrm>
            <a:off x="6095991" y="17645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 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8"/>
          <p:cNvSpPr/>
          <p:nvPr/>
        </p:nvSpPr>
        <p:spPr>
          <a:xfrm>
            <a:off x="6095991" y="19288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Ferramentas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8"/>
          <p:cNvSpPr/>
          <p:nvPr/>
        </p:nvSpPr>
        <p:spPr>
          <a:xfrm>
            <a:off x="6095991" y="20645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Jaeger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8"/>
          <p:cNvSpPr/>
          <p:nvPr/>
        </p:nvSpPr>
        <p:spPr>
          <a:xfrm>
            <a:off x="6095991" y="22002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Zipkin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6095991" y="2336006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OpenTelemetry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18"/>
          <p:cNvSpPr/>
          <p:nvPr/>
        </p:nvSpPr>
        <p:spPr>
          <a:xfrm>
            <a:off x="6095991" y="25003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8"/>
          <p:cNvSpPr/>
          <p:nvPr/>
        </p:nvSpPr>
        <p:spPr>
          <a:xfrm>
            <a:off x="6095991" y="2636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8"/>
          <p:cNvSpPr/>
          <p:nvPr/>
        </p:nvSpPr>
        <p:spPr>
          <a:xfrm>
            <a:off x="6095991" y="2771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Gargalos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8"/>
          <p:cNvSpPr/>
          <p:nvPr/>
        </p:nvSpPr>
        <p:spPr>
          <a:xfrm>
            <a:off x="0" y="3107531"/>
            <a:ext cx="9144000" cy="57507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8"/>
          <p:cNvSpPr/>
          <p:nvPr/>
        </p:nvSpPr>
        <p:spPr>
          <a:xfrm>
            <a:off x="85725" y="3193256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Melhores Práticas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8"/>
          <p:cNvSpPr/>
          <p:nvPr/>
        </p:nvSpPr>
        <p:spPr>
          <a:xfrm>
            <a:off x="85725" y="3409355"/>
            <a:ext cx="293368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📌 Correlação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8"/>
          <p:cNvSpPr/>
          <p:nvPr/>
        </p:nvSpPr>
        <p:spPr>
          <a:xfrm>
            <a:off x="85725" y="3521869"/>
            <a:ext cx="293368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trace IDs para correlacionar logs e traces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8"/>
          <p:cNvSpPr/>
          <p:nvPr/>
        </p:nvSpPr>
        <p:spPr>
          <a:xfrm>
            <a:off x="3105131" y="3409355"/>
            <a:ext cx="2933709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⚡ Amostragem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8"/>
          <p:cNvSpPr/>
          <p:nvPr/>
        </p:nvSpPr>
        <p:spPr>
          <a:xfrm>
            <a:off x="3105131" y="3521869"/>
            <a:ext cx="2933709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Amostra traces para reduzir volume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8"/>
          <p:cNvSpPr/>
          <p:nvPr/>
        </p:nvSpPr>
        <p:spPr>
          <a:xfrm>
            <a:off x="6124566" y="3409355"/>
            <a:ext cx="293368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Alertas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8"/>
          <p:cNvSpPr/>
          <p:nvPr/>
        </p:nvSpPr>
        <p:spPr>
          <a:xfrm>
            <a:off x="6124566" y="3521869"/>
            <a:ext cx="293368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Configure alertas baseados em SLOs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e5c3bc1242_0_265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Segurança em Arquitetura de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0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 pilares de segurança para sistemas distribuídos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0"/>
          <p:cNvSpPr/>
          <p:nvPr/>
        </p:nvSpPr>
        <p:spPr>
          <a:xfrm>
            <a:off x="428625" y="1191220"/>
            <a:ext cx="1600200" cy="67935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0"/>
          <p:cNvSpPr/>
          <p:nvPr/>
        </p:nvSpPr>
        <p:spPr>
          <a:xfrm>
            <a:off x="500063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🔐 Autenticação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0"/>
          <p:cNvSpPr/>
          <p:nvPr/>
        </p:nvSpPr>
        <p:spPr>
          <a:xfrm>
            <a:off x="500063" y="139838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Verificar identidade do usuário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0"/>
          <p:cNvSpPr/>
          <p:nvPr/>
        </p:nvSpPr>
        <p:spPr>
          <a:xfrm>
            <a:off x="500063" y="1531246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OAuth 2.0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0"/>
          <p:cNvSpPr/>
          <p:nvPr/>
        </p:nvSpPr>
        <p:spPr>
          <a:xfrm>
            <a:off x="500063" y="1620543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0"/>
          <p:cNvSpPr/>
          <p:nvPr/>
        </p:nvSpPr>
        <p:spPr>
          <a:xfrm>
            <a:off x="500063" y="1709840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mTLS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0"/>
          <p:cNvSpPr/>
          <p:nvPr/>
        </p:nvSpPr>
        <p:spPr>
          <a:xfrm>
            <a:off x="2100263" y="1191220"/>
            <a:ext cx="1600200" cy="67935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0"/>
          <p:cNvSpPr/>
          <p:nvPr/>
        </p:nvSpPr>
        <p:spPr>
          <a:xfrm>
            <a:off x="2171700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🛡️ Autorização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0"/>
          <p:cNvSpPr/>
          <p:nvPr/>
        </p:nvSpPr>
        <p:spPr>
          <a:xfrm>
            <a:off x="2171700" y="139838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Controlar acesso a recursos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0"/>
          <p:cNvSpPr/>
          <p:nvPr/>
        </p:nvSpPr>
        <p:spPr>
          <a:xfrm>
            <a:off x="2171700" y="1531246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RBAC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0"/>
          <p:cNvSpPr/>
          <p:nvPr/>
        </p:nvSpPr>
        <p:spPr>
          <a:xfrm>
            <a:off x="2171700" y="1620543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ABAC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0"/>
          <p:cNvSpPr/>
          <p:nvPr/>
        </p:nvSpPr>
        <p:spPr>
          <a:xfrm>
            <a:off x="2171700" y="1709840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Policies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0"/>
          <p:cNvSpPr/>
          <p:nvPr/>
        </p:nvSpPr>
        <p:spPr>
          <a:xfrm>
            <a:off x="3771900" y="1191220"/>
            <a:ext cx="1600200" cy="67935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0"/>
          <p:cNvSpPr/>
          <p:nvPr/>
        </p:nvSpPr>
        <p:spPr>
          <a:xfrm>
            <a:off x="3843338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🔒 Criptografia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0"/>
          <p:cNvSpPr/>
          <p:nvPr/>
        </p:nvSpPr>
        <p:spPr>
          <a:xfrm>
            <a:off x="3843338" y="139838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Proteger dados em trânsito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0"/>
          <p:cNvSpPr/>
          <p:nvPr/>
        </p:nvSpPr>
        <p:spPr>
          <a:xfrm>
            <a:off x="3843338" y="1531246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TLS/SSL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0"/>
          <p:cNvSpPr/>
          <p:nvPr/>
        </p:nvSpPr>
        <p:spPr>
          <a:xfrm>
            <a:off x="3843338" y="1620543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0"/>
          <p:cNvSpPr/>
          <p:nvPr/>
        </p:nvSpPr>
        <p:spPr>
          <a:xfrm>
            <a:off x="3843338" y="1709840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management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0"/>
          <p:cNvSpPr/>
          <p:nvPr/>
        </p:nvSpPr>
        <p:spPr>
          <a:xfrm>
            <a:off x="5443538" y="1191220"/>
            <a:ext cx="1600200" cy="67935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0"/>
          <p:cNvSpPr/>
          <p:nvPr/>
        </p:nvSpPr>
        <p:spPr>
          <a:xfrm>
            <a:off x="5514975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🌐 Network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0"/>
          <p:cNvSpPr/>
          <p:nvPr/>
        </p:nvSpPr>
        <p:spPr>
          <a:xfrm>
            <a:off x="5514975" y="139838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Segurança de rede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0"/>
          <p:cNvSpPr/>
          <p:nvPr/>
        </p:nvSpPr>
        <p:spPr>
          <a:xfrm>
            <a:off x="5514975" y="1531246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mesh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0"/>
          <p:cNvSpPr/>
          <p:nvPr/>
        </p:nvSpPr>
        <p:spPr>
          <a:xfrm>
            <a:off x="5514975" y="1620543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Firewalls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0"/>
          <p:cNvSpPr/>
          <p:nvPr/>
        </p:nvSpPr>
        <p:spPr>
          <a:xfrm>
            <a:off x="5514975" y="1709840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VPCs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0"/>
          <p:cNvSpPr/>
          <p:nvPr/>
        </p:nvSpPr>
        <p:spPr>
          <a:xfrm>
            <a:off x="7115175" y="1191220"/>
            <a:ext cx="1600200" cy="67935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0"/>
          <p:cNvSpPr/>
          <p:nvPr/>
        </p:nvSpPr>
        <p:spPr>
          <a:xfrm>
            <a:off x="7186613" y="1262658"/>
            <a:ext cx="1457325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📋 Auditoria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0"/>
          <p:cNvSpPr/>
          <p:nvPr/>
        </p:nvSpPr>
        <p:spPr>
          <a:xfrm>
            <a:off x="7186613" y="1398389"/>
            <a:ext cx="1457325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Registrar e monitorar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0"/>
          <p:cNvSpPr/>
          <p:nvPr/>
        </p:nvSpPr>
        <p:spPr>
          <a:xfrm>
            <a:off x="7186613" y="1531246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0"/>
          <p:cNvSpPr/>
          <p:nvPr/>
        </p:nvSpPr>
        <p:spPr>
          <a:xfrm>
            <a:off x="7186613" y="1620543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Alertas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0"/>
          <p:cNvSpPr/>
          <p:nvPr/>
        </p:nvSpPr>
        <p:spPr>
          <a:xfrm>
            <a:off x="7186613" y="1709840"/>
            <a:ext cx="1457325" cy="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Times New Roman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0"/>
          <p:cNvSpPr/>
          <p:nvPr/>
        </p:nvSpPr>
        <p:spPr>
          <a:xfrm>
            <a:off x="0" y="1956299"/>
            <a:ext cx="9144000" cy="57507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0"/>
          <p:cNvSpPr/>
          <p:nvPr/>
        </p:nvSpPr>
        <p:spPr>
          <a:xfrm>
            <a:off x="85725" y="2042024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✨ Melhores Práticas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0"/>
          <p:cNvSpPr/>
          <p:nvPr/>
        </p:nvSpPr>
        <p:spPr>
          <a:xfrm>
            <a:off x="85725" y="2258123"/>
            <a:ext cx="1725913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🔑 Secrets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0"/>
          <p:cNvSpPr/>
          <p:nvPr/>
        </p:nvSpPr>
        <p:spPr>
          <a:xfrm>
            <a:off x="85725" y="2370637"/>
            <a:ext cx="172591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gerenciadores de secrets (Vault)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0"/>
          <p:cNvSpPr/>
          <p:nvPr/>
        </p:nvSpPr>
        <p:spPr>
          <a:xfrm>
            <a:off x="1897363" y="2258123"/>
            <a:ext cx="172594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Rotação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0"/>
          <p:cNvSpPr/>
          <p:nvPr/>
        </p:nvSpPr>
        <p:spPr>
          <a:xfrm>
            <a:off x="1897363" y="2370637"/>
            <a:ext cx="172594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Rotacione credenciais regularmente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0"/>
          <p:cNvSpPr/>
          <p:nvPr/>
        </p:nvSpPr>
        <p:spPr>
          <a:xfrm>
            <a:off x="3709029" y="2258123"/>
            <a:ext cx="1725913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🛡️ Defense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0"/>
          <p:cNvSpPr/>
          <p:nvPr/>
        </p:nvSpPr>
        <p:spPr>
          <a:xfrm>
            <a:off x="3709029" y="2370637"/>
            <a:ext cx="1725913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Defense in depth (múltiplas camadas)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0"/>
          <p:cNvSpPr/>
          <p:nvPr/>
        </p:nvSpPr>
        <p:spPr>
          <a:xfrm>
            <a:off x="5520668" y="2258123"/>
            <a:ext cx="172594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Monitorar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0"/>
          <p:cNvSpPr/>
          <p:nvPr/>
        </p:nvSpPr>
        <p:spPr>
          <a:xfrm>
            <a:off x="5520668" y="2370637"/>
            <a:ext cx="172594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Monitore anomalias de segurança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0"/>
          <p:cNvSpPr/>
          <p:nvPr/>
        </p:nvSpPr>
        <p:spPr>
          <a:xfrm>
            <a:off x="7332334" y="2258123"/>
            <a:ext cx="1725941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🧪 Teste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0"/>
          <p:cNvSpPr/>
          <p:nvPr/>
        </p:nvSpPr>
        <p:spPr>
          <a:xfrm>
            <a:off x="7332334" y="2370637"/>
            <a:ext cx="172594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 penetração regularmente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e5c3bc1242_0_270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Migração de Monolítica para Microserviços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1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Estratégia incremental para transformação arquitetural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1"/>
          <p:cNvSpPr/>
          <p:nvPr/>
        </p:nvSpPr>
        <p:spPr>
          <a:xfrm>
            <a:off x="428625" y="1191220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1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Fase 1: Análise (2-4 semanas)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1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1"/>
          <p:cNvSpPr/>
          <p:nvPr/>
        </p:nvSpPr>
        <p:spPr>
          <a:xfrm>
            <a:off x="514350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Mapear domínios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1"/>
          <p:cNvSpPr/>
          <p:nvPr/>
        </p:nvSpPr>
        <p:spPr>
          <a:xfrm>
            <a:off x="514350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Identificar limites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1"/>
          <p:cNvSpPr/>
          <p:nvPr/>
        </p:nvSpPr>
        <p:spPr>
          <a:xfrm>
            <a:off x="514350" y="190023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Avaliar dependências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1"/>
          <p:cNvSpPr/>
          <p:nvPr/>
        </p:nvSpPr>
        <p:spPr>
          <a:xfrm>
            <a:off x="514350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Desafios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1"/>
          <p:cNvSpPr/>
          <p:nvPr/>
        </p:nvSpPr>
        <p:spPr>
          <a:xfrm>
            <a:off x="514350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implícito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1"/>
          <p:cNvSpPr/>
          <p:nvPr/>
        </p:nvSpPr>
        <p:spPr>
          <a:xfrm>
            <a:off x="514350" y="23360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Falta de documentação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1"/>
          <p:cNvSpPr/>
          <p:nvPr/>
        </p:nvSpPr>
        <p:spPr>
          <a:xfrm>
            <a:off x="4614863" y="1191220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1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Fase 2: Planejamento (1-2 semanas)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1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1"/>
          <p:cNvSpPr/>
          <p:nvPr/>
        </p:nvSpPr>
        <p:spPr>
          <a:xfrm>
            <a:off x="4700588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Definir roadmap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1"/>
          <p:cNvSpPr/>
          <p:nvPr/>
        </p:nvSpPr>
        <p:spPr>
          <a:xfrm>
            <a:off x="4700588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Escolher primeiro serviço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1"/>
          <p:cNvSpPr/>
          <p:nvPr/>
        </p:nvSpPr>
        <p:spPr>
          <a:xfrm>
            <a:off x="4700588" y="190023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Preparar infraestrutura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1"/>
          <p:cNvSpPr/>
          <p:nvPr/>
        </p:nvSpPr>
        <p:spPr>
          <a:xfrm>
            <a:off x="4700588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Desafios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1"/>
          <p:cNvSpPr/>
          <p:nvPr/>
        </p:nvSpPr>
        <p:spPr>
          <a:xfrm>
            <a:off x="4700588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Priorização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1"/>
          <p:cNvSpPr/>
          <p:nvPr/>
        </p:nvSpPr>
        <p:spPr>
          <a:xfrm>
            <a:off x="4700588" y="23360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1"/>
          <p:cNvSpPr/>
          <p:nvPr/>
        </p:nvSpPr>
        <p:spPr>
          <a:xfrm>
            <a:off x="428625" y="2671763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1"/>
          <p:cNvSpPr/>
          <p:nvPr/>
        </p:nvSpPr>
        <p:spPr>
          <a:xfrm>
            <a:off x="514350" y="27574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🚀 Fase 3: Execução (3-6 meses)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1"/>
          <p:cNvSpPr/>
          <p:nvPr/>
        </p:nvSpPr>
        <p:spPr>
          <a:xfrm>
            <a:off x="514350" y="29735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1"/>
          <p:cNvSpPr/>
          <p:nvPr/>
        </p:nvSpPr>
        <p:spPr>
          <a:xfrm>
            <a:off x="514350" y="31093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Extrair primeiro serviço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1"/>
          <p:cNvSpPr/>
          <p:nvPr/>
        </p:nvSpPr>
        <p:spPr>
          <a:xfrm>
            <a:off x="514350" y="32450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Implementar comunicação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1"/>
          <p:cNvSpPr/>
          <p:nvPr/>
        </p:nvSpPr>
        <p:spPr>
          <a:xfrm>
            <a:off x="514350" y="338078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Testar integração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1"/>
          <p:cNvSpPr/>
          <p:nvPr/>
        </p:nvSpPr>
        <p:spPr>
          <a:xfrm>
            <a:off x="514350" y="35450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Desafios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1"/>
          <p:cNvSpPr/>
          <p:nvPr/>
        </p:nvSpPr>
        <p:spPr>
          <a:xfrm>
            <a:off x="514350" y="36808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Transações distribuídas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1"/>
          <p:cNvSpPr/>
          <p:nvPr/>
        </p:nvSpPr>
        <p:spPr>
          <a:xfrm>
            <a:off x="514350" y="38165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Consistência de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1"/>
          <p:cNvSpPr/>
          <p:nvPr/>
        </p:nvSpPr>
        <p:spPr>
          <a:xfrm>
            <a:off x="4614863" y="2671763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21"/>
          <p:cNvSpPr/>
          <p:nvPr/>
        </p:nvSpPr>
        <p:spPr>
          <a:xfrm>
            <a:off x="4700588" y="27574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Fase 4: Validação (Contínuo)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1"/>
          <p:cNvSpPr/>
          <p:nvPr/>
        </p:nvSpPr>
        <p:spPr>
          <a:xfrm>
            <a:off x="4700588" y="29735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Atividades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1"/>
          <p:cNvSpPr/>
          <p:nvPr/>
        </p:nvSpPr>
        <p:spPr>
          <a:xfrm>
            <a:off x="4700588" y="31093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Monitorar performance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1"/>
          <p:cNvSpPr/>
          <p:nvPr/>
        </p:nvSpPr>
        <p:spPr>
          <a:xfrm>
            <a:off x="4700588" y="32450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Coletar feedback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1"/>
          <p:cNvSpPr/>
          <p:nvPr/>
        </p:nvSpPr>
        <p:spPr>
          <a:xfrm>
            <a:off x="4700588" y="338078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Iterar próximos 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1"/>
          <p:cNvSpPr/>
          <p:nvPr/>
        </p:nvSpPr>
        <p:spPr>
          <a:xfrm>
            <a:off x="4700588" y="35450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Desafios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1"/>
          <p:cNvSpPr/>
          <p:nvPr/>
        </p:nvSpPr>
        <p:spPr>
          <a:xfrm>
            <a:off x="4700588" y="36808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1"/>
          <p:cNvSpPr/>
          <p:nvPr/>
        </p:nvSpPr>
        <p:spPr>
          <a:xfrm>
            <a:off x="4700588" y="38165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Debugging 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e5c3bc1242_0_275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Exercício 1: Design de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22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22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Projete a arquitetura para um sistema de streaming de vídeos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2"/>
          <p:cNvSpPr/>
          <p:nvPr/>
        </p:nvSpPr>
        <p:spPr>
          <a:xfrm>
            <a:off x="0" y="1191220"/>
            <a:ext cx="9144000" cy="58182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85725" y="1276945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📺 Problema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2"/>
          <p:cNvSpPr/>
          <p:nvPr/>
        </p:nvSpPr>
        <p:spPr>
          <a:xfrm>
            <a:off x="85725" y="1435894"/>
            <a:ext cx="8972550" cy="251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Você precisa desenhar a arquitetura para um novo serviço de streaming de vídeos que será lançado em 6 meses. O serviço deve suportar 100 milhões de usuários ativos mensais, com picos de 10 milhões de usuários simultâneos durante horários de pico. O sistema deve ser resiliente, escalável e permitir inovação rápida.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2"/>
          <p:cNvSpPr/>
          <p:nvPr/>
        </p:nvSpPr>
        <p:spPr>
          <a:xfrm>
            <a:off x="428625" y="185877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"/>
          <p:cNvSpPr/>
          <p:nvPr/>
        </p:nvSpPr>
        <p:spPr>
          <a:xfrm>
            <a:off x="514350" y="194449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✅ Requisitos Funcionais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2"/>
          <p:cNvSpPr/>
          <p:nvPr/>
        </p:nvSpPr>
        <p:spPr>
          <a:xfrm>
            <a:off x="514350" y="21605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Upload e armazenamento de vídeos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2"/>
          <p:cNvSpPr/>
          <p:nvPr/>
        </p:nvSpPr>
        <p:spPr>
          <a:xfrm>
            <a:off x="514350" y="231061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Streaming de vídeos em múltiplas qualidades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2"/>
          <p:cNvSpPr/>
          <p:nvPr/>
        </p:nvSpPr>
        <p:spPr>
          <a:xfrm>
            <a:off x="514350" y="246063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Recomendações personalizadas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2"/>
          <p:cNvSpPr/>
          <p:nvPr/>
        </p:nvSpPr>
        <p:spPr>
          <a:xfrm>
            <a:off x="514350" y="261065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Comentários e ratings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2"/>
          <p:cNvSpPr/>
          <p:nvPr/>
        </p:nvSpPr>
        <p:spPr>
          <a:xfrm>
            <a:off x="514350" y="276066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Histórico de visualização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2"/>
          <p:cNvSpPr/>
          <p:nvPr/>
        </p:nvSpPr>
        <p:spPr>
          <a:xfrm>
            <a:off x="4614863" y="185877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2"/>
          <p:cNvSpPr/>
          <p:nvPr/>
        </p:nvSpPr>
        <p:spPr>
          <a:xfrm>
            <a:off x="4700588" y="194449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⚙️ Requisitos Não-Funcionais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2"/>
          <p:cNvSpPr/>
          <p:nvPr/>
        </p:nvSpPr>
        <p:spPr>
          <a:xfrm>
            <a:off x="4700588" y="216059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Escalabilidade: 100M+ usuários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2"/>
          <p:cNvSpPr/>
          <p:nvPr/>
        </p:nvSpPr>
        <p:spPr>
          <a:xfrm>
            <a:off x="4700588" y="231061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Disponibilidade: 99.99%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2"/>
          <p:cNvSpPr/>
          <p:nvPr/>
        </p:nvSpPr>
        <p:spPr>
          <a:xfrm>
            <a:off x="4700588" y="246063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Latência: &lt;100ms para recomendações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2"/>
          <p:cNvSpPr/>
          <p:nvPr/>
        </p:nvSpPr>
        <p:spPr>
          <a:xfrm>
            <a:off x="4700588" y="261065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Throughput: 10M requisições/segundo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2"/>
          <p:cNvSpPr/>
          <p:nvPr/>
        </p:nvSpPr>
        <p:spPr>
          <a:xfrm>
            <a:off x="4700588" y="276066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Consistência: Eventual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2"/>
          <p:cNvSpPr/>
          <p:nvPr/>
        </p:nvSpPr>
        <p:spPr>
          <a:xfrm>
            <a:off x="428625" y="3082137"/>
            <a:ext cx="4100513" cy="117336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2"/>
          <p:cNvSpPr/>
          <p:nvPr/>
        </p:nvSpPr>
        <p:spPr>
          <a:xfrm>
            <a:off x="514350" y="3167862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🤔 Questões para Discussão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2"/>
          <p:cNvSpPr/>
          <p:nvPr/>
        </p:nvSpPr>
        <p:spPr>
          <a:xfrm>
            <a:off x="514350" y="338396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 arquitetura você escolheria? Por quê?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2"/>
          <p:cNvSpPr/>
          <p:nvPr/>
        </p:nvSpPr>
        <p:spPr>
          <a:xfrm>
            <a:off x="514350" y="355541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Quais serviços você criaria?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2"/>
          <p:cNvSpPr/>
          <p:nvPr/>
        </p:nvSpPr>
        <p:spPr>
          <a:xfrm>
            <a:off x="514350" y="372686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Como você escalaria o banco de dados?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2"/>
          <p:cNvSpPr/>
          <p:nvPr/>
        </p:nvSpPr>
        <p:spPr>
          <a:xfrm>
            <a:off x="514350" y="389831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Como implementaria cache?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2"/>
          <p:cNvSpPr/>
          <p:nvPr/>
        </p:nvSpPr>
        <p:spPr>
          <a:xfrm>
            <a:off x="4614863" y="3082137"/>
            <a:ext cx="4100513" cy="117336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2"/>
          <p:cNvSpPr/>
          <p:nvPr/>
        </p:nvSpPr>
        <p:spPr>
          <a:xfrm>
            <a:off x="4700588" y="3167862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💡 Dicas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2"/>
          <p:cNvSpPr/>
          <p:nvPr/>
        </p:nvSpPr>
        <p:spPr>
          <a:xfrm>
            <a:off x="4700588" y="338396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Pense em Microserviços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2"/>
          <p:cNvSpPr/>
          <p:nvPr/>
        </p:nvSpPr>
        <p:spPr>
          <a:xfrm>
            <a:off x="4700588" y="3541123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Eventos para desacoplamento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2"/>
          <p:cNvSpPr/>
          <p:nvPr/>
        </p:nvSpPr>
        <p:spPr>
          <a:xfrm>
            <a:off x="4700588" y="3698286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Implemente Cache em camadas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2"/>
          <p:cNvSpPr/>
          <p:nvPr/>
        </p:nvSpPr>
        <p:spPr>
          <a:xfrm>
            <a:off x="4700588" y="3855448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 CDN para vídeos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2"/>
          <p:cNvSpPr/>
          <p:nvPr/>
        </p:nvSpPr>
        <p:spPr>
          <a:xfrm>
            <a:off x="4700588" y="4012611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Considere Kubernetes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e5c3bc1242_0_279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Exercício 2: Resolvendo Problemas de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23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23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Diagnostique e resolva problemas em uma arquitetura de microserviços existente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3"/>
          <p:cNvSpPr/>
          <p:nvPr/>
        </p:nvSpPr>
        <p:spPr>
          <a:xfrm>
            <a:off x="0" y="1191220"/>
            <a:ext cx="9144000" cy="58182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85725" y="1276945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📋 Cenário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3"/>
          <p:cNvSpPr/>
          <p:nvPr/>
        </p:nvSpPr>
        <p:spPr>
          <a:xfrm>
            <a:off x="85725" y="1435894"/>
            <a:ext cx="8972550" cy="251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Sua empresa tem uma arquitetura de microserviços em produção há 2 anos. Começaram com 5 serviços e agora têm 50 serviços. A equipe está enfrentando problemas de performance, confiabilidade e manutenção. Você foi contratado como arquiteto para diagnosticar e resolver os problemas.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3"/>
          <p:cNvSpPr/>
          <p:nvPr/>
        </p:nvSpPr>
        <p:spPr>
          <a:xfrm>
            <a:off x="0" y="1858770"/>
            <a:ext cx="9144000" cy="88046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85725" y="1944495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⚠️ Sintomas Observados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3"/>
          <p:cNvSpPr/>
          <p:nvPr/>
        </p:nvSpPr>
        <p:spPr>
          <a:xfrm>
            <a:off x="85725" y="2160594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 aumentou de 100ms para 2s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3"/>
          <p:cNvSpPr/>
          <p:nvPr/>
        </p:nvSpPr>
        <p:spPr>
          <a:xfrm>
            <a:off x="4614863" y="2160594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Taxa de erro subiu para 5%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3"/>
          <p:cNvSpPr/>
          <p:nvPr/>
        </p:nvSpPr>
        <p:spPr>
          <a:xfrm>
            <a:off x="85725" y="2353475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 leva 4 horas (antes era 30 min)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3"/>
          <p:cNvSpPr/>
          <p:nvPr/>
        </p:nvSpPr>
        <p:spPr>
          <a:xfrm>
            <a:off x="4614863" y="2353475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Banco de dados compartilhado entre 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3"/>
          <p:cNvSpPr/>
          <p:nvPr/>
        </p:nvSpPr>
        <p:spPr>
          <a:xfrm>
            <a:off x="85725" y="2546356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circuit breakers ou retry logic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3"/>
          <p:cNvSpPr/>
          <p:nvPr/>
        </p:nvSpPr>
        <p:spPr>
          <a:xfrm>
            <a:off x="4614863" y="2546356"/>
            <a:ext cx="444341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Logging centralizado não escalável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3"/>
          <p:cNvSpPr/>
          <p:nvPr/>
        </p:nvSpPr>
        <p:spPr>
          <a:xfrm>
            <a:off x="428625" y="2824962"/>
            <a:ext cx="4100513" cy="11418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3"/>
          <p:cNvSpPr/>
          <p:nvPr/>
        </p:nvSpPr>
        <p:spPr>
          <a:xfrm>
            <a:off x="514350" y="2910687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🔍 Questões para Análise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3"/>
          <p:cNvSpPr/>
          <p:nvPr/>
        </p:nvSpPr>
        <p:spPr>
          <a:xfrm>
            <a:off x="514350" y="3126786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 é a causa raiz dos problemas?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3"/>
          <p:cNvSpPr/>
          <p:nvPr/>
        </p:nvSpPr>
        <p:spPr>
          <a:xfrm>
            <a:off x="514350" y="3298236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Quais padrões estão faltando?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3"/>
          <p:cNvSpPr/>
          <p:nvPr/>
        </p:nvSpPr>
        <p:spPr>
          <a:xfrm>
            <a:off x="514350" y="3469686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Como melhorar a resiliência?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3"/>
          <p:cNvSpPr/>
          <p:nvPr/>
        </p:nvSpPr>
        <p:spPr>
          <a:xfrm>
            <a:off x="514350" y="3641136"/>
            <a:ext cx="39290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Qual é o plano de ação?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3"/>
          <p:cNvSpPr/>
          <p:nvPr/>
        </p:nvSpPr>
        <p:spPr>
          <a:xfrm>
            <a:off x="4614863" y="2824962"/>
            <a:ext cx="4100513" cy="11418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3"/>
          <p:cNvSpPr/>
          <p:nvPr/>
        </p:nvSpPr>
        <p:spPr>
          <a:xfrm>
            <a:off x="4700588" y="2910687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🎯 Grande Desafio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3"/>
          <p:cNvSpPr/>
          <p:nvPr/>
        </p:nvSpPr>
        <p:spPr>
          <a:xfrm>
            <a:off x="4700588" y="3126786"/>
            <a:ext cx="3929063" cy="75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Desenhe um plano de refatoração arquitetural de 12 meses que:</a:t>
            </a:r>
            <a:b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Melhore latência para &lt;200ms</a:t>
            </a:r>
            <a:b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Reduza taxa de erro para &lt;0.1%</a:t>
            </a:r>
            <a:b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Acelere deploy para &lt;5 min</a:t>
            </a:r>
            <a:b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Mantenha sistema em produção</a:t>
            </a:r>
            <a:b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Não aumente custo operacional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e5c3bc1242_0_283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Netflix: Arquitetura em Escala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24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24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Como Netflix usa microserviços, eventos e Kubernetes para servir 250M+ usuários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4"/>
          <p:cNvSpPr/>
          <p:nvPr/>
        </p:nvSpPr>
        <p:spPr>
          <a:xfrm>
            <a:off x="428625" y="119122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4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⚠️ Desafios Enfrentados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4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Escalar para 250M+ usuários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4"/>
          <p:cNvSpPr/>
          <p:nvPr/>
        </p:nvSpPr>
        <p:spPr>
          <a:xfrm>
            <a:off x="514350" y="164306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Picos de 10M+ requisições/seg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4"/>
          <p:cNvSpPr/>
          <p:nvPr/>
        </p:nvSpPr>
        <p:spPr>
          <a:xfrm>
            <a:off x="514350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 99.99%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4"/>
          <p:cNvSpPr/>
          <p:nvPr/>
        </p:nvSpPr>
        <p:spPr>
          <a:xfrm>
            <a:off x="514350" y="194310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 rápido e seguro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4"/>
          <p:cNvSpPr/>
          <p:nvPr/>
        </p:nvSpPr>
        <p:spPr>
          <a:xfrm>
            <a:off x="514350" y="209311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Inovação contínua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4"/>
          <p:cNvSpPr/>
          <p:nvPr/>
        </p:nvSpPr>
        <p:spPr>
          <a:xfrm>
            <a:off x="4614863" y="119122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4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✓ Soluções Implementadas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4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700+ microserviços independentes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4"/>
          <p:cNvSpPr/>
          <p:nvPr/>
        </p:nvSpPr>
        <p:spPr>
          <a:xfrm>
            <a:off x="4700588" y="164306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baseada em 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4"/>
          <p:cNvSpPr/>
          <p:nvPr/>
        </p:nvSpPr>
        <p:spPr>
          <a:xfrm>
            <a:off x="4700588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Kubernetes para orquestração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4"/>
          <p:cNvSpPr/>
          <p:nvPr/>
        </p:nvSpPr>
        <p:spPr>
          <a:xfrm>
            <a:off x="4700588" y="194310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Circuit breakers e retry logic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4"/>
          <p:cNvSpPr/>
          <p:nvPr/>
        </p:nvSpPr>
        <p:spPr>
          <a:xfrm>
            <a:off x="4700588" y="209311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Observabilidade completa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4"/>
          <p:cNvSpPr/>
          <p:nvPr/>
        </p:nvSpPr>
        <p:spPr>
          <a:xfrm>
            <a:off x="428625" y="2414588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4"/>
          <p:cNvSpPr/>
          <p:nvPr/>
        </p:nvSpPr>
        <p:spPr>
          <a:xfrm>
            <a:off x="514350" y="250031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Stack Tecnológico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4"/>
          <p:cNvSpPr/>
          <p:nvPr/>
        </p:nvSpPr>
        <p:spPr>
          <a:xfrm>
            <a:off x="514350" y="27164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Kubernetes (orquestração)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4"/>
          <p:cNvSpPr/>
          <p:nvPr/>
        </p:nvSpPr>
        <p:spPr>
          <a:xfrm>
            <a:off x="514350" y="28664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Apache Kafka (eventos)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4"/>
          <p:cNvSpPr/>
          <p:nvPr/>
        </p:nvSpPr>
        <p:spPr>
          <a:xfrm>
            <a:off x="514350" y="30164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Cassandra (banco distribuído)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4"/>
          <p:cNvSpPr/>
          <p:nvPr/>
        </p:nvSpPr>
        <p:spPr>
          <a:xfrm>
            <a:off x="514350" y="31664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Redis (cache)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4"/>
          <p:cNvSpPr/>
          <p:nvPr/>
        </p:nvSpPr>
        <p:spPr>
          <a:xfrm>
            <a:off x="514350" y="33164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Hystrix (circuit breaker)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4"/>
          <p:cNvSpPr/>
          <p:nvPr/>
        </p:nvSpPr>
        <p:spPr>
          <a:xfrm>
            <a:off x="4614863" y="2414588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4"/>
          <p:cNvSpPr/>
          <p:nvPr/>
        </p:nvSpPr>
        <p:spPr>
          <a:xfrm>
            <a:off x="4700588" y="250031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Resultados Alcançados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4"/>
          <p:cNvSpPr/>
          <p:nvPr/>
        </p:nvSpPr>
        <p:spPr>
          <a:xfrm>
            <a:off x="4700588" y="27164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Deploy: 4.000+ por dia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4"/>
          <p:cNvSpPr/>
          <p:nvPr/>
        </p:nvSpPr>
        <p:spPr>
          <a:xfrm>
            <a:off x="4700588" y="28664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Latência: &lt;100ms (p99)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4"/>
          <p:cNvSpPr/>
          <p:nvPr/>
        </p:nvSpPr>
        <p:spPr>
          <a:xfrm>
            <a:off x="4700588" y="30164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Taxa erro: &lt;0.001%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4"/>
          <p:cNvSpPr/>
          <p:nvPr/>
        </p:nvSpPr>
        <p:spPr>
          <a:xfrm>
            <a:off x="4700588" y="31664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Escalabilidade: Linear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4"/>
          <p:cNvSpPr/>
          <p:nvPr/>
        </p:nvSpPr>
        <p:spPr>
          <a:xfrm>
            <a:off x="4700588" y="33164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Inovação: Ciclos de horas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4"/>
          <p:cNvSpPr/>
          <p:nvPr/>
        </p:nvSpPr>
        <p:spPr>
          <a:xfrm>
            <a:off x="0" y="3637955"/>
            <a:ext cx="9144000" cy="73044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4"/>
          <p:cNvSpPr/>
          <p:nvPr/>
        </p:nvSpPr>
        <p:spPr>
          <a:xfrm>
            <a:off x="85725" y="3723680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🏗️ Arquitetura de Alto Nível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4"/>
          <p:cNvSpPr/>
          <p:nvPr/>
        </p:nvSpPr>
        <p:spPr>
          <a:xfrm>
            <a:off x="85725" y="3939778"/>
            <a:ext cx="897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500"/>
              <a:buFont typeface="IBM Plex Mono"/>
              <a:buNone/>
            </a:pPr>
            <a: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API Gateway → Load Balancer → 700+ Microserviços → Kafka (Event Bus) → Cassandra/Redis → CDN → Cliente </a:t>
            </a:r>
            <a:b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 Cada serviço: Independente, Escalável, Observável, Testável, Deployável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e5c3bc1242_0_287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Uber: Escalabilidade em Tempo Real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25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25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Processando milhões de requisições por segundo com latência mínima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5"/>
          <p:cNvSpPr/>
          <p:nvPr/>
        </p:nvSpPr>
        <p:spPr>
          <a:xfrm>
            <a:off x="428625" y="119122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⚠️ Desafios Únicos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5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Processamento em tempo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5"/>
          <p:cNvSpPr/>
          <p:nvPr/>
        </p:nvSpPr>
        <p:spPr>
          <a:xfrm>
            <a:off x="514350" y="164306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Geolocalização de milhões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5"/>
          <p:cNvSpPr/>
          <p:nvPr/>
        </p:nvSpPr>
        <p:spPr>
          <a:xfrm>
            <a:off x="514350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Matching de motoristas/passageiros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5"/>
          <p:cNvSpPr/>
          <p:nvPr/>
        </p:nvSpPr>
        <p:spPr>
          <a:xfrm>
            <a:off x="514350" y="194310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Preço dinâmico em tempo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5"/>
          <p:cNvSpPr/>
          <p:nvPr/>
        </p:nvSpPr>
        <p:spPr>
          <a:xfrm>
            <a:off x="514350" y="209311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 99.999%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5"/>
          <p:cNvSpPr/>
          <p:nvPr/>
        </p:nvSpPr>
        <p:spPr>
          <a:xfrm>
            <a:off x="4614863" y="1191220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25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✓ Arquitetura Implementada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5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Geohash para localização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5"/>
          <p:cNvSpPr/>
          <p:nvPr/>
        </p:nvSpPr>
        <p:spPr>
          <a:xfrm>
            <a:off x="4700588" y="164306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Stream processing em tempo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5"/>
          <p:cNvSpPr/>
          <p:nvPr/>
        </p:nvSpPr>
        <p:spPr>
          <a:xfrm>
            <a:off x="4700588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Algoritmo de matching distribuído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5"/>
          <p:cNvSpPr/>
          <p:nvPr/>
        </p:nvSpPr>
        <p:spPr>
          <a:xfrm>
            <a:off x="4700588" y="194310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Cache distribuído (Redis)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5"/>
          <p:cNvSpPr/>
          <p:nvPr/>
        </p:nvSpPr>
        <p:spPr>
          <a:xfrm>
            <a:off x="4700588" y="209311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Replicação multi-região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5"/>
          <p:cNvSpPr/>
          <p:nvPr/>
        </p:nvSpPr>
        <p:spPr>
          <a:xfrm>
            <a:off x="428625" y="2414588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5"/>
          <p:cNvSpPr/>
          <p:nvPr/>
        </p:nvSpPr>
        <p:spPr>
          <a:xfrm>
            <a:off x="514350" y="250031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Stack Tecnológico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5"/>
          <p:cNvSpPr/>
          <p:nvPr/>
        </p:nvSpPr>
        <p:spPr>
          <a:xfrm>
            <a:off x="514350" y="27164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Apache Kafka (streaming)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5"/>
          <p:cNvSpPr/>
          <p:nvPr/>
        </p:nvSpPr>
        <p:spPr>
          <a:xfrm>
            <a:off x="514350" y="28664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Cassandra (distribuído)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5"/>
          <p:cNvSpPr/>
          <p:nvPr/>
        </p:nvSpPr>
        <p:spPr>
          <a:xfrm>
            <a:off x="514350" y="30164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Redis (cache real-time)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5"/>
          <p:cNvSpPr/>
          <p:nvPr/>
        </p:nvSpPr>
        <p:spPr>
          <a:xfrm>
            <a:off x="514350" y="31664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Ringpop (service discovery)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5"/>
          <p:cNvSpPr/>
          <p:nvPr/>
        </p:nvSpPr>
        <p:spPr>
          <a:xfrm>
            <a:off x="514350" y="33164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Schemaless (banco dados)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5"/>
          <p:cNvSpPr/>
          <p:nvPr/>
        </p:nvSpPr>
        <p:spPr>
          <a:xfrm>
            <a:off x="4614863" y="2414588"/>
            <a:ext cx="4100513" cy="113764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5"/>
          <p:cNvSpPr/>
          <p:nvPr/>
        </p:nvSpPr>
        <p:spPr>
          <a:xfrm>
            <a:off x="4700588" y="250031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Capacidade Alcançada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5"/>
          <p:cNvSpPr/>
          <p:nvPr/>
        </p:nvSpPr>
        <p:spPr>
          <a:xfrm>
            <a:off x="4700588" y="271641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10M+ requisições/segundo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5"/>
          <p:cNvSpPr/>
          <p:nvPr/>
        </p:nvSpPr>
        <p:spPr>
          <a:xfrm>
            <a:off x="4700588" y="286643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Latência: &lt;50ms (p99)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5"/>
          <p:cNvSpPr/>
          <p:nvPr/>
        </p:nvSpPr>
        <p:spPr>
          <a:xfrm>
            <a:off x="4700588" y="30164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Disponibilidade: 99.999%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5"/>
          <p:cNvSpPr/>
          <p:nvPr/>
        </p:nvSpPr>
        <p:spPr>
          <a:xfrm>
            <a:off x="4700588" y="316646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Processamento: Tempo real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5"/>
          <p:cNvSpPr/>
          <p:nvPr/>
        </p:nvSpPr>
        <p:spPr>
          <a:xfrm>
            <a:off x="4700588" y="33164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Escalabilidade: Horizontal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5"/>
          <p:cNvSpPr/>
          <p:nvPr/>
        </p:nvSpPr>
        <p:spPr>
          <a:xfrm>
            <a:off x="0" y="3637955"/>
            <a:ext cx="9144000" cy="61614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5"/>
          <p:cNvSpPr/>
          <p:nvPr/>
        </p:nvSpPr>
        <p:spPr>
          <a:xfrm>
            <a:off x="85725" y="3723680"/>
            <a:ext cx="8972550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📈 Métricas de Performance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5"/>
          <p:cNvSpPr/>
          <p:nvPr/>
        </p:nvSpPr>
        <p:spPr>
          <a:xfrm>
            <a:off x="85725" y="3939778"/>
            <a:ext cx="897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500"/>
              <a:buFont typeface="IBM Plex Mono"/>
              <a:buNone/>
            </a:pPr>
            <a: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Throughput: 10M+ req/s | Latência P99: &lt;50ms | Latência P999: &lt;200ms </a:t>
            </a:r>
            <a:b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5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Taxa Erro: &lt;0.01% | Uptime: 99.999% | Regiões: 70+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e5c3bc1242_0_29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Anti-patterns em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6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Erros comuns a evitar ao implementar microserviços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6"/>
          <p:cNvSpPr/>
          <p:nvPr/>
        </p:nvSpPr>
        <p:spPr>
          <a:xfrm>
            <a:off x="428625" y="1191220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6"/>
          <p:cNvSpPr/>
          <p:nvPr/>
        </p:nvSpPr>
        <p:spPr>
          <a:xfrm>
            <a:off x="428625" y="1191220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6"/>
          <p:cNvSpPr/>
          <p:nvPr/>
        </p:nvSpPr>
        <p:spPr>
          <a:xfrm>
            <a:off x="500063" y="1262658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Distributed Monolith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6"/>
          <p:cNvSpPr/>
          <p:nvPr/>
        </p:nvSpPr>
        <p:spPr>
          <a:xfrm>
            <a:off x="500063" y="139838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6"/>
          <p:cNvSpPr/>
          <p:nvPr/>
        </p:nvSpPr>
        <p:spPr>
          <a:xfrm>
            <a:off x="500063" y="1509815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Serviços altamente acoplados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6"/>
          <p:cNvSpPr/>
          <p:nvPr/>
        </p:nvSpPr>
        <p:spPr>
          <a:xfrm>
            <a:off x="500063" y="1621241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Falha em cascata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6"/>
          <p:cNvSpPr/>
          <p:nvPr/>
        </p:nvSpPr>
        <p:spPr>
          <a:xfrm>
            <a:off x="500063" y="1754098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6"/>
          <p:cNvSpPr/>
          <p:nvPr/>
        </p:nvSpPr>
        <p:spPr>
          <a:xfrm>
            <a:off x="500063" y="1865523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 via eventos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6"/>
          <p:cNvSpPr/>
          <p:nvPr/>
        </p:nvSpPr>
        <p:spPr>
          <a:xfrm>
            <a:off x="500063" y="197694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Circuit breakers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6"/>
          <p:cNvSpPr/>
          <p:nvPr/>
        </p:nvSpPr>
        <p:spPr>
          <a:xfrm>
            <a:off x="4614863" y="1191220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6"/>
          <p:cNvSpPr/>
          <p:nvPr/>
        </p:nvSpPr>
        <p:spPr>
          <a:xfrm>
            <a:off x="4614863" y="1191220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6"/>
          <p:cNvSpPr/>
          <p:nvPr/>
        </p:nvSpPr>
        <p:spPr>
          <a:xfrm>
            <a:off x="4686300" y="1262658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Shared Database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6"/>
          <p:cNvSpPr/>
          <p:nvPr/>
        </p:nvSpPr>
        <p:spPr>
          <a:xfrm>
            <a:off x="4686300" y="139838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6"/>
          <p:cNvSpPr/>
          <p:nvPr/>
        </p:nvSpPr>
        <p:spPr>
          <a:xfrm>
            <a:off x="4686300" y="1509815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Acoplamento de dados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6"/>
          <p:cNvSpPr/>
          <p:nvPr/>
        </p:nvSpPr>
        <p:spPr>
          <a:xfrm>
            <a:off x="4686300" y="1621241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Sem autonomia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6"/>
          <p:cNvSpPr/>
          <p:nvPr/>
        </p:nvSpPr>
        <p:spPr>
          <a:xfrm>
            <a:off x="4686300" y="1754098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6"/>
          <p:cNvSpPr/>
          <p:nvPr/>
        </p:nvSpPr>
        <p:spPr>
          <a:xfrm>
            <a:off x="4686300" y="1865523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Database per 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6"/>
          <p:cNvSpPr/>
          <p:nvPr/>
        </p:nvSpPr>
        <p:spPr>
          <a:xfrm>
            <a:off x="4686300" y="197694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Saga pattern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6"/>
          <p:cNvSpPr/>
          <p:nvPr/>
        </p:nvSpPr>
        <p:spPr>
          <a:xfrm>
            <a:off x="428625" y="2266969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6"/>
          <p:cNvSpPr/>
          <p:nvPr/>
        </p:nvSpPr>
        <p:spPr>
          <a:xfrm>
            <a:off x="428625" y="2266969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6"/>
          <p:cNvSpPr/>
          <p:nvPr/>
        </p:nvSpPr>
        <p:spPr>
          <a:xfrm>
            <a:off x="500063" y="2338406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Tight Coupling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6"/>
          <p:cNvSpPr/>
          <p:nvPr/>
        </p:nvSpPr>
        <p:spPr>
          <a:xfrm>
            <a:off x="500063" y="247413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6"/>
          <p:cNvSpPr/>
          <p:nvPr/>
        </p:nvSpPr>
        <p:spPr>
          <a:xfrm>
            <a:off x="500063" y="2585563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Mudanças em cascata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6"/>
          <p:cNvSpPr/>
          <p:nvPr/>
        </p:nvSpPr>
        <p:spPr>
          <a:xfrm>
            <a:off x="500063" y="269698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de escalar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6"/>
          <p:cNvSpPr/>
          <p:nvPr/>
        </p:nvSpPr>
        <p:spPr>
          <a:xfrm>
            <a:off x="500063" y="282984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6"/>
          <p:cNvSpPr/>
          <p:nvPr/>
        </p:nvSpPr>
        <p:spPr>
          <a:xfrm>
            <a:off x="500063" y="2941272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Interfaces bem definidas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6"/>
          <p:cNvSpPr/>
          <p:nvPr/>
        </p:nvSpPr>
        <p:spPr>
          <a:xfrm>
            <a:off x="500063" y="305269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Versionamento de APIs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6"/>
          <p:cNvSpPr/>
          <p:nvPr/>
        </p:nvSpPr>
        <p:spPr>
          <a:xfrm>
            <a:off x="4614863" y="2266969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6"/>
          <p:cNvSpPr/>
          <p:nvPr/>
        </p:nvSpPr>
        <p:spPr>
          <a:xfrm>
            <a:off x="4614863" y="2266969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6"/>
          <p:cNvSpPr/>
          <p:nvPr/>
        </p:nvSpPr>
        <p:spPr>
          <a:xfrm>
            <a:off x="4686300" y="2338406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Chatty Services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6"/>
          <p:cNvSpPr/>
          <p:nvPr/>
        </p:nvSpPr>
        <p:spPr>
          <a:xfrm>
            <a:off x="4686300" y="247413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6"/>
          <p:cNvSpPr/>
          <p:nvPr/>
        </p:nvSpPr>
        <p:spPr>
          <a:xfrm>
            <a:off x="4686300" y="2585563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Muitas chamadas síncronas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6"/>
          <p:cNvSpPr/>
          <p:nvPr/>
        </p:nvSpPr>
        <p:spPr>
          <a:xfrm>
            <a:off x="4686300" y="2696989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Latência alta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6"/>
          <p:cNvSpPr/>
          <p:nvPr/>
        </p:nvSpPr>
        <p:spPr>
          <a:xfrm>
            <a:off x="4686300" y="282984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6"/>
          <p:cNvSpPr/>
          <p:nvPr/>
        </p:nvSpPr>
        <p:spPr>
          <a:xfrm>
            <a:off x="4686300" y="2941272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Batch operations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6"/>
          <p:cNvSpPr/>
          <p:nvPr/>
        </p:nvSpPr>
        <p:spPr>
          <a:xfrm>
            <a:off x="4686300" y="305269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Eventos assíncronos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6"/>
          <p:cNvSpPr/>
          <p:nvPr/>
        </p:nvSpPr>
        <p:spPr>
          <a:xfrm>
            <a:off x="428625" y="3342717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6"/>
          <p:cNvSpPr/>
          <p:nvPr/>
        </p:nvSpPr>
        <p:spPr>
          <a:xfrm>
            <a:off x="428625" y="3342717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6"/>
          <p:cNvSpPr/>
          <p:nvPr/>
        </p:nvSpPr>
        <p:spPr>
          <a:xfrm>
            <a:off x="500063" y="3414154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God Service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6"/>
          <p:cNvSpPr/>
          <p:nvPr/>
        </p:nvSpPr>
        <p:spPr>
          <a:xfrm>
            <a:off x="500063" y="354988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6"/>
          <p:cNvSpPr/>
          <p:nvPr/>
        </p:nvSpPr>
        <p:spPr>
          <a:xfrm>
            <a:off x="500063" y="3661311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 com muitas responsabilidades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6"/>
          <p:cNvSpPr/>
          <p:nvPr/>
        </p:nvSpPr>
        <p:spPr>
          <a:xfrm>
            <a:off x="500063" y="377273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de manter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26"/>
          <p:cNvSpPr/>
          <p:nvPr/>
        </p:nvSpPr>
        <p:spPr>
          <a:xfrm>
            <a:off x="500063" y="3905594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6"/>
          <p:cNvSpPr/>
          <p:nvPr/>
        </p:nvSpPr>
        <p:spPr>
          <a:xfrm>
            <a:off x="500063" y="4017020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SRP (Single Responsibility)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6"/>
          <p:cNvSpPr/>
          <p:nvPr/>
        </p:nvSpPr>
        <p:spPr>
          <a:xfrm>
            <a:off x="500063" y="412844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Decomposição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6"/>
          <p:cNvSpPr/>
          <p:nvPr/>
        </p:nvSpPr>
        <p:spPr>
          <a:xfrm>
            <a:off x="4614863" y="3342717"/>
            <a:ext cx="4100513" cy="99002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6"/>
          <p:cNvSpPr/>
          <p:nvPr/>
        </p:nvSpPr>
        <p:spPr>
          <a:xfrm>
            <a:off x="4614863" y="3342717"/>
            <a:ext cx="21431" cy="990023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"/>
          <p:cNvSpPr/>
          <p:nvPr/>
        </p:nvSpPr>
        <p:spPr>
          <a:xfrm>
            <a:off x="4686300" y="3414154"/>
            <a:ext cx="395763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❌ Cascading Failures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6"/>
          <p:cNvSpPr/>
          <p:nvPr/>
        </p:nvSpPr>
        <p:spPr>
          <a:xfrm>
            <a:off x="4686300" y="354988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6"/>
          <p:cNvSpPr/>
          <p:nvPr/>
        </p:nvSpPr>
        <p:spPr>
          <a:xfrm>
            <a:off x="4686300" y="3661311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Falha em um serviço afeta todos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6"/>
          <p:cNvSpPr/>
          <p:nvPr/>
        </p:nvSpPr>
        <p:spPr>
          <a:xfrm>
            <a:off x="4686300" y="3772737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Indisponibilidade total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6"/>
          <p:cNvSpPr/>
          <p:nvPr/>
        </p:nvSpPr>
        <p:spPr>
          <a:xfrm>
            <a:off x="4686300" y="3905594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1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Solução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6"/>
          <p:cNvSpPr/>
          <p:nvPr/>
        </p:nvSpPr>
        <p:spPr>
          <a:xfrm>
            <a:off x="4686300" y="4017020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Bulkheads e timeouts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6"/>
          <p:cNvSpPr/>
          <p:nvPr/>
        </p:nvSpPr>
        <p:spPr>
          <a:xfrm>
            <a:off x="4686300" y="4128446"/>
            <a:ext cx="3957638" cy="8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Graceful degradation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e5c3bc1242_0_296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Métricas DORA: Medindo Excelência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7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 métricas que definem o desempenho de engenharia de software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7"/>
          <p:cNvSpPr/>
          <p:nvPr/>
        </p:nvSpPr>
        <p:spPr>
          <a:xfrm>
            <a:off x="428625" y="1191220"/>
            <a:ext cx="4100513" cy="169128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7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Deployment Frequency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27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7"/>
          <p:cNvSpPr/>
          <p:nvPr/>
        </p:nvSpPr>
        <p:spPr>
          <a:xfrm>
            <a:off x="514350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Quantas vezes você faz deploy por dia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7"/>
          <p:cNvSpPr/>
          <p:nvPr/>
        </p:nvSpPr>
        <p:spPr>
          <a:xfrm>
            <a:off x="514350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Benchmark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27"/>
          <p:cNvSpPr/>
          <p:nvPr/>
        </p:nvSpPr>
        <p:spPr>
          <a:xfrm>
            <a:off x="514350" y="1928813"/>
            <a:ext cx="3929063" cy="37504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7"/>
          <p:cNvSpPr/>
          <p:nvPr/>
        </p:nvSpPr>
        <p:spPr>
          <a:xfrm>
            <a:off x="514350" y="1928813"/>
            <a:ext cx="3929063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Elite: &gt;1/dia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High: 1/semana-1/mês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Medium: 1-3/mês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7"/>
          <p:cNvSpPr/>
          <p:nvPr/>
        </p:nvSpPr>
        <p:spPr>
          <a:xfrm>
            <a:off x="514350" y="23610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Melhorar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7"/>
          <p:cNvSpPr/>
          <p:nvPr/>
        </p:nvSpPr>
        <p:spPr>
          <a:xfrm>
            <a:off x="514350" y="249674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Automação de testes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7"/>
          <p:cNvSpPr/>
          <p:nvPr/>
        </p:nvSpPr>
        <p:spPr>
          <a:xfrm>
            <a:off x="514350" y="263247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CI/CD pipeline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7"/>
          <p:cNvSpPr/>
          <p:nvPr/>
        </p:nvSpPr>
        <p:spPr>
          <a:xfrm>
            <a:off x="4614863" y="1191220"/>
            <a:ext cx="4100513" cy="169128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7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⏱️ Lead Time for Changes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7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7"/>
          <p:cNvSpPr/>
          <p:nvPr/>
        </p:nvSpPr>
        <p:spPr>
          <a:xfrm>
            <a:off x="4700588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Tempo de commit até produção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7"/>
          <p:cNvSpPr/>
          <p:nvPr/>
        </p:nvSpPr>
        <p:spPr>
          <a:xfrm>
            <a:off x="4700588" y="179308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Benchmark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7"/>
          <p:cNvSpPr/>
          <p:nvPr/>
        </p:nvSpPr>
        <p:spPr>
          <a:xfrm>
            <a:off x="4700588" y="1928813"/>
            <a:ext cx="3929063" cy="37504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7"/>
          <p:cNvSpPr/>
          <p:nvPr/>
        </p:nvSpPr>
        <p:spPr>
          <a:xfrm>
            <a:off x="4700588" y="1928813"/>
            <a:ext cx="3929063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Elite: &lt;1 hora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High: 1-24 horas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Medium: 1-7 dias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7"/>
          <p:cNvSpPr/>
          <p:nvPr/>
        </p:nvSpPr>
        <p:spPr>
          <a:xfrm>
            <a:off x="4700588" y="23610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Melhorar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27"/>
          <p:cNvSpPr/>
          <p:nvPr/>
        </p:nvSpPr>
        <p:spPr>
          <a:xfrm>
            <a:off x="4700588" y="2496741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Reduzir review time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7"/>
          <p:cNvSpPr/>
          <p:nvPr/>
        </p:nvSpPr>
        <p:spPr>
          <a:xfrm>
            <a:off x="4700588" y="263247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 flags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27"/>
          <p:cNvSpPr/>
          <p:nvPr/>
        </p:nvSpPr>
        <p:spPr>
          <a:xfrm>
            <a:off x="428625" y="2968228"/>
            <a:ext cx="4100513" cy="169128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7"/>
          <p:cNvSpPr/>
          <p:nvPr/>
        </p:nvSpPr>
        <p:spPr>
          <a:xfrm>
            <a:off x="514350" y="305395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Mean Time to Recovery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7"/>
          <p:cNvSpPr/>
          <p:nvPr/>
        </p:nvSpPr>
        <p:spPr>
          <a:xfrm>
            <a:off x="514350" y="327005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7"/>
          <p:cNvSpPr/>
          <p:nvPr/>
        </p:nvSpPr>
        <p:spPr>
          <a:xfrm>
            <a:off x="514350" y="340578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Tempo para recuperar de falha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7"/>
          <p:cNvSpPr/>
          <p:nvPr/>
        </p:nvSpPr>
        <p:spPr>
          <a:xfrm>
            <a:off x="514350" y="357008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Benchmark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7"/>
          <p:cNvSpPr/>
          <p:nvPr/>
        </p:nvSpPr>
        <p:spPr>
          <a:xfrm>
            <a:off x="514350" y="3705820"/>
            <a:ext cx="3929063" cy="37504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7"/>
          <p:cNvSpPr/>
          <p:nvPr/>
        </p:nvSpPr>
        <p:spPr>
          <a:xfrm>
            <a:off x="514350" y="3705820"/>
            <a:ext cx="3929063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Elite: &lt;1 hora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High: &lt;1 dia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Medium: 1-7 dias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7"/>
          <p:cNvSpPr/>
          <p:nvPr/>
        </p:nvSpPr>
        <p:spPr>
          <a:xfrm>
            <a:off x="514350" y="41380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Melhorar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7"/>
          <p:cNvSpPr/>
          <p:nvPr/>
        </p:nvSpPr>
        <p:spPr>
          <a:xfrm>
            <a:off x="514350" y="42737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7"/>
          <p:cNvSpPr/>
          <p:nvPr/>
        </p:nvSpPr>
        <p:spPr>
          <a:xfrm>
            <a:off x="514350" y="440948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Runbooks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7"/>
          <p:cNvSpPr/>
          <p:nvPr/>
        </p:nvSpPr>
        <p:spPr>
          <a:xfrm>
            <a:off x="4614863" y="2968228"/>
            <a:ext cx="4100513" cy="1691283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7"/>
          <p:cNvSpPr/>
          <p:nvPr/>
        </p:nvSpPr>
        <p:spPr>
          <a:xfrm>
            <a:off x="4700588" y="3053953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📈 Change Failure Rate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7"/>
          <p:cNvSpPr/>
          <p:nvPr/>
        </p:nvSpPr>
        <p:spPr>
          <a:xfrm>
            <a:off x="4700588" y="3270052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7"/>
          <p:cNvSpPr/>
          <p:nvPr/>
        </p:nvSpPr>
        <p:spPr>
          <a:xfrm>
            <a:off x="4700588" y="340578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% de deploys que causam falha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7"/>
          <p:cNvSpPr/>
          <p:nvPr/>
        </p:nvSpPr>
        <p:spPr>
          <a:xfrm>
            <a:off x="4700588" y="357008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Benchmark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7"/>
          <p:cNvSpPr/>
          <p:nvPr/>
        </p:nvSpPr>
        <p:spPr>
          <a:xfrm>
            <a:off x="4700588" y="3705820"/>
            <a:ext cx="3929063" cy="375047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7"/>
          <p:cNvSpPr/>
          <p:nvPr/>
        </p:nvSpPr>
        <p:spPr>
          <a:xfrm>
            <a:off x="4700588" y="3705820"/>
            <a:ext cx="3929063" cy="375047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Elite: 0-15%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High: 15-30%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Medium: 30-50%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7"/>
          <p:cNvSpPr/>
          <p:nvPr/>
        </p:nvSpPr>
        <p:spPr>
          <a:xfrm>
            <a:off x="4700588" y="41380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Melhorar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27"/>
          <p:cNvSpPr/>
          <p:nvPr/>
        </p:nvSpPr>
        <p:spPr>
          <a:xfrm>
            <a:off x="4700588" y="42737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automatizados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7"/>
          <p:cNvSpPr/>
          <p:nvPr/>
        </p:nvSpPr>
        <p:spPr>
          <a:xfrm>
            <a:off x="4700588" y="4409480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Code review rigoroso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3e5c3bc1242_0_301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 Baseada em Eventos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2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Comunicação assíncrona e desacoplada entre serviços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2"/>
          <p:cNvSpPr/>
          <p:nvPr/>
        </p:nvSpPr>
        <p:spPr>
          <a:xfrm>
            <a:off x="428625" y="1191220"/>
            <a:ext cx="4093369" cy="21734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7" name="Google Shape;133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277838"/>
            <a:ext cx="3921919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32"/>
          <p:cNvSpPr/>
          <p:nvPr/>
        </p:nvSpPr>
        <p:spPr>
          <a:xfrm>
            <a:off x="4622006" y="1191220"/>
            <a:ext cx="4093369" cy="21734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2"/>
          <p:cNvSpPr/>
          <p:nvPr/>
        </p:nvSpPr>
        <p:spPr>
          <a:xfrm>
            <a:off x="4707731" y="127694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📢 O que é Arquitetura Baseada em Eventos?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2"/>
          <p:cNvSpPr/>
          <p:nvPr/>
        </p:nvSpPr>
        <p:spPr>
          <a:xfrm>
            <a:off x="4707731" y="14930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2"/>
          <p:cNvSpPr/>
          <p:nvPr/>
        </p:nvSpPr>
        <p:spPr>
          <a:xfrm>
            <a:off x="4707731" y="1635919"/>
            <a:ext cx="39219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baseada em eventos é um padrão onde componentes se comunicam através de eventos. Um serviço publica um evento quando algo importante acontece, e outros serviços que estão interessados se inscrevem para receber e processar esse evento.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2"/>
          <p:cNvSpPr/>
          <p:nvPr/>
        </p:nvSpPr>
        <p:spPr>
          <a:xfrm>
            <a:off x="4707731" y="205025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Componentes Principais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2"/>
          <p:cNvSpPr/>
          <p:nvPr/>
        </p:nvSpPr>
        <p:spPr>
          <a:xfrm>
            <a:off x="4707731" y="219313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Produtores: Publicam 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2"/>
          <p:cNvSpPr/>
          <p:nvPr/>
        </p:nvSpPr>
        <p:spPr>
          <a:xfrm>
            <a:off x="4707731" y="233600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 de Eventos: Armazena eventos (Kafka)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2"/>
          <p:cNvSpPr/>
          <p:nvPr/>
        </p:nvSpPr>
        <p:spPr>
          <a:xfrm>
            <a:off x="4707731" y="247888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Consumidores: Processam 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2"/>
          <p:cNvSpPr/>
          <p:nvPr/>
        </p:nvSpPr>
        <p:spPr>
          <a:xfrm>
            <a:off x="4707731" y="266461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Vantagens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2"/>
          <p:cNvSpPr/>
          <p:nvPr/>
        </p:nvSpPr>
        <p:spPr>
          <a:xfrm>
            <a:off x="4707731" y="280749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 total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2"/>
          <p:cNvSpPr/>
          <p:nvPr/>
        </p:nvSpPr>
        <p:spPr>
          <a:xfrm>
            <a:off x="4707731" y="295036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2"/>
          <p:cNvSpPr/>
          <p:nvPr/>
        </p:nvSpPr>
        <p:spPr>
          <a:xfrm>
            <a:off x="4707731" y="30932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Auditoria natural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e5c3bc1242_0_306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Padrões de Arquitetura Baseada em Eventos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0" name="Google Shape;1360;p33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33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 Sourcing, CQRS, Event Streaming e Dead Letter Queue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3"/>
          <p:cNvSpPr/>
          <p:nvPr/>
        </p:nvSpPr>
        <p:spPr>
          <a:xfrm>
            <a:off x="428625" y="1191220"/>
            <a:ext cx="4093369" cy="13776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3"/>
          <p:cNvSpPr/>
          <p:nvPr/>
        </p:nvSpPr>
        <p:spPr>
          <a:xfrm>
            <a:off x="514350" y="127694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📜 Event Sourcing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3"/>
          <p:cNvSpPr/>
          <p:nvPr/>
        </p:nvSpPr>
        <p:spPr>
          <a:xfrm>
            <a:off x="514350" y="14930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Conceito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3"/>
          <p:cNvSpPr/>
          <p:nvPr/>
        </p:nvSpPr>
        <p:spPr>
          <a:xfrm>
            <a:off x="514350" y="162877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Armazenar todas as mudanças de estado como sequência de eventos imutáveis.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3"/>
          <p:cNvSpPr/>
          <p:nvPr/>
        </p:nvSpPr>
        <p:spPr>
          <a:xfrm>
            <a:off x="514350" y="178236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3"/>
          <p:cNvSpPr/>
          <p:nvPr/>
        </p:nvSpPr>
        <p:spPr>
          <a:xfrm>
            <a:off x="514350" y="1918097"/>
            <a:ext cx="3921919" cy="41143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3"/>
          <p:cNvSpPr/>
          <p:nvPr/>
        </p:nvSpPr>
        <p:spPr>
          <a:xfrm>
            <a:off x="514350" y="1918097"/>
            <a:ext cx="392191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OrderCreated(id=123)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PaymentProcessed(id=123)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OrderShipped(id=123)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OrderDelivered(id=123)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3"/>
          <p:cNvSpPr/>
          <p:nvPr/>
        </p:nvSpPr>
        <p:spPr>
          <a:xfrm>
            <a:off x="514350" y="2386682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Auditoria completa e replay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3"/>
          <p:cNvSpPr/>
          <p:nvPr/>
        </p:nvSpPr>
        <p:spPr>
          <a:xfrm>
            <a:off x="4622006" y="1191220"/>
            <a:ext cx="4093369" cy="13776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3"/>
          <p:cNvSpPr/>
          <p:nvPr/>
        </p:nvSpPr>
        <p:spPr>
          <a:xfrm>
            <a:off x="4707731" y="127694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CQRS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3"/>
          <p:cNvSpPr/>
          <p:nvPr/>
        </p:nvSpPr>
        <p:spPr>
          <a:xfrm>
            <a:off x="4707731" y="149304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Conceito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3"/>
          <p:cNvSpPr/>
          <p:nvPr/>
        </p:nvSpPr>
        <p:spPr>
          <a:xfrm>
            <a:off x="4707731" y="162877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Separar modelos de leitura (Query) e escrita (Command) para otimizar cada um.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3"/>
          <p:cNvSpPr/>
          <p:nvPr/>
        </p:nvSpPr>
        <p:spPr>
          <a:xfrm>
            <a:off x="4707731" y="178236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Estrutura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3"/>
          <p:cNvSpPr/>
          <p:nvPr/>
        </p:nvSpPr>
        <p:spPr>
          <a:xfrm>
            <a:off x="4707731" y="1918097"/>
            <a:ext cx="3921919" cy="41143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3"/>
          <p:cNvSpPr/>
          <p:nvPr/>
        </p:nvSpPr>
        <p:spPr>
          <a:xfrm>
            <a:off x="4707731" y="1918097"/>
            <a:ext cx="392191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Command: CreateOrder(data)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Query: GetOrderById(id)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Event Store: Armazena eventos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Read Model: Otimizado para leitura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3"/>
          <p:cNvSpPr/>
          <p:nvPr/>
        </p:nvSpPr>
        <p:spPr>
          <a:xfrm>
            <a:off x="4707731" y="2386682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Performance e escalabilidade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3"/>
          <p:cNvSpPr/>
          <p:nvPr/>
        </p:nvSpPr>
        <p:spPr>
          <a:xfrm>
            <a:off x="428625" y="2668860"/>
            <a:ext cx="4093369" cy="13776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3"/>
          <p:cNvSpPr/>
          <p:nvPr/>
        </p:nvSpPr>
        <p:spPr>
          <a:xfrm>
            <a:off x="514350" y="275458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Event Streaming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3"/>
          <p:cNvSpPr/>
          <p:nvPr/>
        </p:nvSpPr>
        <p:spPr>
          <a:xfrm>
            <a:off x="514350" y="297068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Conceito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3"/>
          <p:cNvSpPr/>
          <p:nvPr/>
        </p:nvSpPr>
        <p:spPr>
          <a:xfrm>
            <a:off x="514350" y="310641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 contínuo de eventos em tempo real, permitindo processamento imediato.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3"/>
          <p:cNvSpPr/>
          <p:nvPr/>
        </p:nvSpPr>
        <p:spPr>
          <a:xfrm>
            <a:off x="514350" y="326000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Tecnologias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3"/>
          <p:cNvSpPr/>
          <p:nvPr/>
        </p:nvSpPr>
        <p:spPr>
          <a:xfrm>
            <a:off x="514350" y="3395737"/>
            <a:ext cx="3921919" cy="41143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33"/>
          <p:cNvSpPr/>
          <p:nvPr/>
        </p:nvSpPr>
        <p:spPr>
          <a:xfrm>
            <a:off x="514350" y="3395737"/>
            <a:ext cx="392191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Apache Kafka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AWS Kinesis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RabbitMQ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Redis Streams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3"/>
          <p:cNvSpPr/>
          <p:nvPr/>
        </p:nvSpPr>
        <p:spPr>
          <a:xfrm>
            <a:off x="514350" y="3864322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Processamento em tempo real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3"/>
          <p:cNvSpPr/>
          <p:nvPr/>
        </p:nvSpPr>
        <p:spPr>
          <a:xfrm>
            <a:off x="4622006" y="2668860"/>
            <a:ext cx="4093369" cy="137762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3"/>
          <p:cNvSpPr/>
          <p:nvPr/>
        </p:nvSpPr>
        <p:spPr>
          <a:xfrm>
            <a:off x="4707731" y="275458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⚠️ Dead Letter Queue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3"/>
          <p:cNvSpPr/>
          <p:nvPr/>
        </p:nvSpPr>
        <p:spPr>
          <a:xfrm>
            <a:off x="4707731" y="2970684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Conceito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3"/>
          <p:cNvSpPr/>
          <p:nvPr/>
        </p:nvSpPr>
        <p:spPr>
          <a:xfrm>
            <a:off x="4707731" y="3106415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Fila para armazenar mensagens que falharam após múltiplas tentativas.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3"/>
          <p:cNvSpPr/>
          <p:nvPr/>
        </p:nvSpPr>
        <p:spPr>
          <a:xfrm>
            <a:off x="4707731" y="3260006"/>
            <a:ext cx="392191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3"/>
          <p:cNvSpPr/>
          <p:nvPr/>
        </p:nvSpPr>
        <p:spPr>
          <a:xfrm>
            <a:off x="4707731" y="3395737"/>
            <a:ext cx="3921919" cy="411435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3"/>
          <p:cNvSpPr/>
          <p:nvPr/>
        </p:nvSpPr>
        <p:spPr>
          <a:xfrm>
            <a:off x="4707731" y="3395737"/>
            <a:ext cx="392191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Mensagem falha 1x → Retry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Mensagem falha 2x → Retry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Mensagem falha 3x → DLQ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Análise manual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3"/>
          <p:cNvSpPr/>
          <p:nvPr/>
        </p:nvSpPr>
        <p:spPr>
          <a:xfrm>
            <a:off x="4707731" y="3864322"/>
            <a:ext cx="3921919" cy="9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Resiliência e rastreabilidade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e5c3bc1242_0_310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 Hexagonal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34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34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Ports and Adapters - Desacoplamento máximo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4"/>
          <p:cNvSpPr/>
          <p:nvPr/>
        </p:nvSpPr>
        <p:spPr>
          <a:xfrm>
            <a:off x="428625" y="1191220"/>
            <a:ext cx="4093369" cy="21734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7" name="Google Shape;140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1277838"/>
            <a:ext cx="3921919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34"/>
          <p:cNvSpPr/>
          <p:nvPr/>
        </p:nvSpPr>
        <p:spPr>
          <a:xfrm>
            <a:off x="4622006" y="1191220"/>
            <a:ext cx="4093369" cy="217348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34"/>
          <p:cNvSpPr/>
          <p:nvPr/>
        </p:nvSpPr>
        <p:spPr>
          <a:xfrm>
            <a:off x="4707731" y="1276945"/>
            <a:ext cx="392191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🔷 O que é Arquitetura Hexagonal?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4"/>
          <p:cNvSpPr/>
          <p:nvPr/>
        </p:nvSpPr>
        <p:spPr>
          <a:xfrm>
            <a:off x="4707731" y="14930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4"/>
          <p:cNvSpPr/>
          <p:nvPr/>
        </p:nvSpPr>
        <p:spPr>
          <a:xfrm>
            <a:off x="4707731" y="1635919"/>
            <a:ext cx="39219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Hexagonal (também chamada Ports and Adapters) isola a lógica de negócio do domínio em um hexágono central, conectando-o ao mundo externo através de portas e adaptadores. Isso permite que o domínio seja completamente independente de frameworks e tecnologias.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4"/>
          <p:cNvSpPr/>
          <p:nvPr/>
        </p:nvSpPr>
        <p:spPr>
          <a:xfrm>
            <a:off x="4707731" y="205025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Componentes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4"/>
          <p:cNvSpPr/>
          <p:nvPr/>
        </p:nvSpPr>
        <p:spPr>
          <a:xfrm>
            <a:off x="4707731" y="219313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de Domínio (Hexágono): Lógica pura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4"/>
          <p:cNvSpPr/>
          <p:nvPr/>
        </p:nvSpPr>
        <p:spPr>
          <a:xfrm>
            <a:off x="4707731" y="2336006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Portas: Interfaces de comunicação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4"/>
          <p:cNvSpPr/>
          <p:nvPr/>
        </p:nvSpPr>
        <p:spPr>
          <a:xfrm>
            <a:off x="4707731" y="2478881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Adaptadores: Implementações concretas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4"/>
          <p:cNvSpPr/>
          <p:nvPr/>
        </p:nvSpPr>
        <p:spPr>
          <a:xfrm>
            <a:off x="4707731" y="266461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4"/>
          <p:cNvSpPr/>
          <p:nvPr/>
        </p:nvSpPr>
        <p:spPr>
          <a:xfrm>
            <a:off x="4707731" y="280749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Testabilidade máxima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4"/>
          <p:cNvSpPr/>
          <p:nvPr/>
        </p:nvSpPr>
        <p:spPr>
          <a:xfrm>
            <a:off x="4707731" y="2950369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Independência de frameworks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4"/>
          <p:cNvSpPr/>
          <p:nvPr/>
        </p:nvSpPr>
        <p:spPr>
          <a:xfrm>
            <a:off x="4707731" y="3093244"/>
            <a:ext cx="392191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trocar implementações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e5c3bc1242_0_314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Padrões Avançados de Arquitetura Hexagonal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6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6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Implementação de padrões para máxima flexibilidade e testabilidade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16"/>
          <p:cNvSpPr/>
          <p:nvPr/>
        </p:nvSpPr>
        <p:spPr>
          <a:xfrm>
            <a:off x="428625" y="1191220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6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🔌 Adapter Pattern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16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16"/>
          <p:cNvSpPr/>
          <p:nvPr/>
        </p:nvSpPr>
        <p:spPr>
          <a:xfrm>
            <a:off x="514350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Converte interface externa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16"/>
          <p:cNvSpPr/>
          <p:nvPr/>
        </p:nvSpPr>
        <p:spPr>
          <a:xfrm>
            <a:off x="514350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 domínio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16"/>
          <p:cNvSpPr/>
          <p:nvPr/>
        </p:nvSpPr>
        <p:spPr>
          <a:xfrm>
            <a:off x="514350" y="192881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16"/>
          <p:cNvSpPr/>
          <p:nvPr/>
        </p:nvSpPr>
        <p:spPr>
          <a:xfrm>
            <a:off x="514350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Flexibilidade de frameworks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6"/>
          <p:cNvSpPr/>
          <p:nvPr/>
        </p:nvSpPr>
        <p:spPr>
          <a:xfrm>
            <a:off x="514350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trocar implementação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6"/>
          <p:cNvSpPr/>
          <p:nvPr/>
        </p:nvSpPr>
        <p:spPr>
          <a:xfrm>
            <a:off x="514350" y="23360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6"/>
          <p:cNvSpPr/>
          <p:nvPr/>
        </p:nvSpPr>
        <p:spPr>
          <a:xfrm>
            <a:off x="4614863" y="1191220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6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💉 Dependency Injection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16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16"/>
          <p:cNvSpPr/>
          <p:nvPr/>
        </p:nvSpPr>
        <p:spPr>
          <a:xfrm>
            <a:off x="4700588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Injeta dependências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16"/>
          <p:cNvSpPr/>
          <p:nvPr/>
        </p:nvSpPr>
        <p:spPr>
          <a:xfrm>
            <a:off x="4700588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Inverte controle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16"/>
          <p:cNvSpPr/>
          <p:nvPr/>
        </p:nvSpPr>
        <p:spPr>
          <a:xfrm>
            <a:off x="4700588" y="1928813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6"/>
          <p:cNvSpPr/>
          <p:nvPr/>
        </p:nvSpPr>
        <p:spPr>
          <a:xfrm>
            <a:off x="4700588" y="20645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16"/>
          <p:cNvSpPr/>
          <p:nvPr/>
        </p:nvSpPr>
        <p:spPr>
          <a:xfrm>
            <a:off x="4700588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com mocks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6"/>
          <p:cNvSpPr/>
          <p:nvPr/>
        </p:nvSpPr>
        <p:spPr>
          <a:xfrm>
            <a:off x="4700588" y="23360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Configuração flexível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6"/>
          <p:cNvSpPr/>
          <p:nvPr/>
        </p:nvSpPr>
        <p:spPr>
          <a:xfrm>
            <a:off x="428625" y="2671763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6"/>
          <p:cNvSpPr/>
          <p:nvPr/>
        </p:nvSpPr>
        <p:spPr>
          <a:xfrm>
            <a:off x="514350" y="27574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📦 Repository Pattern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16"/>
          <p:cNvSpPr/>
          <p:nvPr/>
        </p:nvSpPr>
        <p:spPr>
          <a:xfrm>
            <a:off x="514350" y="29735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16"/>
          <p:cNvSpPr/>
          <p:nvPr/>
        </p:nvSpPr>
        <p:spPr>
          <a:xfrm>
            <a:off x="514350" y="31093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Abstrai acesso a dados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6"/>
          <p:cNvSpPr/>
          <p:nvPr/>
        </p:nvSpPr>
        <p:spPr>
          <a:xfrm>
            <a:off x="514350" y="32450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Centraliza queries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6"/>
          <p:cNvSpPr/>
          <p:nvPr/>
        </p:nvSpPr>
        <p:spPr>
          <a:xfrm>
            <a:off x="514350" y="340935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16"/>
          <p:cNvSpPr/>
          <p:nvPr/>
        </p:nvSpPr>
        <p:spPr>
          <a:xfrm>
            <a:off x="514350" y="35450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Trocar BD facilmente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16"/>
          <p:cNvSpPr/>
          <p:nvPr/>
        </p:nvSpPr>
        <p:spPr>
          <a:xfrm>
            <a:off x="514350" y="36808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Testes sem BD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6"/>
          <p:cNvSpPr/>
          <p:nvPr/>
        </p:nvSpPr>
        <p:spPr>
          <a:xfrm>
            <a:off x="514350" y="38165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centralizada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16"/>
          <p:cNvSpPr/>
          <p:nvPr/>
        </p:nvSpPr>
        <p:spPr>
          <a:xfrm>
            <a:off x="4614863" y="2671763"/>
            <a:ext cx="4100513" cy="1394817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6"/>
          <p:cNvSpPr/>
          <p:nvPr/>
        </p:nvSpPr>
        <p:spPr>
          <a:xfrm>
            <a:off x="4700588" y="2757488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📢 Event Publishing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6"/>
          <p:cNvSpPr/>
          <p:nvPr/>
        </p:nvSpPr>
        <p:spPr>
          <a:xfrm>
            <a:off x="4700588" y="29735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Descrição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6"/>
          <p:cNvSpPr/>
          <p:nvPr/>
        </p:nvSpPr>
        <p:spPr>
          <a:xfrm>
            <a:off x="4700588" y="31093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Publica eventos de domínio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6"/>
          <p:cNvSpPr/>
          <p:nvPr/>
        </p:nvSpPr>
        <p:spPr>
          <a:xfrm>
            <a:off x="4700588" y="32450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Notifica interessados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16"/>
          <p:cNvSpPr/>
          <p:nvPr/>
        </p:nvSpPr>
        <p:spPr>
          <a:xfrm>
            <a:off x="4700588" y="340935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Benefícios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16"/>
          <p:cNvSpPr/>
          <p:nvPr/>
        </p:nvSpPr>
        <p:spPr>
          <a:xfrm>
            <a:off x="4700588" y="354508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Desacoplamento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6"/>
          <p:cNvSpPr/>
          <p:nvPr/>
        </p:nvSpPr>
        <p:spPr>
          <a:xfrm>
            <a:off x="4700588" y="368081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Auditoria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6"/>
          <p:cNvSpPr/>
          <p:nvPr/>
        </p:nvSpPr>
        <p:spPr>
          <a:xfrm>
            <a:off x="4700588" y="381654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Integração com externos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e5c3bc1242_0_318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 Hexagonal: Exemplo Prático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35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de Pedidos com Ports e Adapters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5"/>
          <p:cNvSpPr/>
          <p:nvPr/>
        </p:nvSpPr>
        <p:spPr>
          <a:xfrm>
            <a:off x="428625" y="1191220"/>
            <a:ext cx="4086225" cy="22306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35"/>
          <p:cNvSpPr/>
          <p:nvPr/>
        </p:nvSpPr>
        <p:spPr>
          <a:xfrm>
            <a:off x="2114550" y="1751112"/>
            <a:ext cx="714375" cy="714375"/>
          </a:xfrm>
          <a:prstGeom prst="ellipse">
            <a:avLst/>
          </a:prstGeom>
          <a:solidFill>
            <a:srgbClr val="3FB950">
              <a:alpha val="30196"/>
            </a:srgbClr>
          </a:solidFill>
          <a:ln cap="flat" cmpd="sng" w="1827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5"/>
          <p:cNvSpPr/>
          <p:nvPr/>
        </p:nvSpPr>
        <p:spPr>
          <a:xfrm>
            <a:off x="2241352" y="1968996"/>
            <a:ext cx="460772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 Core</a:t>
            </a:r>
            <a:b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Lógica de</a:t>
            </a:r>
            <a:b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Negócio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5"/>
          <p:cNvSpPr/>
          <p:nvPr/>
        </p:nvSpPr>
        <p:spPr>
          <a:xfrm>
            <a:off x="542925" y="2551212"/>
            <a:ext cx="1247756" cy="310753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5"/>
          <p:cNvSpPr/>
          <p:nvPr/>
        </p:nvSpPr>
        <p:spPr>
          <a:xfrm>
            <a:off x="600075" y="2608362"/>
            <a:ext cx="1133456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📦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5"/>
          <p:cNvSpPr/>
          <p:nvPr/>
        </p:nvSpPr>
        <p:spPr>
          <a:xfrm>
            <a:off x="600075" y="2720876"/>
            <a:ext cx="1133456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Repository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5"/>
          <p:cNvSpPr/>
          <p:nvPr/>
        </p:nvSpPr>
        <p:spPr>
          <a:xfrm>
            <a:off x="1847831" y="2551212"/>
            <a:ext cx="1247784" cy="310753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5"/>
          <p:cNvSpPr/>
          <p:nvPr/>
        </p:nvSpPr>
        <p:spPr>
          <a:xfrm>
            <a:off x="1904981" y="2608362"/>
            <a:ext cx="113348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💳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5"/>
          <p:cNvSpPr/>
          <p:nvPr/>
        </p:nvSpPr>
        <p:spPr>
          <a:xfrm>
            <a:off x="1904981" y="2720876"/>
            <a:ext cx="113348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Payment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5"/>
          <p:cNvSpPr/>
          <p:nvPr/>
        </p:nvSpPr>
        <p:spPr>
          <a:xfrm>
            <a:off x="3152766" y="2551212"/>
            <a:ext cx="1247784" cy="310753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5"/>
          <p:cNvSpPr/>
          <p:nvPr/>
        </p:nvSpPr>
        <p:spPr>
          <a:xfrm>
            <a:off x="3209916" y="2608362"/>
            <a:ext cx="113348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📧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5"/>
          <p:cNvSpPr/>
          <p:nvPr/>
        </p:nvSpPr>
        <p:spPr>
          <a:xfrm>
            <a:off x="3209916" y="2720876"/>
            <a:ext cx="113348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Notification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5"/>
          <p:cNvSpPr/>
          <p:nvPr/>
        </p:nvSpPr>
        <p:spPr>
          <a:xfrm>
            <a:off x="4629150" y="1191220"/>
            <a:ext cx="4086225" cy="22306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5"/>
          <p:cNvSpPr/>
          <p:nvPr/>
        </p:nvSpPr>
        <p:spPr>
          <a:xfrm>
            <a:off x="4714875" y="1276945"/>
            <a:ext cx="3914775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Ports &amp; Adapters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35"/>
          <p:cNvSpPr/>
          <p:nvPr/>
        </p:nvSpPr>
        <p:spPr>
          <a:xfrm>
            <a:off x="4714875" y="1450181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Repository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5"/>
          <p:cNvSpPr/>
          <p:nvPr/>
        </p:nvSpPr>
        <p:spPr>
          <a:xfrm>
            <a:off x="4714875" y="160734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MySQL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5"/>
          <p:cNvSpPr/>
          <p:nvPr/>
        </p:nvSpPr>
        <p:spPr>
          <a:xfrm>
            <a:off x="4714875" y="1750219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PostgreSQL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5"/>
          <p:cNvSpPr/>
          <p:nvPr/>
        </p:nvSpPr>
        <p:spPr>
          <a:xfrm>
            <a:off x="4714875" y="189309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MongoDB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35"/>
          <p:cNvSpPr/>
          <p:nvPr/>
        </p:nvSpPr>
        <p:spPr>
          <a:xfrm>
            <a:off x="4714875" y="2078831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5"/>
          <p:cNvSpPr/>
          <p:nvPr/>
        </p:nvSpPr>
        <p:spPr>
          <a:xfrm>
            <a:off x="4714875" y="223599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Stripe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5"/>
          <p:cNvSpPr/>
          <p:nvPr/>
        </p:nvSpPr>
        <p:spPr>
          <a:xfrm>
            <a:off x="4714875" y="2378869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PayPal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5"/>
          <p:cNvSpPr/>
          <p:nvPr/>
        </p:nvSpPr>
        <p:spPr>
          <a:xfrm>
            <a:off x="4714875" y="252174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Square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35"/>
          <p:cNvSpPr/>
          <p:nvPr/>
        </p:nvSpPr>
        <p:spPr>
          <a:xfrm>
            <a:off x="4714875" y="2707481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Notification Port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5"/>
          <p:cNvSpPr/>
          <p:nvPr/>
        </p:nvSpPr>
        <p:spPr>
          <a:xfrm>
            <a:off x="4714875" y="286464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SendGrid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5"/>
          <p:cNvSpPr/>
          <p:nvPr/>
        </p:nvSpPr>
        <p:spPr>
          <a:xfrm>
            <a:off x="4714875" y="3007519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Twilio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5"/>
          <p:cNvSpPr/>
          <p:nvPr/>
        </p:nvSpPr>
        <p:spPr>
          <a:xfrm>
            <a:off x="4714875" y="3150394"/>
            <a:ext cx="39147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Firebase Adapter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5"/>
          <p:cNvSpPr/>
          <p:nvPr/>
        </p:nvSpPr>
        <p:spPr>
          <a:xfrm>
            <a:off x="0" y="3507581"/>
            <a:ext cx="9144000" cy="787598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5"/>
          <p:cNvSpPr/>
          <p:nvPr/>
        </p:nvSpPr>
        <p:spPr>
          <a:xfrm>
            <a:off x="85725" y="3593306"/>
            <a:ext cx="89725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Fluxo de Implementação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5"/>
          <p:cNvSpPr/>
          <p:nvPr/>
        </p:nvSpPr>
        <p:spPr>
          <a:xfrm>
            <a:off x="85725" y="3752255"/>
            <a:ext cx="8972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 Core: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CreateOrderUseCase com lógica de negócio pura</a:t>
            </a:r>
            <a:b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Ports: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IOrderRepository, IPaymentProcessor, INotificationService (interfaces)</a:t>
            </a:r>
            <a:b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Adapters: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MySQLOrderRepository, StripePaymentProcessor, SendGridNotificationService (implementações)</a:t>
            </a:r>
            <a:b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Isolamento: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Domain não conhece detalhes de implementação dos adapters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e5c3bc1242_0_323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Real: E-commerce com Arquitetura Moderna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36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Implementação com Microserviços, Eventos e Arquitetura Hexagonal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6"/>
          <p:cNvSpPr/>
          <p:nvPr/>
        </p:nvSpPr>
        <p:spPr>
          <a:xfrm>
            <a:off x="428625" y="1191220"/>
            <a:ext cx="2705081" cy="180201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6"/>
          <p:cNvSpPr/>
          <p:nvPr/>
        </p:nvSpPr>
        <p:spPr>
          <a:xfrm>
            <a:off x="514350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📦 Order Service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6"/>
          <p:cNvSpPr/>
          <p:nvPr/>
        </p:nvSpPr>
        <p:spPr>
          <a:xfrm>
            <a:off x="514350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6"/>
          <p:cNvSpPr/>
          <p:nvPr/>
        </p:nvSpPr>
        <p:spPr>
          <a:xfrm>
            <a:off x="514350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Gerenciar pedidos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36"/>
          <p:cNvSpPr/>
          <p:nvPr/>
        </p:nvSpPr>
        <p:spPr>
          <a:xfrm>
            <a:off x="514350" y="175736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Validar pedidos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6"/>
          <p:cNvSpPr/>
          <p:nvPr/>
        </p:nvSpPr>
        <p:spPr>
          <a:xfrm>
            <a:off x="514350" y="192166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36"/>
          <p:cNvSpPr/>
          <p:nvPr/>
        </p:nvSpPr>
        <p:spPr>
          <a:xfrm>
            <a:off x="514350" y="205740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OrderCreated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6"/>
          <p:cNvSpPr/>
          <p:nvPr/>
        </p:nvSpPr>
        <p:spPr>
          <a:xfrm>
            <a:off x="514350" y="218598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OrderConfirmed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6"/>
          <p:cNvSpPr/>
          <p:nvPr/>
        </p:nvSpPr>
        <p:spPr>
          <a:xfrm>
            <a:off x="514350" y="23502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Hexagonal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6"/>
          <p:cNvSpPr/>
          <p:nvPr/>
        </p:nvSpPr>
        <p:spPr>
          <a:xfrm>
            <a:off x="514350" y="248602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Domain: Order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6"/>
          <p:cNvSpPr/>
          <p:nvPr/>
        </p:nvSpPr>
        <p:spPr>
          <a:xfrm>
            <a:off x="514350" y="26146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Port: Repository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6"/>
          <p:cNvSpPr/>
          <p:nvPr/>
        </p:nvSpPr>
        <p:spPr>
          <a:xfrm>
            <a:off x="514350" y="274320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Adapter: MySQL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6"/>
          <p:cNvSpPr/>
          <p:nvPr/>
        </p:nvSpPr>
        <p:spPr>
          <a:xfrm>
            <a:off x="3219431" y="1191220"/>
            <a:ext cx="2705109" cy="180201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6"/>
          <p:cNvSpPr/>
          <p:nvPr/>
        </p:nvSpPr>
        <p:spPr>
          <a:xfrm>
            <a:off x="3305156" y="1276945"/>
            <a:ext cx="2533659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💳 Payment Service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6"/>
          <p:cNvSpPr/>
          <p:nvPr/>
        </p:nvSpPr>
        <p:spPr>
          <a:xfrm>
            <a:off x="3305156" y="149304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6"/>
          <p:cNvSpPr/>
          <p:nvPr/>
        </p:nvSpPr>
        <p:spPr>
          <a:xfrm>
            <a:off x="3305156" y="162877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Processar pagamentos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6"/>
          <p:cNvSpPr/>
          <p:nvPr/>
        </p:nvSpPr>
        <p:spPr>
          <a:xfrm>
            <a:off x="3305156" y="1757363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Reembolsos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6"/>
          <p:cNvSpPr/>
          <p:nvPr/>
        </p:nvSpPr>
        <p:spPr>
          <a:xfrm>
            <a:off x="3305156" y="1921669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6"/>
          <p:cNvSpPr/>
          <p:nvPr/>
        </p:nvSpPr>
        <p:spPr>
          <a:xfrm>
            <a:off x="3305156" y="2057400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PaymentProcessed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6"/>
          <p:cNvSpPr/>
          <p:nvPr/>
        </p:nvSpPr>
        <p:spPr>
          <a:xfrm>
            <a:off x="3305156" y="2185988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PaymentFailed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6"/>
          <p:cNvSpPr/>
          <p:nvPr/>
        </p:nvSpPr>
        <p:spPr>
          <a:xfrm>
            <a:off x="3305156" y="2350294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Hexagonal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6"/>
          <p:cNvSpPr/>
          <p:nvPr/>
        </p:nvSpPr>
        <p:spPr>
          <a:xfrm>
            <a:off x="3305156" y="2486025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Domain: Payment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6"/>
          <p:cNvSpPr/>
          <p:nvPr/>
        </p:nvSpPr>
        <p:spPr>
          <a:xfrm>
            <a:off x="3305156" y="2614613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Port: Gateway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6"/>
          <p:cNvSpPr/>
          <p:nvPr/>
        </p:nvSpPr>
        <p:spPr>
          <a:xfrm>
            <a:off x="3305156" y="2743200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Adapter: Stripe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6"/>
          <p:cNvSpPr/>
          <p:nvPr/>
        </p:nvSpPr>
        <p:spPr>
          <a:xfrm>
            <a:off x="6010266" y="1191220"/>
            <a:ext cx="2705081" cy="180201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6"/>
          <p:cNvSpPr/>
          <p:nvPr/>
        </p:nvSpPr>
        <p:spPr>
          <a:xfrm>
            <a:off x="6095991" y="1276945"/>
            <a:ext cx="2533631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📊 Inventory Service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6"/>
          <p:cNvSpPr/>
          <p:nvPr/>
        </p:nvSpPr>
        <p:spPr>
          <a:xfrm>
            <a:off x="6095991" y="149304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Responsabilidade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6"/>
          <p:cNvSpPr/>
          <p:nvPr/>
        </p:nvSpPr>
        <p:spPr>
          <a:xfrm>
            <a:off x="6095991" y="162877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Gerenciar estoque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6"/>
          <p:cNvSpPr/>
          <p:nvPr/>
        </p:nvSpPr>
        <p:spPr>
          <a:xfrm>
            <a:off x="6095991" y="175736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Reservar itens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6"/>
          <p:cNvSpPr/>
          <p:nvPr/>
        </p:nvSpPr>
        <p:spPr>
          <a:xfrm>
            <a:off x="6095991" y="1921669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6"/>
          <p:cNvSpPr/>
          <p:nvPr/>
        </p:nvSpPr>
        <p:spPr>
          <a:xfrm>
            <a:off x="6095991" y="205740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InventoryReserved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36"/>
          <p:cNvSpPr/>
          <p:nvPr/>
        </p:nvSpPr>
        <p:spPr>
          <a:xfrm>
            <a:off x="6095991" y="218598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OutOfStock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6"/>
          <p:cNvSpPr/>
          <p:nvPr/>
        </p:nvSpPr>
        <p:spPr>
          <a:xfrm>
            <a:off x="6095991" y="2350294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Hexagonal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6"/>
          <p:cNvSpPr/>
          <p:nvPr/>
        </p:nvSpPr>
        <p:spPr>
          <a:xfrm>
            <a:off x="6095991" y="2486025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Domain: Inventory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6"/>
          <p:cNvSpPr/>
          <p:nvPr/>
        </p:nvSpPr>
        <p:spPr>
          <a:xfrm>
            <a:off x="6095991" y="26146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Port: Repository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36"/>
          <p:cNvSpPr/>
          <p:nvPr/>
        </p:nvSpPr>
        <p:spPr>
          <a:xfrm>
            <a:off x="6095991" y="274320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Adapter: PostgreSQL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6"/>
          <p:cNvSpPr/>
          <p:nvPr/>
        </p:nvSpPr>
        <p:spPr>
          <a:xfrm>
            <a:off x="428625" y="3078956"/>
            <a:ext cx="8286750" cy="664704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6"/>
          <p:cNvSpPr/>
          <p:nvPr/>
        </p:nvSpPr>
        <p:spPr>
          <a:xfrm>
            <a:off x="514350" y="3164681"/>
            <a:ext cx="811530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🔄 Fluxo de Eventos (Message Broker: Kafka)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6"/>
          <p:cNvSpPr/>
          <p:nvPr/>
        </p:nvSpPr>
        <p:spPr>
          <a:xfrm>
            <a:off x="514350" y="3323630"/>
            <a:ext cx="516136" cy="188584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6"/>
          <p:cNvSpPr/>
          <p:nvPr/>
        </p:nvSpPr>
        <p:spPr>
          <a:xfrm>
            <a:off x="514350" y="3323630"/>
            <a:ext cx="516136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85075" spcFirstLastPara="1" rIns="85075" wrap="square" tIns="5105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OrderService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6"/>
          <p:cNvSpPr/>
          <p:nvPr/>
        </p:nvSpPr>
        <p:spPr>
          <a:xfrm>
            <a:off x="2265462" y="3360772"/>
            <a:ext cx="61793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→ OrderCreated →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6"/>
          <p:cNvSpPr/>
          <p:nvPr/>
        </p:nvSpPr>
        <p:spPr>
          <a:xfrm>
            <a:off x="4118372" y="3323630"/>
            <a:ext cx="609005" cy="188584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36"/>
          <p:cNvSpPr/>
          <p:nvPr/>
        </p:nvSpPr>
        <p:spPr>
          <a:xfrm>
            <a:off x="4118372" y="3323630"/>
            <a:ext cx="609005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85075" spcFirstLastPara="1" rIns="85075" wrap="square" tIns="5105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PaymentService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36"/>
          <p:cNvSpPr/>
          <p:nvPr/>
        </p:nvSpPr>
        <p:spPr>
          <a:xfrm>
            <a:off x="5962352" y="3360772"/>
            <a:ext cx="80903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→ PaymentProcessed →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36"/>
          <p:cNvSpPr/>
          <p:nvPr/>
        </p:nvSpPr>
        <p:spPr>
          <a:xfrm>
            <a:off x="8006358" y="3323630"/>
            <a:ext cx="623292" cy="188584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6"/>
          <p:cNvSpPr/>
          <p:nvPr/>
        </p:nvSpPr>
        <p:spPr>
          <a:xfrm>
            <a:off x="8006358" y="3323630"/>
            <a:ext cx="623292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85075" spcFirstLastPara="1" rIns="85075" wrap="square" tIns="5105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InventoryService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36"/>
          <p:cNvSpPr/>
          <p:nvPr/>
        </p:nvSpPr>
        <p:spPr>
          <a:xfrm>
            <a:off x="514350" y="3555076"/>
            <a:ext cx="8115300" cy="102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"/>
              <a:buFont typeface="Roboto"/>
              <a:buNone/>
            </a:pPr>
            <a:r>
              <a:rPr b="0" i="0" lang="en-US" sz="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Saga Pattern: Se PaymentFailed → Compensate: ReleaseInventory, CancelOrder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36"/>
          <p:cNvSpPr/>
          <p:nvPr/>
        </p:nvSpPr>
        <p:spPr>
          <a:xfrm>
            <a:off x="428625" y="3843672"/>
            <a:ext cx="2018109" cy="36433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6"/>
          <p:cNvSpPr/>
          <p:nvPr/>
        </p:nvSpPr>
        <p:spPr>
          <a:xfrm>
            <a:off x="500063" y="3915110"/>
            <a:ext cx="1875234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50%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36"/>
          <p:cNvSpPr/>
          <p:nvPr/>
        </p:nvSpPr>
        <p:spPr>
          <a:xfrm>
            <a:off x="500063" y="4052627"/>
            <a:ext cx="187523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Mais rápido em deploy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6"/>
          <p:cNvSpPr/>
          <p:nvPr/>
        </p:nvSpPr>
        <p:spPr>
          <a:xfrm>
            <a:off x="2518172" y="3843672"/>
            <a:ext cx="2018109" cy="36433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6"/>
          <p:cNvSpPr/>
          <p:nvPr/>
        </p:nvSpPr>
        <p:spPr>
          <a:xfrm>
            <a:off x="2589609" y="3915110"/>
            <a:ext cx="1875234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3x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6"/>
          <p:cNvSpPr/>
          <p:nvPr/>
        </p:nvSpPr>
        <p:spPr>
          <a:xfrm>
            <a:off x="2589609" y="4052627"/>
            <a:ext cx="187523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36"/>
          <p:cNvSpPr/>
          <p:nvPr/>
        </p:nvSpPr>
        <p:spPr>
          <a:xfrm>
            <a:off x="4607719" y="3843672"/>
            <a:ext cx="2018109" cy="36433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36"/>
          <p:cNvSpPr/>
          <p:nvPr/>
        </p:nvSpPr>
        <p:spPr>
          <a:xfrm>
            <a:off x="4679156" y="3915110"/>
            <a:ext cx="1875234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80%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36"/>
          <p:cNvSpPr/>
          <p:nvPr/>
        </p:nvSpPr>
        <p:spPr>
          <a:xfrm>
            <a:off x="4679156" y="4052627"/>
            <a:ext cx="187523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Menos bugs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6"/>
          <p:cNvSpPr/>
          <p:nvPr/>
        </p:nvSpPr>
        <p:spPr>
          <a:xfrm>
            <a:off x="6697266" y="3843672"/>
            <a:ext cx="2018109" cy="364331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6"/>
          <p:cNvSpPr/>
          <p:nvPr/>
        </p:nvSpPr>
        <p:spPr>
          <a:xfrm>
            <a:off x="6768703" y="3915110"/>
            <a:ext cx="1875234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3FB950"/>
                </a:solidFill>
                <a:latin typeface="Roboto"/>
                <a:ea typeface="Roboto"/>
                <a:cs typeface="Roboto"/>
                <a:sym typeface="Roboto"/>
              </a:rPr>
              <a:t>99.9%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6"/>
          <p:cNvSpPr/>
          <p:nvPr/>
        </p:nvSpPr>
        <p:spPr>
          <a:xfrm>
            <a:off x="6768703" y="4052627"/>
            <a:ext cx="1875234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Disponibilidade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e5c3bc1242_0_328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Melhores Práticas em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37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Pilares essenciais para sistemas robustos, escaláveis e mantíveis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7"/>
          <p:cNvSpPr/>
          <p:nvPr/>
        </p:nvSpPr>
        <p:spPr>
          <a:xfrm>
            <a:off x="428625" y="1191220"/>
            <a:ext cx="2705081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7"/>
          <p:cNvSpPr/>
          <p:nvPr/>
        </p:nvSpPr>
        <p:spPr>
          <a:xfrm>
            <a:off x="514350" y="1276945"/>
            <a:ext cx="253363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7"/>
          <p:cNvSpPr/>
          <p:nvPr/>
        </p:nvSpPr>
        <p:spPr>
          <a:xfrm>
            <a:off x="514350" y="1519833"/>
            <a:ext cx="2533631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Monitoramento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7"/>
          <p:cNvSpPr/>
          <p:nvPr/>
        </p:nvSpPr>
        <p:spPr>
          <a:xfrm>
            <a:off x="514350" y="1669852"/>
            <a:ext cx="253363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Observar saúde e performance do sistema em tempo real. Alertas para anomalias.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7"/>
          <p:cNvSpPr/>
          <p:nvPr/>
        </p:nvSpPr>
        <p:spPr>
          <a:xfrm>
            <a:off x="514350" y="1941314"/>
            <a:ext cx="2533631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7"/>
          <p:cNvSpPr/>
          <p:nvPr/>
        </p:nvSpPr>
        <p:spPr>
          <a:xfrm>
            <a:off x="514350" y="1941314"/>
            <a:ext cx="2533631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Prometheus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Grafana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DataDog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New Relic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7"/>
          <p:cNvSpPr/>
          <p:nvPr/>
        </p:nvSpPr>
        <p:spPr>
          <a:xfrm>
            <a:off x="3219431" y="1191220"/>
            <a:ext cx="2705109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7"/>
          <p:cNvSpPr/>
          <p:nvPr/>
        </p:nvSpPr>
        <p:spPr>
          <a:xfrm>
            <a:off x="3305156" y="1276945"/>
            <a:ext cx="253365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37"/>
          <p:cNvSpPr/>
          <p:nvPr/>
        </p:nvSpPr>
        <p:spPr>
          <a:xfrm>
            <a:off x="3305156" y="1519833"/>
            <a:ext cx="2533659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Logging Distribuído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7"/>
          <p:cNvSpPr/>
          <p:nvPr/>
        </p:nvSpPr>
        <p:spPr>
          <a:xfrm>
            <a:off x="3305156" y="1669852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Rastrear requisições através de múltiplos serviços. Correlação de eventos.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7"/>
          <p:cNvSpPr/>
          <p:nvPr/>
        </p:nvSpPr>
        <p:spPr>
          <a:xfrm>
            <a:off x="3305156" y="1834158"/>
            <a:ext cx="2533659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37"/>
          <p:cNvSpPr/>
          <p:nvPr/>
        </p:nvSpPr>
        <p:spPr>
          <a:xfrm>
            <a:off x="3305156" y="1834158"/>
            <a:ext cx="2533659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ELK Stack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Splunk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Jaeger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Zipkin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7"/>
          <p:cNvSpPr/>
          <p:nvPr/>
        </p:nvSpPr>
        <p:spPr>
          <a:xfrm>
            <a:off x="6010266" y="1191220"/>
            <a:ext cx="2705081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7"/>
          <p:cNvSpPr/>
          <p:nvPr/>
        </p:nvSpPr>
        <p:spPr>
          <a:xfrm>
            <a:off x="6095991" y="1276945"/>
            <a:ext cx="253363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37"/>
          <p:cNvSpPr/>
          <p:nvPr/>
        </p:nvSpPr>
        <p:spPr>
          <a:xfrm>
            <a:off x="6095991" y="1519833"/>
            <a:ext cx="2533631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Versionamento de APIs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7"/>
          <p:cNvSpPr/>
          <p:nvPr/>
        </p:nvSpPr>
        <p:spPr>
          <a:xfrm>
            <a:off x="6095991" y="1669852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Manter compatibilidade com clientes antigos. Evolução gradual de interfaces.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37"/>
          <p:cNvSpPr/>
          <p:nvPr/>
        </p:nvSpPr>
        <p:spPr>
          <a:xfrm>
            <a:off x="6095991" y="1834158"/>
            <a:ext cx="2533631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7"/>
          <p:cNvSpPr/>
          <p:nvPr/>
        </p:nvSpPr>
        <p:spPr>
          <a:xfrm>
            <a:off x="6095991" y="1834158"/>
            <a:ext cx="2533631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/v1/, /v2/ paths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Content negotiation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Deprecation headers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Semantic versioning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7"/>
          <p:cNvSpPr/>
          <p:nvPr/>
        </p:nvSpPr>
        <p:spPr>
          <a:xfrm>
            <a:off x="428625" y="2547082"/>
            <a:ext cx="2705081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7"/>
          <p:cNvSpPr/>
          <p:nvPr/>
        </p:nvSpPr>
        <p:spPr>
          <a:xfrm>
            <a:off x="514350" y="2632807"/>
            <a:ext cx="253363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37"/>
          <p:cNvSpPr/>
          <p:nvPr/>
        </p:nvSpPr>
        <p:spPr>
          <a:xfrm>
            <a:off x="514350" y="2875694"/>
            <a:ext cx="2533631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Documentação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7"/>
          <p:cNvSpPr/>
          <p:nvPr/>
        </p:nvSpPr>
        <p:spPr>
          <a:xfrm>
            <a:off x="514350" y="30257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APIs bem documentadas, diagramas de arquitetura, guias de deployment.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37"/>
          <p:cNvSpPr/>
          <p:nvPr/>
        </p:nvSpPr>
        <p:spPr>
          <a:xfrm>
            <a:off x="514350" y="3190019"/>
            <a:ext cx="2533631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7"/>
          <p:cNvSpPr/>
          <p:nvPr/>
        </p:nvSpPr>
        <p:spPr>
          <a:xfrm>
            <a:off x="514350" y="3190019"/>
            <a:ext cx="2533631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OpenAPI/Swagger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AsyncAPI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Architecture Decision Records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README files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7"/>
          <p:cNvSpPr/>
          <p:nvPr/>
        </p:nvSpPr>
        <p:spPr>
          <a:xfrm>
            <a:off x="3219431" y="2547082"/>
            <a:ext cx="2705109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37"/>
          <p:cNvSpPr/>
          <p:nvPr/>
        </p:nvSpPr>
        <p:spPr>
          <a:xfrm>
            <a:off x="3305156" y="2632807"/>
            <a:ext cx="253365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🔒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37"/>
          <p:cNvSpPr/>
          <p:nvPr/>
        </p:nvSpPr>
        <p:spPr>
          <a:xfrm>
            <a:off x="3305156" y="2875694"/>
            <a:ext cx="2533659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Segurança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7"/>
          <p:cNvSpPr/>
          <p:nvPr/>
        </p:nvSpPr>
        <p:spPr>
          <a:xfrm>
            <a:off x="3305156" y="3025713"/>
            <a:ext cx="253365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Autenticação, autorização, criptografia, validação de entrada, proteção contra ataques.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37"/>
          <p:cNvSpPr/>
          <p:nvPr/>
        </p:nvSpPr>
        <p:spPr>
          <a:xfrm>
            <a:off x="3305156" y="3297175"/>
            <a:ext cx="2533659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7"/>
          <p:cNvSpPr/>
          <p:nvPr/>
        </p:nvSpPr>
        <p:spPr>
          <a:xfrm>
            <a:off x="3305156" y="3297175"/>
            <a:ext cx="2533659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OAuth 2.0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JWT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TLS/SSL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OWASP Top 10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37"/>
          <p:cNvSpPr/>
          <p:nvPr/>
        </p:nvSpPr>
        <p:spPr>
          <a:xfrm>
            <a:off x="6010266" y="2547082"/>
            <a:ext cx="2705081" cy="1270136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37"/>
          <p:cNvSpPr/>
          <p:nvPr/>
        </p:nvSpPr>
        <p:spPr>
          <a:xfrm>
            <a:off x="6095991" y="2632807"/>
            <a:ext cx="253363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Times New Roman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7"/>
          <p:cNvSpPr/>
          <p:nvPr/>
        </p:nvSpPr>
        <p:spPr>
          <a:xfrm>
            <a:off x="6095991" y="2875694"/>
            <a:ext cx="2533631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 &amp; Resiliência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7"/>
          <p:cNvSpPr/>
          <p:nvPr/>
        </p:nvSpPr>
        <p:spPr>
          <a:xfrm>
            <a:off x="6095991" y="3025713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Auto-scaling, circuit breakers, retry logic, graceful degradation, fallbacks.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37"/>
          <p:cNvSpPr/>
          <p:nvPr/>
        </p:nvSpPr>
        <p:spPr>
          <a:xfrm>
            <a:off x="6095991" y="3190019"/>
            <a:ext cx="2533631" cy="434318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7"/>
          <p:cNvSpPr/>
          <p:nvPr/>
        </p:nvSpPr>
        <p:spPr>
          <a:xfrm>
            <a:off x="6095991" y="3190019"/>
            <a:ext cx="2533631" cy="43431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68050" spcFirstLastPara="1" rIns="68050" wrap="square" tIns="6805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00"/>
              <a:buFont typeface="IBM Plex Mono"/>
              <a:buNone/>
            </a:pP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Load balancing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Kubernetes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Rate limiting</a:t>
            </a:r>
            <a:b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0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Bulkheads</a:t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e5c3bc1242_0_333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 de Decisão: Qual Arquitetura Usar?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38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38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Guia prático para escolher a arquitetura correta para seu projeto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8"/>
          <p:cNvSpPr/>
          <p:nvPr/>
        </p:nvSpPr>
        <p:spPr>
          <a:xfrm>
            <a:off x="428625" y="1191220"/>
            <a:ext cx="8286750" cy="2321719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8"/>
          <p:cNvSpPr/>
          <p:nvPr/>
        </p:nvSpPr>
        <p:spPr>
          <a:xfrm>
            <a:off x="428625" y="1191220"/>
            <a:ext cx="2416346" cy="2714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8"/>
          <p:cNvSpPr/>
          <p:nvPr/>
        </p:nvSpPr>
        <p:spPr>
          <a:xfrm>
            <a:off x="2837827" y="1191220"/>
            <a:ext cx="7144" cy="271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8"/>
          <p:cNvSpPr/>
          <p:nvPr/>
        </p:nvSpPr>
        <p:spPr>
          <a:xfrm>
            <a:off x="428625" y="1448395"/>
            <a:ext cx="2416346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8"/>
          <p:cNvSpPr/>
          <p:nvPr/>
        </p:nvSpPr>
        <p:spPr>
          <a:xfrm>
            <a:off x="428625" y="1191220"/>
            <a:ext cx="2416346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Critério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8"/>
          <p:cNvSpPr/>
          <p:nvPr/>
        </p:nvSpPr>
        <p:spPr>
          <a:xfrm>
            <a:off x="2847817" y="1191220"/>
            <a:ext cx="1511991" cy="2714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8"/>
          <p:cNvSpPr/>
          <p:nvPr/>
        </p:nvSpPr>
        <p:spPr>
          <a:xfrm>
            <a:off x="4352665" y="1191220"/>
            <a:ext cx="7144" cy="271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8"/>
          <p:cNvSpPr/>
          <p:nvPr/>
        </p:nvSpPr>
        <p:spPr>
          <a:xfrm>
            <a:off x="2847817" y="1448395"/>
            <a:ext cx="1511991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8"/>
          <p:cNvSpPr/>
          <p:nvPr/>
        </p:nvSpPr>
        <p:spPr>
          <a:xfrm>
            <a:off x="2847817" y="1191220"/>
            <a:ext cx="1511991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Monolítica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8"/>
          <p:cNvSpPr/>
          <p:nvPr/>
        </p:nvSpPr>
        <p:spPr>
          <a:xfrm>
            <a:off x="4359306" y="1191220"/>
            <a:ext cx="1857794" cy="2714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8"/>
          <p:cNvSpPr/>
          <p:nvPr/>
        </p:nvSpPr>
        <p:spPr>
          <a:xfrm>
            <a:off x="6209956" y="1191220"/>
            <a:ext cx="7144" cy="271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8"/>
          <p:cNvSpPr/>
          <p:nvPr/>
        </p:nvSpPr>
        <p:spPr>
          <a:xfrm>
            <a:off x="4359306" y="1448395"/>
            <a:ext cx="1857794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8"/>
          <p:cNvSpPr/>
          <p:nvPr/>
        </p:nvSpPr>
        <p:spPr>
          <a:xfrm>
            <a:off x="4359306" y="1191220"/>
            <a:ext cx="1857794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38"/>
          <p:cNvSpPr/>
          <p:nvPr/>
        </p:nvSpPr>
        <p:spPr>
          <a:xfrm>
            <a:off x="6220978" y="1191220"/>
            <a:ext cx="2494397" cy="2714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8"/>
          <p:cNvSpPr/>
          <p:nvPr/>
        </p:nvSpPr>
        <p:spPr>
          <a:xfrm>
            <a:off x="6220978" y="1448395"/>
            <a:ext cx="2494397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8"/>
          <p:cNvSpPr/>
          <p:nvPr/>
        </p:nvSpPr>
        <p:spPr>
          <a:xfrm>
            <a:off x="6220978" y="1191220"/>
            <a:ext cx="2494397" cy="271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Baseada em Eventos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8"/>
          <p:cNvSpPr/>
          <p:nvPr/>
        </p:nvSpPr>
        <p:spPr>
          <a:xfrm>
            <a:off x="428625" y="1455539"/>
            <a:ext cx="243063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8"/>
          <p:cNvSpPr/>
          <p:nvPr/>
        </p:nvSpPr>
        <p:spPr>
          <a:xfrm>
            <a:off x="2852114" y="1455539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8"/>
          <p:cNvSpPr/>
          <p:nvPr/>
        </p:nvSpPr>
        <p:spPr>
          <a:xfrm>
            <a:off x="428625" y="1455539"/>
            <a:ext cx="243063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Complexidade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8"/>
          <p:cNvSpPr/>
          <p:nvPr/>
        </p:nvSpPr>
        <p:spPr>
          <a:xfrm>
            <a:off x="2859258" y="1455539"/>
            <a:ext cx="1509340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8"/>
          <p:cNvSpPr/>
          <p:nvPr/>
        </p:nvSpPr>
        <p:spPr>
          <a:xfrm>
            <a:off x="4361455" y="1455539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8"/>
          <p:cNvSpPr/>
          <p:nvPr/>
        </p:nvSpPr>
        <p:spPr>
          <a:xfrm>
            <a:off x="2859258" y="1455539"/>
            <a:ext cx="1509340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Baixa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8"/>
          <p:cNvSpPr/>
          <p:nvPr/>
        </p:nvSpPr>
        <p:spPr>
          <a:xfrm>
            <a:off x="4368598" y="1455539"/>
            <a:ext cx="1852380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8"/>
          <p:cNvSpPr/>
          <p:nvPr/>
        </p:nvSpPr>
        <p:spPr>
          <a:xfrm>
            <a:off x="6213835" y="1455539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8"/>
          <p:cNvSpPr/>
          <p:nvPr/>
        </p:nvSpPr>
        <p:spPr>
          <a:xfrm>
            <a:off x="4368598" y="1455539"/>
            <a:ext cx="1852380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Alta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8"/>
          <p:cNvSpPr/>
          <p:nvPr/>
        </p:nvSpPr>
        <p:spPr>
          <a:xfrm>
            <a:off x="6220978" y="1455539"/>
            <a:ext cx="2494397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8"/>
          <p:cNvSpPr/>
          <p:nvPr/>
        </p:nvSpPr>
        <p:spPr>
          <a:xfrm>
            <a:off x="6220978" y="1455539"/>
            <a:ext cx="249439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Muito Alta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38"/>
          <p:cNvSpPr/>
          <p:nvPr/>
        </p:nvSpPr>
        <p:spPr>
          <a:xfrm>
            <a:off x="428625" y="1710928"/>
            <a:ext cx="8286750" cy="25538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8"/>
          <p:cNvSpPr/>
          <p:nvPr/>
        </p:nvSpPr>
        <p:spPr>
          <a:xfrm>
            <a:off x="428625" y="1710928"/>
            <a:ext cx="243063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8"/>
          <p:cNvSpPr/>
          <p:nvPr/>
        </p:nvSpPr>
        <p:spPr>
          <a:xfrm>
            <a:off x="2852114" y="1710928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8"/>
          <p:cNvSpPr/>
          <p:nvPr/>
        </p:nvSpPr>
        <p:spPr>
          <a:xfrm>
            <a:off x="428625" y="1710928"/>
            <a:ext cx="243063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Curva de Aprendizado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38"/>
          <p:cNvSpPr/>
          <p:nvPr/>
        </p:nvSpPr>
        <p:spPr>
          <a:xfrm>
            <a:off x="2852338" y="1710928"/>
            <a:ext cx="1511126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8"/>
          <p:cNvSpPr/>
          <p:nvPr/>
        </p:nvSpPr>
        <p:spPr>
          <a:xfrm>
            <a:off x="4356320" y="1710928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8"/>
          <p:cNvSpPr/>
          <p:nvPr/>
        </p:nvSpPr>
        <p:spPr>
          <a:xfrm>
            <a:off x="2852338" y="1710928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8"/>
          <p:cNvSpPr/>
          <p:nvPr/>
        </p:nvSpPr>
        <p:spPr>
          <a:xfrm>
            <a:off x="4363464" y="1710928"/>
            <a:ext cx="1854557" cy="255389"/>
          </a:xfrm>
          <a:prstGeom prst="rect">
            <a:avLst/>
          </a:prstGeom>
          <a:solidFill>
            <a:srgbClr val="D4992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8"/>
          <p:cNvSpPr/>
          <p:nvPr/>
        </p:nvSpPr>
        <p:spPr>
          <a:xfrm>
            <a:off x="6210877" y="1710928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8"/>
          <p:cNvSpPr/>
          <p:nvPr/>
        </p:nvSpPr>
        <p:spPr>
          <a:xfrm>
            <a:off x="4363464" y="1710928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Média ~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8"/>
          <p:cNvSpPr/>
          <p:nvPr/>
        </p:nvSpPr>
        <p:spPr>
          <a:xfrm>
            <a:off x="6218020" y="1710928"/>
            <a:ext cx="2497355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8"/>
          <p:cNvSpPr/>
          <p:nvPr/>
        </p:nvSpPr>
        <p:spPr>
          <a:xfrm>
            <a:off x="6218020" y="1710928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Difícil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8"/>
          <p:cNvSpPr/>
          <p:nvPr/>
        </p:nvSpPr>
        <p:spPr>
          <a:xfrm>
            <a:off x="428625" y="1966317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8"/>
          <p:cNvSpPr/>
          <p:nvPr/>
        </p:nvSpPr>
        <p:spPr>
          <a:xfrm>
            <a:off x="2845194" y="1966317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8"/>
          <p:cNvSpPr/>
          <p:nvPr/>
        </p:nvSpPr>
        <p:spPr>
          <a:xfrm>
            <a:off x="428625" y="1966317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8"/>
          <p:cNvSpPr/>
          <p:nvPr/>
        </p:nvSpPr>
        <p:spPr>
          <a:xfrm>
            <a:off x="2852338" y="1966317"/>
            <a:ext cx="1511126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8"/>
          <p:cNvSpPr/>
          <p:nvPr/>
        </p:nvSpPr>
        <p:spPr>
          <a:xfrm>
            <a:off x="4356320" y="1966317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38"/>
          <p:cNvSpPr/>
          <p:nvPr/>
        </p:nvSpPr>
        <p:spPr>
          <a:xfrm>
            <a:off x="2852338" y="1966317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Limitada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8"/>
          <p:cNvSpPr/>
          <p:nvPr/>
        </p:nvSpPr>
        <p:spPr>
          <a:xfrm>
            <a:off x="4363464" y="1966317"/>
            <a:ext cx="1854557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8"/>
          <p:cNvSpPr/>
          <p:nvPr/>
        </p:nvSpPr>
        <p:spPr>
          <a:xfrm>
            <a:off x="6210877" y="1966317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8"/>
          <p:cNvSpPr/>
          <p:nvPr/>
        </p:nvSpPr>
        <p:spPr>
          <a:xfrm>
            <a:off x="4363464" y="1966317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Excelente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38"/>
          <p:cNvSpPr/>
          <p:nvPr/>
        </p:nvSpPr>
        <p:spPr>
          <a:xfrm>
            <a:off x="6218020" y="1966317"/>
            <a:ext cx="2497355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8"/>
          <p:cNvSpPr/>
          <p:nvPr/>
        </p:nvSpPr>
        <p:spPr>
          <a:xfrm>
            <a:off x="6218020" y="1966317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Excelente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8"/>
          <p:cNvSpPr/>
          <p:nvPr/>
        </p:nvSpPr>
        <p:spPr>
          <a:xfrm>
            <a:off x="428625" y="2221706"/>
            <a:ext cx="8286750" cy="25538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8"/>
          <p:cNvSpPr/>
          <p:nvPr/>
        </p:nvSpPr>
        <p:spPr>
          <a:xfrm>
            <a:off x="428625" y="2221706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8"/>
          <p:cNvSpPr/>
          <p:nvPr/>
        </p:nvSpPr>
        <p:spPr>
          <a:xfrm>
            <a:off x="2845194" y="2221706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8"/>
          <p:cNvSpPr/>
          <p:nvPr/>
        </p:nvSpPr>
        <p:spPr>
          <a:xfrm>
            <a:off x="428625" y="2221706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Equipe Necessária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38"/>
          <p:cNvSpPr/>
          <p:nvPr/>
        </p:nvSpPr>
        <p:spPr>
          <a:xfrm>
            <a:off x="2852338" y="2221706"/>
            <a:ext cx="1511126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8"/>
          <p:cNvSpPr/>
          <p:nvPr/>
        </p:nvSpPr>
        <p:spPr>
          <a:xfrm>
            <a:off x="4356320" y="2221706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8"/>
          <p:cNvSpPr/>
          <p:nvPr/>
        </p:nvSpPr>
        <p:spPr>
          <a:xfrm>
            <a:off x="2852338" y="2221706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Pequena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38"/>
          <p:cNvSpPr/>
          <p:nvPr/>
        </p:nvSpPr>
        <p:spPr>
          <a:xfrm>
            <a:off x="4363464" y="2221706"/>
            <a:ext cx="1854557" cy="255389"/>
          </a:xfrm>
          <a:prstGeom prst="rect">
            <a:avLst/>
          </a:prstGeom>
          <a:solidFill>
            <a:srgbClr val="D4992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8"/>
          <p:cNvSpPr/>
          <p:nvPr/>
        </p:nvSpPr>
        <p:spPr>
          <a:xfrm>
            <a:off x="6210877" y="2221706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4363464" y="2221706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Média ~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38"/>
          <p:cNvSpPr/>
          <p:nvPr/>
        </p:nvSpPr>
        <p:spPr>
          <a:xfrm>
            <a:off x="6218020" y="2221706"/>
            <a:ext cx="2497355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8"/>
          <p:cNvSpPr/>
          <p:nvPr/>
        </p:nvSpPr>
        <p:spPr>
          <a:xfrm>
            <a:off x="6218020" y="2221706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Grande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8"/>
          <p:cNvSpPr/>
          <p:nvPr/>
        </p:nvSpPr>
        <p:spPr>
          <a:xfrm>
            <a:off x="428625" y="2477095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8"/>
          <p:cNvSpPr/>
          <p:nvPr/>
        </p:nvSpPr>
        <p:spPr>
          <a:xfrm>
            <a:off x="2845194" y="2477095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8"/>
          <p:cNvSpPr/>
          <p:nvPr/>
        </p:nvSpPr>
        <p:spPr>
          <a:xfrm>
            <a:off x="428625" y="2477095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Manutenção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8"/>
          <p:cNvSpPr/>
          <p:nvPr/>
        </p:nvSpPr>
        <p:spPr>
          <a:xfrm>
            <a:off x="2852338" y="2477095"/>
            <a:ext cx="1511126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8"/>
          <p:cNvSpPr/>
          <p:nvPr/>
        </p:nvSpPr>
        <p:spPr>
          <a:xfrm>
            <a:off x="4356320" y="2477095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8"/>
          <p:cNvSpPr/>
          <p:nvPr/>
        </p:nvSpPr>
        <p:spPr>
          <a:xfrm>
            <a:off x="2852338" y="2477095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Fácil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8"/>
          <p:cNvSpPr/>
          <p:nvPr/>
        </p:nvSpPr>
        <p:spPr>
          <a:xfrm>
            <a:off x="4363464" y="2477095"/>
            <a:ext cx="1854557" cy="255389"/>
          </a:xfrm>
          <a:prstGeom prst="rect">
            <a:avLst/>
          </a:prstGeom>
          <a:solidFill>
            <a:srgbClr val="D4992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8"/>
          <p:cNvSpPr/>
          <p:nvPr/>
        </p:nvSpPr>
        <p:spPr>
          <a:xfrm>
            <a:off x="6210877" y="2477095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8"/>
          <p:cNvSpPr/>
          <p:nvPr/>
        </p:nvSpPr>
        <p:spPr>
          <a:xfrm>
            <a:off x="4363464" y="2477095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Média ~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8"/>
          <p:cNvSpPr/>
          <p:nvPr/>
        </p:nvSpPr>
        <p:spPr>
          <a:xfrm>
            <a:off x="6218020" y="2477095"/>
            <a:ext cx="2497355" cy="255389"/>
          </a:xfrm>
          <a:prstGeom prst="rect">
            <a:avLst/>
          </a:prstGeom>
          <a:solidFill>
            <a:srgbClr val="D4992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8"/>
          <p:cNvSpPr/>
          <p:nvPr/>
        </p:nvSpPr>
        <p:spPr>
          <a:xfrm>
            <a:off x="6218020" y="2477095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Média ~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38"/>
          <p:cNvSpPr/>
          <p:nvPr/>
        </p:nvSpPr>
        <p:spPr>
          <a:xfrm>
            <a:off x="428625" y="2732484"/>
            <a:ext cx="8286750" cy="25538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8"/>
          <p:cNvSpPr/>
          <p:nvPr/>
        </p:nvSpPr>
        <p:spPr>
          <a:xfrm>
            <a:off x="428625" y="2732484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8"/>
          <p:cNvSpPr/>
          <p:nvPr/>
        </p:nvSpPr>
        <p:spPr>
          <a:xfrm>
            <a:off x="2845194" y="2732484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8"/>
          <p:cNvSpPr/>
          <p:nvPr/>
        </p:nvSpPr>
        <p:spPr>
          <a:xfrm>
            <a:off x="428625" y="2732484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Resiliência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8"/>
          <p:cNvSpPr/>
          <p:nvPr/>
        </p:nvSpPr>
        <p:spPr>
          <a:xfrm>
            <a:off x="2852338" y="2732484"/>
            <a:ext cx="1511126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8"/>
          <p:cNvSpPr/>
          <p:nvPr/>
        </p:nvSpPr>
        <p:spPr>
          <a:xfrm>
            <a:off x="4356320" y="2732484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8"/>
          <p:cNvSpPr/>
          <p:nvPr/>
        </p:nvSpPr>
        <p:spPr>
          <a:xfrm>
            <a:off x="2852338" y="2732484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Baixa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38"/>
          <p:cNvSpPr/>
          <p:nvPr/>
        </p:nvSpPr>
        <p:spPr>
          <a:xfrm>
            <a:off x="4363464" y="2732484"/>
            <a:ext cx="1854557" cy="255389"/>
          </a:xfrm>
          <a:prstGeom prst="rect">
            <a:avLst/>
          </a:prstGeom>
          <a:solidFill>
            <a:srgbClr val="D4992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8"/>
          <p:cNvSpPr/>
          <p:nvPr/>
        </p:nvSpPr>
        <p:spPr>
          <a:xfrm>
            <a:off x="6210877" y="2732484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8"/>
          <p:cNvSpPr/>
          <p:nvPr/>
        </p:nvSpPr>
        <p:spPr>
          <a:xfrm>
            <a:off x="4363464" y="2732484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Boa ~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8"/>
          <p:cNvSpPr/>
          <p:nvPr/>
        </p:nvSpPr>
        <p:spPr>
          <a:xfrm>
            <a:off x="6218020" y="2732484"/>
            <a:ext cx="2497355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8"/>
          <p:cNvSpPr/>
          <p:nvPr/>
        </p:nvSpPr>
        <p:spPr>
          <a:xfrm>
            <a:off x="6218020" y="2732484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Excelente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8"/>
          <p:cNvSpPr/>
          <p:nvPr/>
        </p:nvSpPr>
        <p:spPr>
          <a:xfrm>
            <a:off x="428625" y="2987873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8"/>
          <p:cNvSpPr/>
          <p:nvPr/>
        </p:nvSpPr>
        <p:spPr>
          <a:xfrm>
            <a:off x="2845194" y="298787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8"/>
          <p:cNvSpPr/>
          <p:nvPr/>
        </p:nvSpPr>
        <p:spPr>
          <a:xfrm>
            <a:off x="428625" y="2987873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Tempo de Deploy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38"/>
          <p:cNvSpPr/>
          <p:nvPr/>
        </p:nvSpPr>
        <p:spPr>
          <a:xfrm>
            <a:off x="2852338" y="2987873"/>
            <a:ext cx="1511126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8"/>
          <p:cNvSpPr/>
          <p:nvPr/>
        </p:nvSpPr>
        <p:spPr>
          <a:xfrm>
            <a:off x="4356320" y="298787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8"/>
          <p:cNvSpPr/>
          <p:nvPr/>
        </p:nvSpPr>
        <p:spPr>
          <a:xfrm>
            <a:off x="2852338" y="2987873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Lento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8"/>
          <p:cNvSpPr/>
          <p:nvPr/>
        </p:nvSpPr>
        <p:spPr>
          <a:xfrm>
            <a:off x="4363464" y="2987873"/>
            <a:ext cx="1854557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8"/>
          <p:cNvSpPr/>
          <p:nvPr/>
        </p:nvSpPr>
        <p:spPr>
          <a:xfrm>
            <a:off x="6210877" y="298787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38"/>
          <p:cNvSpPr/>
          <p:nvPr/>
        </p:nvSpPr>
        <p:spPr>
          <a:xfrm>
            <a:off x="4363464" y="2987873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Rápido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38"/>
          <p:cNvSpPr/>
          <p:nvPr/>
        </p:nvSpPr>
        <p:spPr>
          <a:xfrm>
            <a:off x="6218020" y="2987873"/>
            <a:ext cx="2497355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38"/>
          <p:cNvSpPr/>
          <p:nvPr/>
        </p:nvSpPr>
        <p:spPr>
          <a:xfrm>
            <a:off x="6218020" y="2987873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Rápido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8"/>
          <p:cNvSpPr/>
          <p:nvPr/>
        </p:nvSpPr>
        <p:spPr>
          <a:xfrm>
            <a:off x="428625" y="3243263"/>
            <a:ext cx="8286750" cy="255389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8"/>
          <p:cNvSpPr/>
          <p:nvPr/>
        </p:nvSpPr>
        <p:spPr>
          <a:xfrm>
            <a:off x="428625" y="3243263"/>
            <a:ext cx="2423713" cy="25538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8"/>
          <p:cNvSpPr/>
          <p:nvPr/>
        </p:nvSpPr>
        <p:spPr>
          <a:xfrm>
            <a:off x="2845194" y="324326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8"/>
          <p:cNvSpPr/>
          <p:nvPr/>
        </p:nvSpPr>
        <p:spPr>
          <a:xfrm>
            <a:off x="428625" y="3243263"/>
            <a:ext cx="2423713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 Inicial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8"/>
          <p:cNvSpPr/>
          <p:nvPr/>
        </p:nvSpPr>
        <p:spPr>
          <a:xfrm>
            <a:off x="2852338" y="3243263"/>
            <a:ext cx="1511126" cy="255389"/>
          </a:xfrm>
          <a:prstGeom prst="rect">
            <a:avLst/>
          </a:prstGeom>
          <a:solidFill>
            <a:srgbClr val="3FB95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8"/>
          <p:cNvSpPr/>
          <p:nvPr/>
        </p:nvSpPr>
        <p:spPr>
          <a:xfrm>
            <a:off x="4356320" y="324326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8"/>
          <p:cNvSpPr/>
          <p:nvPr/>
        </p:nvSpPr>
        <p:spPr>
          <a:xfrm>
            <a:off x="2852338" y="3243263"/>
            <a:ext cx="1511126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Baixo ✓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38"/>
          <p:cNvSpPr/>
          <p:nvPr/>
        </p:nvSpPr>
        <p:spPr>
          <a:xfrm>
            <a:off x="4363464" y="3243263"/>
            <a:ext cx="1854557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8"/>
          <p:cNvSpPr/>
          <p:nvPr/>
        </p:nvSpPr>
        <p:spPr>
          <a:xfrm>
            <a:off x="6210877" y="3243263"/>
            <a:ext cx="7144" cy="2553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8"/>
          <p:cNvSpPr/>
          <p:nvPr/>
        </p:nvSpPr>
        <p:spPr>
          <a:xfrm>
            <a:off x="4363464" y="3243263"/>
            <a:ext cx="1854557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Alto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38"/>
          <p:cNvSpPr/>
          <p:nvPr/>
        </p:nvSpPr>
        <p:spPr>
          <a:xfrm>
            <a:off x="6218020" y="3243263"/>
            <a:ext cx="2497355" cy="255389"/>
          </a:xfrm>
          <a:prstGeom prst="rect">
            <a:avLst/>
          </a:prstGeom>
          <a:solidFill>
            <a:srgbClr val="DA363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8"/>
          <p:cNvSpPr/>
          <p:nvPr/>
        </p:nvSpPr>
        <p:spPr>
          <a:xfrm>
            <a:off x="6218020" y="3243263"/>
            <a:ext cx="2497355" cy="255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Muito Alto ✗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8"/>
          <p:cNvSpPr/>
          <p:nvPr/>
        </p:nvSpPr>
        <p:spPr>
          <a:xfrm>
            <a:off x="428625" y="3584377"/>
            <a:ext cx="2705081" cy="28575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8"/>
          <p:cNvSpPr/>
          <p:nvPr/>
        </p:nvSpPr>
        <p:spPr>
          <a:xfrm>
            <a:off x="714375" y="3685282"/>
            <a:ext cx="1430536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Excelente: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Muito adequado para este critério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38"/>
          <p:cNvSpPr/>
          <p:nvPr/>
        </p:nvSpPr>
        <p:spPr>
          <a:xfrm>
            <a:off x="3219431" y="3584377"/>
            <a:ext cx="2705109" cy="28575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8"/>
          <p:cNvSpPr/>
          <p:nvPr/>
        </p:nvSpPr>
        <p:spPr>
          <a:xfrm>
            <a:off x="3505181" y="3685282"/>
            <a:ext cx="1451967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Bom: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Adequado com algumas considerações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8"/>
          <p:cNvSpPr/>
          <p:nvPr/>
        </p:nvSpPr>
        <p:spPr>
          <a:xfrm>
            <a:off x="6010266" y="3584377"/>
            <a:ext cx="2705081" cy="285750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8"/>
          <p:cNvSpPr/>
          <p:nvPr/>
        </p:nvSpPr>
        <p:spPr>
          <a:xfrm>
            <a:off x="6296016" y="3685282"/>
            <a:ext cx="1076920" cy="83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Limitado:</a:t>
            </a: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Não é a melhor escolha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e5c3bc1242_0_337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Conclusão e Próximos Passos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39"/>
          <p:cNvSpPr/>
          <p:nvPr/>
        </p:nvSpPr>
        <p:spPr>
          <a:xfrm>
            <a:off x="428625" y="976908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Resumo das arquiteturas e caminho para dominar Arquitetura de Software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39"/>
          <p:cNvSpPr/>
          <p:nvPr/>
        </p:nvSpPr>
        <p:spPr>
          <a:xfrm>
            <a:off x="428625" y="1223367"/>
            <a:ext cx="2705081" cy="98405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9"/>
          <p:cNvSpPr/>
          <p:nvPr/>
        </p:nvSpPr>
        <p:spPr>
          <a:xfrm>
            <a:off x="514350" y="1309092"/>
            <a:ext cx="25336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🏢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39"/>
          <p:cNvSpPr/>
          <p:nvPr/>
        </p:nvSpPr>
        <p:spPr>
          <a:xfrm>
            <a:off x="514350" y="1601986"/>
            <a:ext cx="2533631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Monolítica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9"/>
          <p:cNvSpPr/>
          <p:nvPr/>
        </p:nvSpPr>
        <p:spPr>
          <a:xfrm>
            <a:off x="514350" y="1760934"/>
            <a:ext cx="25336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Aplicação única e centralizada. Simples de começar, ideal para MVPs e projetos pequenos.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39"/>
          <p:cNvSpPr/>
          <p:nvPr/>
        </p:nvSpPr>
        <p:spPr>
          <a:xfrm>
            <a:off x="514350" y="2046684"/>
            <a:ext cx="253363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Projetos pequenos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9"/>
          <p:cNvSpPr/>
          <p:nvPr/>
        </p:nvSpPr>
        <p:spPr>
          <a:xfrm>
            <a:off x="3219431" y="1223367"/>
            <a:ext cx="2705109" cy="98405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9"/>
          <p:cNvSpPr/>
          <p:nvPr/>
        </p:nvSpPr>
        <p:spPr>
          <a:xfrm>
            <a:off x="3305156" y="1309092"/>
            <a:ext cx="2533659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🔧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9"/>
          <p:cNvSpPr/>
          <p:nvPr/>
        </p:nvSpPr>
        <p:spPr>
          <a:xfrm>
            <a:off x="3305156" y="1601986"/>
            <a:ext cx="2533659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39"/>
          <p:cNvSpPr/>
          <p:nvPr/>
        </p:nvSpPr>
        <p:spPr>
          <a:xfrm>
            <a:off x="3305156" y="1760934"/>
            <a:ext cx="25336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Serviços independentes e escaláveis. Complexidade operacional, ideal para grandes sistemas.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9"/>
          <p:cNvSpPr/>
          <p:nvPr/>
        </p:nvSpPr>
        <p:spPr>
          <a:xfrm>
            <a:off x="3305156" y="2046684"/>
            <a:ext cx="2533659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Sistemas complexos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39"/>
          <p:cNvSpPr/>
          <p:nvPr/>
        </p:nvSpPr>
        <p:spPr>
          <a:xfrm>
            <a:off x="6010266" y="1223367"/>
            <a:ext cx="2705081" cy="984052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9"/>
          <p:cNvSpPr/>
          <p:nvPr/>
        </p:nvSpPr>
        <p:spPr>
          <a:xfrm>
            <a:off x="6095991" y="1309092"/>
            <a:ext cx="253363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📊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9"/>
          <p:cNvSpPr/>
          <p:nvPr/>
        </p:nvSpPr>
        <p:spPr>
          <a:xfrm>
            <a:off x="6095991" y="1601986"/>
            <a:ext cx="2533631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9"/>
          <p:cNvSpPr/>
          <p:nvPr/>
        </p:nvSpPr>
        <p:spPr>
          <a:xfrm>
            <a:off x="6095991" y="1760934"/>
            <a:ext cx="253363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Comunicação assíncrona e desacoplada. Máxima escalabilidade e resiliência.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39"/>
          <p:cNvSpPr/>
          <p:nvPr/>
        </p:nvSpPr>
        <p:spPr>
          <a:xfrm>
            <a:off x="6095991" y="1932384"/>
            <a:ext cx="2533631" cy="7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450"/>
              <a:buFont typeface="Roboto Medium"/>
              <a:buNone/>
            </a:pPr>
            <a:r>
              <a:rPr b="0" i="0" lang="en-US" sz="450" u="none" cap="none" strike="noStrike">
                <a:solidFill>
                  <a:srgbClr val="3FB950"/>
                </a:solidFill>
                <a:latin typeface="Roboto Medium"/>
                <a:ea typeface="Roboto Medium"/>
                <a:cs typeface="Roboto Medium"/>
                <a:sym typeface="Roboto Medium"/>
              </a:rPr>
              <a:t>Sistemas em tempo real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9"/>
          <p:cNvSpPr/>
          <p:nvPr/>
        </p:nvSpPr>
        <p:spPr>
          <a:xfrm>
            <a:off x="428625" y="2307431"/>
            <a:ext cx="8286750" cy="101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 para Estudo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39"/>
          <p:cNvSpPr/>
          <p:nvPr/>
        </p:nvSpPr>
        <p:spPr>
          <a:xfrm>
            <a:off x="428625" y="2480667"/>
            <a:ext cx="2705081" cy="82867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9"/>
          <p:cNvSpPr/>
          <p:nvPr/>
        </p:nvSpPr>
        <p:spPr>
          <a:xfrm>
            <a:off x="514350" y="2566392"/>
            <a:ext cx="25336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📚 Livros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39"/>
          <p:cNvSpPr/>
          <p:nvPr/>
        </p:nvSpPr>
        <p:spPr>
          <a:xfrm>
            <a:off x="514350" y="2773561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Building Microservices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39"/>
          <p:cNvSpPr/>
          <p:nvPr/>
        </p:nvSpPr>
        <p:spPr>
          <a:xfrm>
            <a:off x="514350" y="292358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Domain-Driven Design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39"/>
          <p:cNvSpPr/>
          <p:nvPr/>
        </p:nvSpPr>
        <p:spPr>
          <a:xfrm>
            <a:off x="514350" y="307359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 Architecture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9"/>
          <p:cNvSpPr/>
          <p:nvPr/>
        </p:nvSpPr>
        <p:spPr>
          <a:xfrm>
            <a:off x="3219431" y="2480667"/>
            <a:ext cx="2705109" cy="82867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9"/>
          <p:cNvSpPr/>
          <p:nvPr/>
        </p:nvSpPr>
        <p:spPr>
          <a:xfrm>
            <a:off x="3305156" y="2566392"/>
            <a:ext cx="253365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🌐 Websites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9"/>
          <p:cNvSpPr/>
          <p:nvPr/>
        </p:nvSpPr>
        <p:spPr>
          <a:xfrm>
            <a:off x="3305156" y="2773561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microservices.io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39"/>
          <p:cNvSpPr/>
          <p:nvPr/>
        </p:nvSpPr>
        <p:spPr>
          <a:xfrm>
            <a:off x="3305156" y="2923580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martinfowler.com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39"/>
          <p:cNvSpPr/>
          <p:nvPr/>
        </p:nvSpPr>
        <p:spPr>
          <a:xfrm>
            <a:off x="3305156" y="3073598"/>
            <a:ext cx="253365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12factor.net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39"/>
          <p:cNvSpPr/>
          <p:nvPr/>
        </p:nvSpPr>
        <p:spPr>
          <a:xfrm>
            <a:off x="6010266" y="2480667"/>
            <a:ext cx="2705081" cy="82867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39"/>
          <p:cNvSpPr/>
          <p:nvPr/>
        </p:nvSpPr>
        <p:spPr>
          <a:xfrm>
            <a:off x="6095991" y="2566392"/>
            <a:ext cx="2533631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1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👥 Comunidades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39"/>
          <p:cNvSpPr/>
          <p:nvPr/>
        </p:nvSpPr>
        <p:spPr>
          <a:xfrm>
            <a:off x="6095991" y="2773561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CQRS/Event Sourcing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39"/>
          <p:cNvSpPr/>
          <p:nvPr/>
        </p:nvSpPr>
        <p:spPr>
          <a:xfrm>
            <a:off x="6095991" y="2923580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DDD Community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39"/>
          <p:cNvSpPr/>
          <p:nvPr/>
        </p:nvSpPr>
        <p:spPr>
          <a:xfrm>
            <a:off x="6095991" y="3073598"/>
            <a:ext cx="253363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 Native Computing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39"/>
          <p:cNvSpPr/>
          <p:nvPr/>
        </p:nvSpPr>
        <p:spPr>
          <a:xfrm>
            <a:off x="0" y="3395067"/>
            <a:ext cx="9144000" cy="588969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9"/>
          <p:cNvSpPr/>
          <p:nvPr/>
        </p:nvSpPr>
        <p:spPr>
          <a:xfrm>
            <a:off x="85725" y="3480792"/>
            <a:ext cx="8972550" cy="108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Robot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🚀 Próximos Passos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39"/>
          <p:cNvSpPr/>
          <p:nvPr/>
        </p:nvSpPr>
        <p:spPr>
          <a:xfrm>
            <a:off x="85725" y="3646884"/>
            <a:ext cx="8972550" cy="251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"/>
              <a:buNone/>
            </a:pPr>
            <a:r>
              <a:rPr b="0" i="0" lang="en-US" sz="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Escolha um projeto, identifique seus requisitos de escala e complexidade, e aplique a arquitetura mais adequada. Comece simples com monolítica, evolua para microserviços conforme necessário, e explore eventos para máxima escalabilidade. A prática é a melhor forma de aprender!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3e5c3bc1242_0_342"/>
          <p:cNvSpPr txBox="1"/>
          <p:nvPr>
            <p:ph type="title"/>
          </p:nvPr>
        </p:nvSpPr>
        <p:spPr>
          <a:xfrm>
            <a:off x="311700" y="2092222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Roadmap de Aprendizado em Arquitetura</a:t>
            </a:r>
            <a:endParaRPr b="1"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28" title="foto (4) 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28"/>
          <p:cNvSpPr/>
          <p:nvPr/>
        </p:nvSpPr>
        <p:spPr>
          <a:xfrm>
            <a:off x="428625" y="944761"/>
            <a:ext cx="828675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Caminho estruturado para dominar Arquitetura de Software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28"/>
          <p:cNvSpPr/>
          <p:nvPr/>
        </p:nvSpPr>
        <p:spPr>
          <a:xfrm>
            <a:off x="428625" y="1191220"/>
            <a:ext cx="4100513" cy="16241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8"/>
          <p:cNvSpPr/>
          <p:nvPr/>
        </p:nvSpPr>
        <p:spPr>
          <a:xfrm>
            <a:off x="514350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📚 Fase 1: Fundamentos (1-2 meses)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28"/>
          <p:cNvSpPr/>
          <p:nvPr/>
        </p:nvSpPr>
        <p:spPr>
          <a:xfrm>
            <a:off x="514350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Tópicos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28"/>
          <p:cNvSpPr/>
          <p:nvPr/>
        </p:nvSpPr>
        <p:spPr>
          <a:xfrm>
            <a:off x="514350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Conceitos de arquitetura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28"/>
          <p:cNvSpPr/>
          <p:nvPr/>
        </p:nvSpPr>
        <p:spPr>
          <a:xfrm>
            <a:off x="514350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Padrões básicos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28"/>
          <p:cNvSpPr/>
          <p:nvPr/>
        </p:nvSpPr>
        <p:spPr>
          <a:xfrm>
            <a:off x="514350" y="190023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Trade-offs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28"/>
          <p:cNvSpPr/>
          <p:nvPr/>
        </p:nvSpPr>
        <p:spPr>
          <a:xfrm>
            <a:off x="514350" y="203596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SOLID principles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28"/>
          <p:cNvSpPr/>
          <p:nvPr/>
        </p:nvSpPr>
        <p:spPr>
          <a:xfrm>
            <a:off x="514350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28"/>
          <p:cNvSpPr/>
          <p:nvPr/>
        </p:nvSpPr>
        <p:spPr>
          <a:xfrm>
            <a:off x="514350" y="2336006"/>
            <a:ext cx="3929063" cy="33645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28"/>
          <p:cNvSpPr/>
          <p:nvPr/>
        </p:nvSpPr>
        <p:spPr>
          <a:xfrm>
            <a:off x="514350" y="2336006"/>
            <a:ext cx="3929063" cy="33645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"Building Microservices"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"Software Architecture"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Cursos online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28"/>
          <p:cNvSpPr/>
          <p:nvPr/>
        </p:nvSpPr>
        <p:spPr>
          <a:xfrm>
            <a:off x="4614863" y="1191220"/>
            <a:ext cx="4100513" cy="16241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28"/>
          <p:cNvSpPr/>
          <p:nvPr/>
        </p:nvSpPr>
        <p:spPr>
          <a:xfrm>
            <a:off x="4700588" y="127694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🔧 Fase 2: Padrões (2-4 semanas)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28"/>
          <p:cNvSpPr/>
          <p:nvPr/>
        </p:nvSpPr>
        <p:spPr>
          <a:xfrm>
            <a:off x="4700588" y="149304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Tópicos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28"/>
          <p:cNvSpPr/>
          <p:nvPr/>
        </p:nvSpPr>
        <p:spPr>
          <a:xfrm>
            <a:off x="4700588" y="16287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Design Patterns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28"/>
          <p:cNvSpPr/>
          <p:nvPr/>
        </p:nvSpPr>
        <p:spPr>
          <a:xfrm>
            <a:off x="4700588" y="176450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Microserviços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28"/>
          <p:cNvSpPr/>
          <p:nvPr/>
        </p:nvSpPr>
        <p:spPr>
          <a:xfrm>
            <a:off x="4700588" y="1900238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Event-driven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28"/>
          <p:cNvSpPr/>
          <p:nvPr/>
        </p:nvSpPr>
        <p:spPr>
          <a:xfrm>
            <a:off x="4700588" y="203596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Hexagonal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28"/>
          <p:cNvSpPr/>
          <p:nvPr/>
        </p:nvSpPr>
        <p:spPr>
          <a:xfrm>
            <a:off x="4700588" y="220027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28"/>
          <p:cNvSpPr/>
          <p:nvPr/>
        </p:nvSpPr>
        <p:spPr>
          <a:xfrm>
            <a:off x="4700588" y="2336006"/>
            <a:ext cx="3929063" cy="33645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28"/>
          <p:cNvSpPr/>
          <p:nvPr/>
        </p:nvSpPr>
        <p:spPr>
          <a:xfrm>
            <a:off x="4700588" y="2336006"/>
            <a:ext cx="3929063" cy="33645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"Design Patterns"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"Microservices Patterns"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Projetos práticos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28"/>
          <p:cNvSpPr/>
          <p:nvPr/>
        </p:nvSpPr>
        <p:spPr>
          <a:xfrm>
            <a:off x="428625" y="2901060"/>
            <a:ext cx="4100513" cy="16241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28"/>
          <p:cNvSpPr/>
          <p:nvPr/>
        </p:nvSpPr>
        <p:spPr>
          <a:xfrm>
            <a:off x="514350" y="298678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⚙️ Fase 3: Otimização (1-3 meses)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28"/>
          <p:cNvSpPr/>
          <p:nvPr/>
        </p:nvSpPr>
        <p:spPr>
          <a:xfrm>
            <a:off x="514350" y="320288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Tópicos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28"/>
          <p:cNvSpPr/>
          <p:nvPr/>
        </p:nvSpPr>
        <p:spPr>
          <a:xfrm>
            <a:off x="514350" y="333861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Escalabilidade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28"/>
          <p:cNvSpPr/>
          <p:nvPr/>
        </p:nvSpPr>
        <p:spPr>
          <a:xfrm>
            <a:off x="514350" y="347434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28"/>
          <p:cNvSpPr/>
          <p:nvPr/>
        </p:nvSpPr>
        <p:spPr>
          <a:xfrm>
            <a:off x="514350" y="361007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Observabilidade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28"/>
          <p:cNvSpPr/>
          <p:nvPr/>
        </p:nvSpPr>
        <p:spPr>
          <a:xfrm>
            <a:off x="514350" y="37458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Segurança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28"/>
          <p:cNvSpPr/>
          <p:nvPr/>
        </p:nvSpPr>
        <p:spPr>
          <a:xfrm>
            <a:off x="514350" y="391011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28"/>
          <p:cNvSpPr/>
          <p:nvPr/>
        </p:nvSpPr>
        <p:spPr>
          <a:xfrm>
            <a:off x="514350" y="4045846"/>
            <a:ext cx="3929063" cy="33645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8"/>
          <p:cNvSpPr/>
          <p:nvPr/>
        </p:nvSpPr>
        <p:spPr>
          <a:xfrm>
            <a:off x="514350" y="4045846"/>
            <a:ext cx="3929063" cy="33645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"Designing Data-Intensive"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"Site Reliability"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Experiência prática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28"/>
          <p:cNvSpPr/>
          <p:nvPr/>
        </p:nvSpPr>
        <p:spPr>
          <a:xfrm>
            <a:off x="4614863" y="2901060"/>
            <a:ext cx="4100513" cy="1624115"/>
          </a:xfrm>
          <a:prstGeom prst="rect">
            <a:avLst/>
          </a:prstGeom>
          <a:solidFill>
            <a:srgbClr val="0000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8"/>
          <p:cNvSpPr/>
          <p:nvPr/>
        </p:nvSpPr>
        <p:spPr>
          <a:xfrm>
            <a:off x="4700588" y="2986785"/>
            <a:ext cx="3929063" cy="158948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🚀 Fase 4: Evolução (3+ meses)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28"/>
          <p:cNvSpPr/>
          <p:nvPr/>
        </p:nvSpPr>
        <p:spPr>
          <a:xfrm>
            <a:off x="4700588" y="3202884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Tópicos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28"/>
          <p:cNvSpPr/>
          <p:nvPr/>
        </p:nvSpPr>
        <p:spPr>
          <a:xfrm>
            <a:off x="4700588" y="333861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DDD avançado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28"/>
          <p:cNvSpPr/>
          <p:nvPr/>
        </p:nvSpPr>
        <p:spPr>
          <a:xfrm>
            <a:off x="4700588" y="3474346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Arquitetura corporativa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8"/>
          <p:cNvSpPr/>
          <p:nvPr/>
        </p:nvSpPr>
        <p:spPr>
          <a:xfrm>
            <a:off x="4700588" y="3610077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Liderança técnica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28"/>
          <p:cNvSpPr/>
          <p:nvPr/>
        </p:nvSpPr>
        <p:spPr>
          <a:xfrm>
            <a:off x="4700588" y="3745809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2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Inovação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28"/>
          <p:cNvSpPr/>
          <p:nvPr/>
        </p:nvSpPr>
        <p:spPr>
          <a:xfrm>
            <a:off x="4700588" y="3910115"/>
            <a:ext cx="392906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28"/>
          <p:cNvSpPr/>
          <p:nvPr/>
        </p:nvSpPr>
        <p:spPr>
          <a:xfrm>
            <a:off x="4700588" y="4045846"/>
            <a:ext cx="3929063" cy="336454"/>
          </a:xfrm>
          <a:prstGeom prst="rect">
            <a:avLst/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28"/>
          <p:cNvSpPr/>
          <p:nvPr/>
        </p:nvSpPr>
        <p:spPr>
          <a:xfrm>
            <a:off x="4700588" y="4045846"/>
            <a:ext cx="3929063" cy="336454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51050" spcFirstLastPara="1" rIns="51050" wrap="square" tIns="5105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450"/>
              <a:buFont typeface="IBM Plex Mono"/>
              <a:buNone/>
            </a:pP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Mentorado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Comunidades</a:t>
            </a:r>
            <a:b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r>
              <a:rPr b="0" i="0" lang="en-US" sz="450" u="none" cap="none" strike="noStrike">
                <a:solidFill>
                  <a:srgbClr val="E8F0FE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Conferências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2026-05-31T16:13:52Z</dcterms:created>
  <dc:creator>PptxGenJS</dc:creator>
</cp:coreProperties>
</file>
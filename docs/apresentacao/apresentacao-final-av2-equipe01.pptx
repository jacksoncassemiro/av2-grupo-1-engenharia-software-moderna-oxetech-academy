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63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2697480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188720" cy="6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E7F5F4"/>
                </a:solidFill>
                <a:latin typeface="Calibri"/>
              </a:rPr>
              <a:t>OXETECH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Sistema de Gestão de
Clínica Médica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20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B1D1CF"/>
                </a:solidFill>
                <a:latin typeface="Calibri"/>
              </a:rPr>
              <a:t>MVP com arquitetura MVC, Clean Code, Design Patterns e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7F5F4"/>
                </a:solidFill>
                <a:latin typeface="Calibri"/>
              </a:rPr>
              <a:t>Engenharia de Software Moderna — Avaliação 2 (AV2)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Equipe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E7F5F4"/>
                </a:solidFill>
                <a:latin typeface="Calibri"/>
              </a:rPr>
              <a:t>Uanderson Henrique Batista da Silva  ·  Antonio Andrade Gomes Júnior  ·  João Vitor Mandu de Lira  ·  Ronaldo de Melo Sabino Filho  ·  Jackson Douglas da Silva Cassemiro  ·  Felipe da Silva Araújo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3093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B1D1CF"/>
                </a:solidFill>
                <a:latin typeface="Calibri"/>
              </a:rPr>
              <a:t>Maceió – AL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4938F"/>
                </a:solidFill>
                <a:latin typeface="Calibri"/>
              </a:rPr>
              <a:t>VISÃO DO PRODUTO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12529"/>
                </a:solidFill>
                <a:latin typeface="Calibri"/>
              </a:rPr>
              <a:t>O problema e a proposta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05840" cy="44450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399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94960" cy="4480560"/>
          </a:xfrm>
          <a:prstGeom prst="roundRect">
            <a:avLst/>
          </a:prstGeom>
          <a:solidFill>
            <a:srgbClr val="FA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C92A2A"/>
                </a:solidFill>
                <a:latin typeface="Calibri"/>
              </a:rPr>
              <a:t>Hoje: telefone e planilha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>
                <a:solidFill>
                  <a:srgbClr val="495257"/>
                </a:solidFill>
                <a:latin typeface="Calibri"/>
              </a:rPr>
              <a:t>✕  Agendamento só funciona em horário comercial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>
                <a:solidFill>
                  <a:srgbClr val="495257"/>
                </a:solidFill>
                <a:latin typeface="Calibri"/>
              </a:rPr>
              <a:t>✕  Planilha não impede dois pacientes no mesmo horário — o
conflito só aparece no balcão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>
                <a:solidFill>
                  <a:srgbClr val="495257"/>
                </a:solidFill>
                <a:latin typeface="Calibri"/>
              </a:rPr>
              <a:t>✕  Paciente não consulta o próprio histórico sem ligar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>
                <a:solidFill>
                  <a:srgbClr val="495257"/>
                </a:solidFill>
                <a:latin typeface="Calibri"/>
              </a:rPr>
              <a:t>✕  Cancelamento de última hora deixa o horário vazio, porque
ninguém sabe que ele voltou a ficar livre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>
                <a:solidFill>
                  <a:srgbClr val="495257"/>
                </a:solidFill>
                <a:latin typeface="Calibri"/>
              </a:rPr>
              <a:t>✕  Nenhum registro confiável de quem alterou o quê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394960" cy="4480560"/>
          </a:xfrm>
          <a:prstGeom prst="roundRect">
            <a:avLst/>
          </a:prstGeom>
          <a:solidFill>
            <a:srgbClr val="E7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830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2635F"/>
                </a:solidFill>
                <a:latin typeface="Calibri"/>
              </a:rPr>
              <a:t>MVP: sistema web com regras no banco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>
                <a:solidFill>
                  <a:srgbClr val="495257"/>
                </a:solidFill>
                <a:latin typeface="Calibri"/>
              </a:rPr>
              <a:t>✓  Paciente agenda e cancela sozinho, 24 horas por dia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>
                <a:solidFill>
                  <a:srgbClr val="495257"/>
                </a:solidFill>
                <a:latin typeface="Calibri"/>
              </a:rPr>
              <a:t>✓  Banco recusa a operação na hora — conflito de horário
vira erro, não vira retrabalho no balcão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>
                <a:solidFill>
                  <a:srgbClr val="495257"/>
                </a:solidFill>
                <a:latin typeface="Calibri"/>
              </a:rPr>
              <a:t>✓  CPF e e-mail únicos por restrição de esquema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>
                <a:solidFill>
                  <a:srgbClr val="495257"/>
                </a:solidFill>
                <a:latin typeface="Calibri"/>
              </a:rPr>
              <a:t>✓  Cancelamento com regra de 24h devolve o horário
automaticamente à agenda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>
                <a:solidFill>
                  <a:srgbClr val="495257"/>
                </a:solidFill>
                <a:latin typeface="Calibri"/>
              </a:rPr>
              <a:t>✓  Quatro status auditáveis, com transição controlada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399"/>
                </a:solidFill>
                <a:latin typeface="Calibri"/>
              </a:rPr>
              <a:t>Clínica Médica MVP · Equipe 01 · AV2 Engenharia de Software Moderna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4938F"/>
                </a:solidFill>
                <a:latin typeface="Calibri"/>
              </a:rPr>
              <a:t>ADR-008 — REBASELINE DE ESCOPO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12529"/>
                </a:solidFill>
                <a:latin typeface="Calibri"/>
              </a:rPr>
              <a:t>Escopo do MVP: dentro e fora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05840" cy="44450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399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495257"/>
                </a:solidFill>
                <a:latin typeface="Calibri"/>
              </a:rPr>
              <a:t>14 User Stories certas de serem entregues, em vez de um escopo maior sujeito a corte pela metade.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5394960" cy="3931920"/>
          </a:xfrm>
          <a:prstGeom prst="roundRect">
            <a:avLst/>
          </a:prstGeom>
          <a:solidFill>
            <a:srgbClr val="E7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2635F"/>
                </a:solidFill>
                <a:latin typeface="Calibri"/>
              </a:rPr>
              <a:t>Dentro do MVP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495257"/>
                </a:solidFill>
                <a:latin typeface="Calibri"/>
              </a:rPr>
              <a:t>•  Autenticação única por CPF ou e-mail, com JWT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495257"/>
                </a:solidFill>
                <a:latin typeface="Calibri"/>
              </a:rPr>
              <a:t>•  Primeiro acesso: ativa cadastro do balcão OU auto-cadastro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495257"/>
                </a:solidFill>
                <a:latin typeface="Calibri"/>
              </a:rPr>
              <a:t>•  Cadastro de especialidades, médicos, pacientes e agenda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495257"/>
                </a:solidFill>
                <a:latin typeface="Calibri"/>
              </a:rPr>
              <a:t>•  Solicitação (paciente) e agendamento (atendente) de consulta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495257"/>
                </a:solidFill>
                <a:latin typeface="Calibri"/>
              </a:rPr>
              <a:t>•  Confirmação, finalização e cancelamento com regra de 24h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495257"/>
                </a:solidFill>
                <a:latin typeface="Calibri"/>
              </a:rPr>
              <a:t>•  Liberação automática do horário ao cancelar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>
                <a:solidFill>
                  <a:srgbClr val="495257"/>
                </a:solidFill>
                <a:latin typeface="Calibri"/>
              </a:rPr>
              <a:t>•  Autorização por perfil em toda rota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148840"/>
            <a:ext cx="5394960" cy="3931920"/>
          </a:xfrm>
          <a:prstGeom prst="roundRect">
            <a:avLst/>
          </a:prstGeom>
          <a:solidFill>
            <a:srgbClr val="FA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33172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2A2A"/>
                </a:solidFill>
                <a:latin typeface="Calibri"/>
              </a:rPr>
              <a:t>Fora do MVP (registrado, não esquecido)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889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b="1" sz="1350">
                <a:solidFill>
                  <a:srgbClr val="28726F"/>
                </a:solidFill>
                <a:latin typeface="Calibri"/>
              </a:rPr>
              <a:t>•  Agenda geral consolidada — </a:t>
            </a:r>
            <a:r>
              <a:rPr sz="1350">
                <a:solidFill>
                  <a:srgbClr val="495257"/>
                </a:solidFill>
                <a:latin typeface="Calibri"/>
              </a:rPr>
              <a:t>dado já acessível pelas telas existentes (MF01)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b="1" sz="1350">
                <a:solidFill>
                  <a:srgbClr val="28726F"/>
                </a:solidFill>
                <a:latin typeface="Calibri"/>
              </a:rPr>
              <a:t>•  Cadastro de atendente pela UI — </a:t>
            </a:r>
            <a:r>
              <a:rPr sz="1350">
                <a:solidFill>
                  <a:srgbClr val="495257"/>
                </a:solidFill>
                <a:latin typeface="Calibri"/>
              </a:rPr>
              <a:t>o seed idempotente basta; RN14 continua testada (MF02)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b="1" sz="1350">
                <a:solidFill>
                  <a:srgbClr val="28726F"/>
                </a:solidFill>
                <a:latin typeface="Calibri"/>
              </a:rPr>
              <a:t>•  Perfil Médico e notificação — </a:t>
            </a:r>
            <a:r>
              <a:rPr sz="1350">
                <a:solidFill>
                  <a:srgbClr val="495257"/>
                </a:solidFill>
                <a:latin typeface="Calibri"/>
              </a:rPr>
              <a:t>fora da lista de funcionalidades do enunciado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b="1" sz="1350">
                <a:solidFill>
                  <a:srgbClr val="28726F"/>
                </a:solidFill>
                <a:latin typeface="Calibri"/>
              </a:rPr>
              <a:t>•  Editar/excluir especialidade e médico — </a:t>
            </a:r>
            <a:r>
              <a:rPr sz="1350">
                <a:solidFill>
                  <a:srgbClr val="495257"/>
                </a:solidFill>
                <a:latin typeface="Calibri"/>
              </a:rPr>
              <a:t>enunciado pede só “cadastrar”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399"/>
                </a:solidFill>
                <a:latin typeface="Calibri"/>
              </a:rPr>
              <a:t>Clínica Médica MVP · Equipe 01 · AV2 Engenharia de Software Moderna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4938F"/>
                </a:solidFill>
                <a:latin typeface="Calibri"/>
              </a:rPr>
              <a:t>PRODUCT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12529"/>
                </a:solidFill>
                <a:latin typeface="Calibri"/>
              </a:rPr>
              <a:t>Backlog e priorização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05840" cy="44450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399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95257"/>
                </a:solidFill>
                <a:latin typeface="Calibri"/>
              </a:rPr>
              <a:t>14 User Stories (US-00 a US-13), formato Gherkin, em duas sprints de 5 e 6 dias úteis.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5394960" cy="1828800"/>
          </a:xfrm>
          <a:prstGeom prst="round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Sprint 1 · 31/07 – 05/08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48463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7F5F4"/>
                </a:solidFill>
                <a:latin typeface="Calibri"/>
              </a:rPr>
              <a:t>US-00, US-01, US-02, US-03, US-05
Acesso + cadastros 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057400"/>
            <a:ext cx="5394960" cy="1828800"/>
          </a:xfrm>
          <a:prstGeom prst="roundRect">
            <a:avLst/>
          </a:prstGeom>
          <a:solidFill>
            <a:srgbClr val="449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1945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Sprint 2 · 05/08 – 10/08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606040"/>
            <a:ext cx="48463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7F5F4"/>
                </a:solidFill>
                <a:latin typeface="Calibri"/>
              </a:rPr>
              <a:t>US-04, US-06 a US-13
Agendamento + confirmação + cancelamento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529"/>
                </a:solidFill>
                <a:latin typeface="Calibri"/>
              </a:rPr>
              <a:t>Prioridade — o que seria cortado primeiro se o prazo apertasse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17720"/>
            <a:ext cx="2377440" cy="502920"/>
          </a:xfrm>
          <a:prstGeom prst="roundRect">
            <a:avLst/>
          </a:prstGeom>
          <a:solidFill>
            <a:srgbClr val="126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672584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P0 — não corta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4672584"/>
            <a:ext cx="8503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95257"/>
                </a:solidFill>
                <a:latin typeface="Calibri"/>
              </a:rPr>
              <a:t>US-00, US-01, US-02, US-03, US-05, US-08, US-11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39512"/>
            <a:ext cx="2377440" cy="502920"/>
          </a:xfrm>
          <a:prstGeom prst="roundRect">
            <a:avLst/>
          </a:prstGeom>
          <a:solidFill>
            <a:srgbClr val="449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294376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5294376"/>
            <a:ext cx="8503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95257"/>
                </a:solidFill>
                <a:latin typeface="Calibri"/>
              </a:rPr>
              <a:t>US-07, US-09, US-12, US-13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861304"/>
            <a:ext cx="2377440" cy="502920"/>
          </a:xfrm>
          <a:prstGeom prst="roundRect">
            <a:avLst/>
          </a:prstGeom>
          <a:solidFill>
            <a:srgbClr val="B1D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916168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212529"/>
                </a:solidFill>
                <a:latin typeface="Calibri"/>
              </a:rPr>
              <a:t>P2 — corta primeiro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5916168"/>
            <a:ext cx="8503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95257"/>
                </a:solidFill>
                <a:latin typeface="Calibri"/>
              </a:rPr>
              <a:t>US-04, US-06, US-10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399"/>
                </a:solidFill>
                <a:latin typeface="Calibri"/>
              </a:rPr>
              <a:t>Clínica Médica MVP · Equipe 01 · AV2 Engenharia de Software Moderna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4938F"/>
                </a:solidFill>
                <a:latin typeface="Calibri"/>
              </a:rPr>
              <a:t>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12529"/>
                </a:solidFill>
                <a:latin typeface="Calibri"/>
              </a:rPr>
              <a:t>Duas aplicações — o MVC vive no backend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05840" cy="44450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399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1">
                <a:solidFill>
                  <a:srgbClr val="495257"/>
                </a:solidFill>
                <a:latin typeface="Calibri"/>
              </a:rPr>
              <a:t>backend/ e frontend/ são processos separados. O MVC avaliado se fecha inteiro em backend/app/.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1965960" cy="2286000"/>
          </a:xfrm>
          <a:prstGeom prst="roundRect">
            <a:avLst/>
          </a:prstGeom>
          <a:solidFill>
            <a:srgbClr val="8A9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1343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529"/>
                </a:solidFill>
                <a:latin typeface="Calibri"/>
              </a:rPr>
              <a:t>HTTP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1783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212529"/>
                </a:solidFill>
                <a:latin typeface="Calibri"/>
              </a:rPr>
              <a:t>Requisição do cliente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96312" y="3063240"/>
            <a:ext cx="265176" cy="457200"/>
          </a:xfrm>
          <a:prstGeom prst="rightArrow">
            <a:avLst/>
          </a:prstGeom>
          <a:solidFill>
            <a:srgbClr val="449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0" y="2148840"/>
            <a:ext cx="1965960" cy="2286000"/>
          </a:xfrm>
          <a:prstGeom prst="roundRect">
            <a:avLst/>
          </a:prstGeom>
          <a:solidFill>
            <a:srgbClr val="126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231343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CONTROLLER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834640"/>
            <a:ext cx="1783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routers/ — recebe, autoriza,
chama 1 service, commita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690872" y="3063240"/>
            <a:ext cx="265176" cy="457200"/>
          </a:xfrm>
          <a:prstGeom prst="rightArrow">
            <a:avLst/>
          </a:prstGeom>
          <a:solidFill>
            <a:srgbClr val="449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60" y="2148840"/>
            <a:ext cx="1965960" cy="2286000"/>
          </a:xfrm>
          <a:prstGeom prst="round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231343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834640"/>
            <a:ext cx="1783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services/ — regra de negócio,
Strategy, orquestra repositories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885432" y="3063240"/>
            <a:ext cx="265176" cy="457200"/>
          </a:xfrm>
          <a:prstGeom prst="rightArrow">
            <a:avLst/>
          </a:prstGeom>
          <a:solidFill>
            <a:srgbClr val="449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32320" y="2148840"/>
            <a:ext cx="1965960" cy="2286000"/>
          </a:xfrm>
          <a:prstGeom prst="roundRect">
            <a:avLst/>
          </a:prstGeom>
          <a:solidFill>
            <a:srgbClr val="449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231343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834640"/>
            <a:ext cx="1783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repositories/ — SQLAlchemy
isolado, só flush()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079992" y="3063240"/>
            <a:ext cx="265176" cy="457200"/>
          </a:xfrm>
          <a:prstGeom prst="rightArrow">
            <a:avLst/>
          </a:prstGeom>
          <a:solidFill>
            <a:srgbClr val="449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26880" y="2148840"/>
            <a:ext cx="1965960" cy="2286000"/>
          </a:xfrm>
          <a:prstGeom prst="roundRect">
            <a:avLst/>
          </a:prstGeom>
          <a:solidFill>
            <a:srgbClr val="B1D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231343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529"/>
                </a:solidFill>
                <a:latin typeface="Calibri"/>
              </a:rPr>
              <a:t>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834640"/>
            <a:ext cx="1783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212529"/>
                </a:solidFill>
                <a:latin typeface="Calibri"/>
              </a:rPr>
              <a:t>models/ — colunas, relações e
constraints das RNs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2834640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2635F"/>
                </a:solidFill>
                <a:latin typeface="Calibri"/>
              </a:rPr>
              <a:t>PG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7091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b="1" sz="1350">
                <a:solidFill>
                  <a:srgbClr val="28726F"/>
                </a:solidFill>
                <a:latin typeface="Calibri"/>
              </a:rPr>
              <a:t>•  Regra de dependência única: </a:t>
            </a:r>
            <a:r>
              <a:rPr sz="1350">
                <a:solidFill>
                  <a:srgbClr val="495257"/>
                </a:solidFill>
                <a:latin typeface="Calibri"/>
              </a:rPr>
              <a:t>sempre para dentro. Service nunca importa FastAPI/HTTPException; nenhum select() em services/ — verificável por busca textual no CI.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b="1" sz="1350">
                <a:solidFill>
                  <a:srgbClr val="28726F"/>
                </a:solidFill>
                <a:latin typeface="Calibri"/>
              </a:rPr>
              <a:t>•  View do MVC = schemas Pydantic, </a:t>
            </a:r>
            <a:r>
              <a:rPr sz="1350">
                <a:solidFill>
                  <a:srgbClr val="495257"/>
                </a:solidFill>
                <a:latin typeface="Calibri"/>
              </a:rPr>
              <a:t>não o app React — mesma leitura do Serializer no Django REST Framework.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b="1" sz="1350">
                <a:solidFill>
                  <a:srgbClr val="28726F"/>
                </a:solidFill>
                <a:latin typeface="Calibri"/>
              </a:rPr>
              <a:t>•  Uma requisição, uma transação: </a:t>
            </a:r>
            <a:r>
              <a:rPr sz="1350">
                <a:solidFill>
                  <a:srgbClr val="495257"/>
                </a:solidFill>
                <a:latin typeface="Calibri"/>
              </a:rPr>
              <a:t>Repository só faz flush(); quem comita é o Controller.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399"/>
                </a:solidFill>
                <a:latin typeface="Calibri"/>
              </a:rPr>
              <a:t>Clínica Médica MVP · Equipe 01 · AV2 Engenharia de Software Moderna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4938F"/>
                </a:solidFill>
                <a:latin typeface="Calibri"/>
              </a:rPr>
              <a:t>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12529"/>
                </a:solidFill>
                <a:latin typeface="Calibri"/>
              </a:rPr>
              <a:t>Frontend: componentes e rotas — e o contrato entre as duas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05840" cy="44450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399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2926080"/>
          </a:xfrm>
          <a:prstGeom prst="roundRect">
            <a:avLst/>
          </a:prstGeom>
          <a:solidFill>
            <a:srgbClr val="E7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2635F"/>
                </a:solidFill>
                <a:latin typeface="Calibri"/>
              </a:rPr>
              <a:t>Frontend não é MVC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>
                <a:solidFill>
                  <a:srgbClr val="495257"/>
                </a:solidFill>
                <a:latin typeface="Calibri"/>
              </a:rPr>
              <a:t>•  Rota (page.tsx): navegação + guarda de perfil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>
                <a:solidFill>
                  <a:srgbClr val="495257"/>
                </a:solidFill>
                <a:latin typeface="Calibri"/>
              </a:rPr>
              <a:t>•  Componente de tela busca dados; componente de
apresentação só recebe props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>
                <a:solidFill>
                  <a:srgbClr val="495257"/>
                </a:solidFill>
                <a:latin typeface="Calibri"/>
              </a:rPr>
              <a:t>•  src/lib/api.ts: único ponto que conhece a URL da API,
injeta token, traduz erro em ApiError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>
                <a:solidFill>
                  <a:srgbClr val="495257"/>
                </a:solidFill>
                <a:latin typeface="Calibri"/>
              </a:rPr>
              <a:t>•  Regra de negócio nunca duplicada no cliente
(ex.: RN04 vem pronta como pode_cancelar)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394960" cy="2926080"/>
          </a:xfrm>
          <a:prstGeom prst="roundRect">
            <a:avLst/>
          </a:prstGeom>
          <a:solidFill>
            <a:srgbClr val="FA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529"/>
                </a:solidFill>
                <a:latin typeface="Calibri"/>
              </a:rPr>
              <a:t>Contrato HTTP/JSON (o acoplamento real)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19456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>
                <a:solidFill>
                  <a:srgbClr val="495257"/>
                </a:solidFill>
                <a:latin typeface="Calibri"/>
              </a:rPr>
              <a:t>•  Formato do JSON — schema Pydantic ↔ types/dominio.ts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>
                <a:solidFill>
                  <a:srgbClr val="495257"/>
                </a:solidFill>
                <a:latin typeface="Calibri"/>
              </a:rPr>
              <a:t>•  Caminho e método da rota — router ↔ lib/api.ts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>
                <a:solidFill>
                  <a:srgbClr val="495257"/>
                </a:solidFill>
                <a:latin typeface="Calibri"/>
              </a:rPr>
              <a:t>•  Código HTTP de erro — exceção de domínio ↔ ApiError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>
                <a:solidFill>
                  <a:srgbClr val="495257"/>
                </a:solidFill>
                <a:latin typeface="Calibri"/>
              </a:rPr>
              <a:t>•  Mudar qualquer um dos três = 1 PR só, tocando as duas pastas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529"/>
                </a:solidFill>
                <a:latin typeface="Calibri"/>
              </a:rPr>
              <a:t>Como um erro de negócio atravessa as duas aplicações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66360"/>
            <a:ext cx="2606040" cy="868680"/>
          </a:xfrm>
          <a:prstGeom prst="roundRect">
            <a:avLst/>
          </a:prstGeom>
          <a:solidFill>
            <a:srgbClr val="126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230368"/>
            <a:ext cx="2423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raise CpfDuplicado
(Service)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172968" y="5468112"/>
            <a:ext cx="100584" cy="274320"/>
          </a:xfrm>
          <a:prstGeom prst="rightArrow">
            <a:avLst/>
          </a:prstGeom>
          <a:solidFill>
            <a:srgbClr val="8A9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91840" y="5166360"/>
            <a:ext cx="2606040" cy="868680"/>
          </a:xfrm>
          <a:prstGeom prst="roundRect">
            <a:avLst/>
          </a:prstGeom>
          <a:solidFill>
            <a:srgbClr val="126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5230368"/>
            <a:ext cx="2423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handler único
→ HTTP 409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16168" y="5468112"/>
            <a:ext cx="100584" cy="274320"/>
          </a:xfrm>
          <a:prstGeom prst="rightArrow">
            <a:avLst/>
          </a:prstGeom>
          <a:solidFill>
            <a:srgbClr val="8A9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35040" y="5166360"/>
            <a:ext cx="2606040" cy="868680"/>
          </a:xfrm>
          <a:prstGeom prst="roundRect">
            <a:avLst/>
          </a:prstGeom>
          <a:solidFill>
            <a:srgbClr val="449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5230368"/>
            <a:ext cx="2423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ApiError("CPF ja
cadastrado", 409)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659368" y="5468112"/>
            <a:ext cx="100584" cy="274320"/>
          </a:xfrm>
          <a:prstGeom prst="rightArrow">
            <a:avLst/>
          </a:prstGeom>
          <a:solidFill>
            <a:srgbClr val="8A9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78240" y="5166360"/>
            <a:ext cx="2606040" cy="868680"/>
          </a:xfrm>
          <a:prstGeom prst="roundRect">
            <a:avLst/>
          </a:prstGeom>
          <a:solidFill>
            <a:srgbClr val="449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5230368"/>
            <a:ext cx="2423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notification
na tela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399"/>
                </a:solidFill>
                <a:latin typeface="Calibri"/>
              </a:rPr>
              <a:t>Clínica Médica MVP · Equipe 01 · AV2 Engenharia de Software Moderna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4938F"/>
                </a:solidFill>
                <a:latin typeface="Calibri"/>
              </a:rPr>
              <a:t>POSTGRESQL 16 · ALEMBIC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12529"/>
                </a:solidFill>
                <a:latin typeface="Calibri"/>
              </a:rPr>
              <a:t>Modelo de dados — regra de negócio garantida no banco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05840" cy="44450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399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011680" cy="777240"/>
          </a:xfrm>
          <a:prstGeom prst="roundRect">
            <a:avLst/>
          </a:prstGeom>
          <a:solidFill>
            <a:srgbClr val="126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2011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USUARIO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554480"/>
            <a:ext cx="2011680" cy="777240"/>
          </a:xfrm>
          <a:prstGeom prst="round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572768"/>
            <a:ext cx="2011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PACIENTE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1554480"/>
            <a:ext cx="2011680" cy="777240"/>
          </a:xfrm>
          <a:prstGeom prst="roundRect">
            <a:avLst/>
          </a:prstGeom>
          <a:solidFill>
            <a:srgbClr val="449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572768"/>
            <a:ext cx="2011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ESPECIALIDADE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3017520"/>
            <a:ext cx="2011680" cy="777240"/>
          </a:xfrm>
          <a:prstGeom prst="round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3035808"/>
            <a:ext cx="2011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MEDICO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4480560"/>
            <a:ext cx="2377440" cy="777240"/>
          </a:xfrm>
          <a:prstGeom prst="roundRect">
            <a:avLst/>
          </a:prstGeom>
          <a:solidFill>
            <a:srgbClr val="449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449884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HORARIO_DISPONIVEL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4480560"/>
            <a:ext cx="2011680" cy="777240"/>
          </a:xfrm>
          <a:prstGeom prst="roundRect">
            <a:avLst/>
          </a:prstGeom>
          <a:solidFill>
            <a:srgbClr val="126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4498848"/>
            <a:ext cx="2011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CONSULTA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1554480" y="1554480"/>
            <a:ext cx="2286000" cy="777240"/>
          </a:xfrm>
          <a:prstGeom prst="bentConnector3">
            <a:avLst/>
          </a:prstGeom>
          <a:ln w="15875">
            <a:solidFill>
              <a:srgbClr val="8A9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20" y="2331720"/>
            <a:ext cx="0" cy="685800"/>
          </a:xfrm>
          <a:prstGeom prst="bentConnector3">
            <a:avLst/>
          </a:prstGeom>
          <a:ln w="15875">
            <a:solidFill>
              <a:srgbClr val="8A9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040880" y="3794760"/>
            <a:ext cx="2834640" cy="685800"/>
          </a:xfrm>
          <a:prstGeom prst="bentConnector3">
            <a:avLst/>
          </a:prstGeom>
          <a:ln w="15875">
            <a:solidFill>
              <a:srgbClr val="8A9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840480" y="2331720"/>
            <a:ext cx="0" cy="2148840"/>
          </a:xfrm>
          <a:prstGeom prst="bentConnector3">
            <a:avLst/>
          </a:prstGeom>
          <a:ln w="15875">
            <a:solidFill>
              <a:srgbClr val="8A9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3840480" y="4480560"/>
            <a:ext cx="3200400" cy="777240"/>
          </a:xfrm>
          <a:prstGeom prst="bentConnector3">
            <a:avLst/>
          </a:prstGeom>
          <a:ln w="15875">
            <a:solidFill>
              <a:srgbClr val="8A9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2920" y="251460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399"/>
                </a:solidFill>
                <a:latin typeface="Calibri"/>
              </a:rPr>
              <a:t>1:0..1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4688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399"/>
                </a:solidFill>
                <a:latin typeface="Calibri"/>
              </a:rPr>
              <a:t>1:N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434840"/>
            <a:ext cx="5029200" cy="2148840"/>
          </a:xfrm>
          <a:prstGeom prst="roundRect">
            <a:avLst/>
          </a:prstGeom>
          <a:solidFill>
            <a:srgbClr val="E7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5720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2635F"/>
                </a:solidFill>
                <a:latin typeface="Calibri"/>
              </a:rPr>
              <a:t>Constraints que materializam as RNs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93776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b="1" sz="1100">
                <a:solidFill>
                  <a:srgbClr val="28726F"/>
                </a:solidFill>
                <a:latin typeface="Calibri"/>
              </a:rPr>
              <a:t>•  RN01  </a:t>
            </a:r>
            <a:r>
              <a:rPr sz="1100">
                <a:solidFill>
                  <a:srgbClr val="495257"/>
                </a:solidFill>
                <a:latin typeface="Calibri"/>
              </a:rPr>
              <a:t>UNIQUE (cpf)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b="1" sz="1100">
                <a:solidFill>
                  <a:srgbClr val="28726F"/>
                </a:solidFill>
                <a:latin typeface="Calibri"/>
              </a:rPr>
              <a:t>•  RN02  </a:t>
            </a:r>
            <a:r>
              <a:rPr sz="1100">
                <a:solidFill>
                  <a:srgbClr val="495257"/>
                </a:solidFill>
                <a:latin typeface="Calibri"/>
              </a:rPr>
              <a:t>UNIQUE (email) × 2 + UNIQUE (login) — NULL não colide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b="1" sz="1100">
                <a:solidFill>
                  <a:srgbClr val="28726F"/>
                </a:solidFill>
                <a:latin typeface="Calibri"/>
              </a:rPr>
              <a:t>•  RN03  </a:t>
            </a:r>
            <a:r>
              <a:rPr sz="1100">
                <a:solidFill>
                  <a:srgbClr val="495257"/>
                </a:solidFill>
                <a:latin typeface="Calibri"/>
              </a:rPr>
              <a:t>índice único PARCIAL em consulta.horario_disponivel_id (só ativas)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b="1" sz="1100">
                <a:solidFill>
                  <a:srgbClr val="28726F"/>
                </a:solidFill>
                <a:latin typeface="Calibri"/>
              </a:rPr>
              <a:t>•  RN05  </a:t>
            </a:r>
            <a:r>
              <a:rPr sz="1100">
                <a:solidFill>
                  <a:srgbClr val="495257"/>
                </a:solidFill>
                <a:latin typeface="Calibri"/>
              </a:rPr>
              <a:t>UNIQUE (medico_id, data, horario)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b="1" sz="1100">
                <a:solidFill>
                  <a:srgbClr val="28726F"/>
                </a:solidFill>
                <a:latin typeface="Calibri"/>
              </a:rPr>
              <a:t>•  RN06  </a:t>
            </a:r>
            <a:r>
              <a:rPr sz="1100">
                <a:solidFill>
                  <a:srgbClr val="495257"/>
                </a:solidFill>
                <a:latin typeface="Calibri"/>
              </a:rPr>
              <a:t>ENUM status_consulta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399"/>
                </a:solidFill>
                <a:latin typeface="Calibri"/>
              </a:rPr>
              <a:t>Clínica Médica MVP · Equipe 01 · AV2 Engenharia de Software Moderna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4938F"/>
                </a:solidFill>
                <a:latin typeface="Calibri"/>
              </a:rPr>
              <a:t>SOLID COMPLEMENTAR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12529"/>
                </a:solidFill>
                <a:latin typeface="Calibri"/>
              </a:rPr>
              <a:t>3 práticas de Clean Code — nas duas stacks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05840" cy="44450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399"/>
                </a:solidFill>
                <a:latin typeface="Calibr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611880" cy="1965960"/>
          </a:xfrm>
          <a:prstGeom prst="roundRect">
            <a:avLst/>
          </a:prstGeom>
          <a:solidFill>
            <a:srgbClr val="E7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2635F"/>
                </a:solidFill>
                <a:latin typeface="Calibri"/>
              </a:rPr>
              <a:t>1. Nomes significativos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3154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95257"/>
                </a:solidFill>
                <a:latin typeface="Calibri"/>
              </a:rPr>
              <a:t>StatusConsulta.CANCELADA em vez de status == 3;
settings.CANCELAMENTO_ANTECEDENCIA_HORAS
em vez de 24 hardcoded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611880" cy="1965960"/>
          </a:xfrm>
          <a:prstGeom prst="roundRect">
            <a:avLst/>
          </a:prstGeom>
          <a:solidFill>
            <a:srgbClr val="E7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2635F"/>
                </a:solidFill>
                <a:latin typeface="Calibri"/>
              </a:rPr>
              <a:t>2. Funções pequenas, 1 responsabilidade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23160"/>
            <a:ext cx="3154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95257"/>
                </a:solidFill>
                <a:latin typeface="Calibri"/>
              </a:rPr>
              <a:t>cancelar() orquestra em 5 linhas:
busca → valida transição → Strategy →
muda estado → libera slot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00200"/>
            <a:ext cx="3611880" cy="1965960"/>
          </a:xfrm>
          <a:prstGeom prst="roundRect">
            <a:avLst/>
          </a:prstGeom>
          <a:solidFill>
            <a:srgbClr val="E7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78308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2635F"/>
                </a:solidFill>
                <a:latin typeface="Calibri"/>
              </a:rPr>
              <a:t>3. Exceções tipadas, não código de erro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423160"/>
            <a:ext cx="3154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95257"/>
                </a:solidFill>
                <a:latin typeface="Calibri"/>
              </a:rPr>
              <a:t>raise CpfDuplicado, nunca
return {"error": "..."}; 1 handler
central traduz para HTTP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94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529"/>
                </a:solidFill>
                <a:latin typeface="Calibri"/>
              </a:rPr>
              <a:t>Exemplo — a mesma prática (exceção tipada) nas duas stacks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51960"/>
            <a:ext cx="5394960" cy="2011680"/>
          </a:xfrm>
          <a:prstGeom prst="roundRect">
            <a:avLst/>
          </a:prstGeom>
          <a:solidFill>
            <a:srgbClr val="212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8912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B1D1CF"/>
                </a:solidFill>
                <a:latin typeface="Calibri"/>
              </a:rPr>
              <a:t>backend/app/services/paciente_service.py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09160"/>
            <a:ext cx="4937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9ECEF"/>
                </a:solidFill>
                <a:latin typeface="Consolas"/>
              </a:rPr>
              <a:t>def _garantir_cpf_inedito(self, cpf):
    if self.repositorio.buscar_por_cpf(cpf):
        raise CpfDuplicado  # RN01
# handler unico traduz p/ HTTP 409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251960"/>
            <a:ext cx="5394960" cy="2011680"/>
          </a:xfrm>
          <a:prstGeom prst="roundRect">
            <a:avLst/>
          </a:prstGeom>
          <a:solidFill>
            <a:srgbClr val="212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38912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B1D1CF"/>
                </a:solidFill>
                <a:latin typeface="Calibri"/>
              </a:rPr>
              <a:t>frontend/src/app/(atendente)/pacientes/page.tsx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709160"/>
            <a:ext cx="4937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9ECEF"/>
                </a:solidFill>
                <a:latin typeface="Consolas"/>
              </a:rPr>
              <a:t>catch (erro) {
  if (erro instanceof ApiError)
    notifications.show({message: erro.message})
}
// mensagem vem pronta do 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399"/>
                </a:solidFill>
                <a:latin typeface="Calibri"/>
              </a:rPr>
              <a:t>Clínica Médica MVP · Equipe 01 · AV2 Engenharia de Software Moderna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4938F"/>
                </a:solidFill>
                <a:latin typeface="Calibri"/>
              </a:rPr>
              <a:t>GOF · ADR-006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12529"/>
                </a:solidFill>
                <a:latin typeface="Calibri"/>
              </a:rPr>
              <a:t>2 Design Patterns do backend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05840" cy="44450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399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394960" cy="4663440"/>
          </a:xfrm>
          <a:prstGeom prst="roundRect">
            <a:avLst/>
          </a:prstGeom>
          <a:solidFill>
            <a:srgbClr val="E7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2635F"/>
                </a:solidFill>
                <a:latin typeface="Calibri"/>
              </a:rPr>
              <a:t>Strategy — regra de cancelamento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95257"/>
                </a:solidFill>
                <a:latin typeface="Calibri"/>
              </a:rPr>
              <a:t>Problema: paciente cancela só com ≥24h (RN04); atendente
cancela sempre. if perfil == ... violaria OCP.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2880360"/>
            <a:ext cx="3749039" cy="502920"/>
          </a:xfrm>
          <a:prstGeom prst="roundRect">
            <a:avLst/>
          </a:prstGeom>
          <a:solidFill>
            <a:srgbClr val="212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916936"/>
            <a:ext cx="37490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«abstract» CancelamentoStrategy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920240" y="3456432"/>
            <a:ext cx="228600" cy="365760"/>
          </a:xfrm>
          <a:prstGeom prst="downArrow">
            <a:avLst/>
          </a:prstGeom>
          <a:solidFill>
            <a:srgbClr val="449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3703320" y="3456432"/>
            <a:ext cx="228600" cy="365760"/>
          </a:xfrm>
          <a:prstGeom prst="downArrow">
            <a:avLst/>
          </a:prstGeom>
          <a:solidFill>
            <a:srgbClr val="449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88720" y="3913632"/>
            <a:ext cx="1783080" cy="685800"/>
          </a:xfrm>
          <a:prstGeom prst="round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950208"/>
            <a:ext cx="16916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CancelamentoPor
Paciente (RN04)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54680" y="3913632"/>
            <a:ext cx="1783080" cy="685800"/>
          </a:xfrm>
          <a:prstGeom prst="roundRect">
            <a:avLst/>
          </a:prstGeom>
          <a:solidFill>
            <a:srgbClr val="449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3950208"/>
            <a:ext cx="16916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CancelamentoPor
Atendente (US-12)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4632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>
                <a:solidFill>
                  <a:srgbClr val="495257"/>
                </a:solidFill>
                <a:latin typeface="Calibri"/>
              </a:rPr>
              <a:t>•  Perfil novo = classe nova; service intacto (OCP)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>
                <a:solidFill>
                  <a:srgbClr val="495257"/>
                </a:solidFill>
                <a:latin typeface="Calibri"/>
              </a:rPr>
              <a:t>•  agora é parâmetro → teste determinístico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>
                <a:solidFill>
                  <a:srgbClr val="495257"/>
                </a:solidFill>
                <a:latin typeface="Calibri"/>
              </a:rPr>
              <a:t>•  24h vem de settings, nunca hardcoded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508760"/>
            <a:ext cx="5394960" cy="4663440"/>
          </a:xfrm>
          <a:prstGeom prst="roundRect">
            <a:avLst/>
          </a:prstGeom>
          <a:solidFill>
            <a:srgbClr val="FA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69164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529"/>
                </a:solidFill>
                <a:latin typeface="Calibri"/>
              </a:rPr>
              <a:t>Repository — isola o acesso a dados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10312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95257"/>
                </a:solidFill>
                <a:latin typeface="Calibri"/>
              </a:rPr>
              <a:t>Problema: SQLAlchemy direto no service acopla regra a
banco e exige PostgreSQL rodando para testar RN01.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2880360"/>
            <a:ext cx="3749039" cy="502920"/>
          </a:xfrm>
          <a:prstGeom prst="roundRect">
            <a:avLst/>
          </a:prstGeom>
          <a:solidFill>
            <a:srgbClr val="212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2916936"/>
            <a:ext cx="37490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«abstract» RepositorioBase&lt;T&gt;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7635240" y="3456432"/>
            <a:ext cx="228600" cy="365760"/>
          </a:xfrm>
          <a:prstGeom prst="downArrow">
            <a:avLst/>
          </a:prstGeom>
          <a:solidFill>
            <a:srgbClr val="495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9418320" y="3456432"/>
            <a:ext cx="228600" cy="365760"/>
          </a:xfrm>
          <a:prstGeom prst="downArrow">
            <a:avLst/>
          </a:prstGeom>
          <a:solidFill>
            <a:srgbClr val="4952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03720" y="3913632"/>
            <a:ext cx="1783080" cy="685800"/>
          </a:xfrm>
          <a:prstGeom prst="round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3950208"/>
            <a:ext cx="16916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PacienteRepository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3913632"/>
            <a:ext cx="1783080" cy="685800"/>
          </a:xfrm>
          <a:prstGeom prst="roundRect">
            <a:avLst/>
          </a:prstGeom>
          <a:solidFill>
            <a:srgbClr val="8A9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5400" y="3950208"/>
            <a:ext cx="16916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212529"/>
                </a:solidFill>
                <a:latin typeface="Calibri"/>
              </a:rPr>
              <a:t>FakePaciente
Repository (teste)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84632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b="1" sz="1200">
                <a:solidFill>
                  <a:srgbClr val="28726F"/>
                </a:solidFill>
                <a:latin typeface="Calibri"/>
              </a:rPr>
              <a:t>•  44 </a:t>
            </a:r>
            <a:r>
              <a:rPr sz="1200">
                <a:solidFill>
                  <a:srgbClr val="495257"/>
                </a:solidFill>
                <a:latin typeface="Calibri"/>
              </a:rPr>
              <a:t>testes de backend rodam sem banco, com fakes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b="1" sz="1200">
                <a:solidFill>
                  <a:srgbClr val="28726F"/>
                </a:solidFill>
                <a:latin typeface="Calibri"/>
              </a:rPr>
              <a:t>•  SELECT ... FOR UPDATE </a:t>
            </a:r>
            <a:r>
              <a:rPr sz="1200">
                <a:solidFill>
                  <a:srgbClr val="495257"/>
                </a:solidFill>
                <a:latin typeface="Calibri"/>
              </a:rPr>
              <a:t>encapsulado em 1 linha (concorrência, US-08)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399"/>
                </a:solidFill>
                <a:latin typeface="Calibri"/>
              </a:rPr>
              <a:t>Clínica Médica MVP · Equipe 01 · AV2 Engenharia de Software Moderna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4938F"/>
                </a:solidFill>
                <a:latin typeface="Calibri"/>
              </a:rPr>
              <a:t>DIFERENCIAL DO TRABALHO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12529"/>
                </a:solidFill>
                <a:latin typeface="Calibri"/>
              </a:rPr>
              <a:t>Conflitos do enunciado e decisões (ADRs)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05840" cy="44450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399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82296" cy="1051560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212529"/>
                </a:solidFill>
                <a:latin typeface="Calibri"/>
              </a:rPr>
              <a:t>Quem cadastra o paciente?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95257"/>
                </a:solidFill>
                <a:latin typeface="Calibri"/>
              </a:rPr>
              <a:t>Um único endpoint converge os dois caminhos: ativa
credencial existente OU cria cadastro + login juntos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82296" cy="1051560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212529"/>
                </a:solidFill>
                <a:latin typeface="Calibri"/>
              </a:rPr>
              <a:t>De onde vem o 1º atendente?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95257"/>
                </a:solidFill>
                <a:latin typeface="Calibri"/>
              </a:rPr>
              <a:t>Seed idempotente via .env; nenhuma rota pública cria
atendente (RN14) — CI roda o seed 2× para provar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40"/>
            <a:ext cx="82296" cy="1051560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776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212529"/>
                </a:solidFill>
                <a:latin typeface="Calibri"/>
              </a:rPr>
              <a:t>UNIQUE no slot travava reagendar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484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95257"/>
                </a:solidFill>
                <a:latin typeface="Calibri"/>
              </a:rPr>
              <a:t>Índice único PARCIAL — só considera consultas ativas;
CANCELADA sai do índice e libera o horário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66360"/>
            <a:ext cx="82296" cy="1051560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1663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212529"/>
                </a:solidFill>
                <a:latin typeface="Calibri"/>
              </a:rPr>
              <a:t>Nada leva a CONFIRMADA/FINALIZADA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2356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95257"/>
                </a:solidFill>
                <a:latin typeface="Calibri"/>
              </a:rPr>
              <a:t>US-13 criada: sem ela a RN06 teria status morto,
nunca demonstrável por teste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600200"/>
            <a:ext cx="5394960" cy="4617720"/>
          </a:xfrm>
          <a:prstGeom prst="roundRect">
            <a:avLst/>
          </a:prstGeom>
          <a:solidFill>
            <a:srgbClr val="E7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7830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2635F"/>
                </a:solidFill>
                <a:latin typeface="Calibri"/>
              </a:rPr>
              <a:t>8 ADRs registrados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24028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>
                <a:solidFill>
                  <a:srgbClr val="495257"/>
                </a:solidFill>
                <a:latin typeface="Calibri"/>
              </a:rPr>
              <a:t>•  ADR-001 — Monorepo com backend/ e frontend/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>
                <a:solidFill>
                  <a:srgbClr val="495257"/>
                </a:solidFill>
                <a:latin typeface="Calibri"/>
              </a:rPr>
              <a:t>•  ADR-002 — Camadas Controller → Service → Repository → Model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>
                <a:solidFill>
                  <a:srgbClr val="495257"/>
                </a:solidFill>
                <a:latin typeface="Calibri"/>
              </a:rPr>
              <a:t>•  ADR-003 — Login flexível CPF ou e-mail com JWT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>
                <a:solidFill>
                  <a:srgbClr val="495257"/>
                </a:solidFill>
                <a:latin typeface="Calibri"/>
              </a:rPr>
              <a:t>•  ADR-004 — Seed idempotente + RN14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>
                <a:solidFill>
                  <a:srgbClr val="495257"/>
                </a:solidFill>
                <a:latin typeface="Calibri"/>
              </a:rPr>
              <a:t>•  ADR-005 — Auto-cadastro e cadastro por atendente convergindo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>
                <a:solidFill>
                  <a:srgbClr val="495257"/>
                </a:solidFill>
                <a:latin typeface="Calibri"/>
              </a:rPr>
              <a:t>•  ADR-006 — Strategy + Repository; índice parcial (RN03)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>
                <a:solidFill>
                  <a:srgbClr val="495257"/>
                </a:solidFill>
                <a:latin typeface="Calibri"/>
              </a:rPr>
              <a:t>•  ADR-007 — Vitest no Next.js (setup oficial), não Jest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>
                <a:solidFill>
                  <a:srgbClr val="495257"/>
                </a:solidFill>
                <a:latin typeface="Calibri"/>
              </a:rPr>
              <a:t>•  ADR-008 — Rebaseline de escopo (14 US) + separação back/front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399"/>
                </a:solidFill>
                <a:latin typeface="Calibri"/>
              </a:rPr>
              <a:t>Clínica Médica MVP · Equipe 01 · AV2 Engenharia de Software Moderna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4938F"/>
                </a:solidFill>
                <a:latin typeface="Calibri"/>
              </a:rPr>
              <a:t>ESTRATÉGIA DE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12529"/>
                </a:solidFill>
                <a:latin typeface="Calibri"/>
              </a:rPr>
              <a:t>Git Flow, Conventional Commits e 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05840" cy="44450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399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495257"/>
                </a:solidFill>
                <a:latin typeface="Calibri"/>
              </a:rPr>
              <a:t>main ← develop ← feature/fix/docs — 2 ramos protegidos, 1 aprovação + quality-gate obrigatórios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2011680" cy="548640"/>
          </a:xfrm>
          <a:prstGeom prst="roundRect">
            <a:avLst/>
          </a:prstGeom>
          <a:solidFill>
            <a:srgbClr val="126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48256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main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011680"/>
            <a:ext cx="2011680" cy="548640"/>
          </a:xfrm>
          <a:prstGeom prst="round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2048256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develop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011680"/>
            <a:ext cx="1920240" cy="548640"/>
          </a:xfrm>
          <a:prstGeom prst="roundRect">
            <a:avLst/>
          </a:prstGeom>
          <a:solidFill>
            <a:srgbClr val="449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048256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feature/us08-...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011680"/>
            <a:ext cx="1920240" cy="548640"/>
          </a:xfrm>
          <a:prstGeom prst="roundRect">
            <a:avLst/>
          </a:prstGeom>
          <a:solidFill>
            <a:srgbClr val="449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048256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fix/us11-...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2011680"/>
            <a:ext cx="1920240" cy="548640"/>
          </a:xfrm>
          <a:prstGeom prst="roundRect">
            <a:avLst/>
          </a:prstGeom>
          <a:solidFill>
            <a:srgbClr val="B1D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2048256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12529"/>
                </a:solidFill>
                <a:latin typeface="Calibri"/>
              </a:rPr>
              <a:t>docs/adr-...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7889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2635F"/>
                </a:solidFill>
                <a:latin typeface="Consolas"/>
              </a:rPr>
              <a:t>feat(consulta): impede reserva de horario ja ocupado (RN03)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3832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12529"/>
                </a:solidFill>
                <a:latin typeface="Calibri"/>
              </a:rPr>
              <a:t>Checklist de code review (o que reprova)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9476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>
                <a:solidFill>
                  <a:srgbClr val="495257"/>
                </a:solidFill>
                <a:latin typeface="Calibri"/>
              </a:rPr>
              <a:t>•  Vazamento de camada (HTTPException/select em service)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>
                <a:solidFill>
                  <a:srgbClr val="495257"/>
                </a:solidFill>
                <a:latin typeface="Calibri"/>
              </a:rPr>
              <a:t>•  if perfil == onde deveria haver Strategy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>
                <a:solidFill>
                  <a:srgbClr val="495257"/>
                </a:solidFill>
                <a:latin typeface="Calibri"/>
              </a:rPr>
              <a:t>•  RN sem teste, ou teste que não cita a RN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>
                <a:solidFill>
                  <a:srgbClr val="495257"/>
                </a:solidFill>
                <a:latin typeface="Calibri"/>
              </a:rPr>
              <a:t>•  Paciente agindo sobre id que não veio do token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>
                <a:solidFill>
                  <a:srgbClr val="495257"/>
                </a:solidFill>
                <a:latin typeface="Calibri"/>
              </a:rPr>
              <a:t>•  Número mágico em vez de settings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38328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12529"/>
                </a:solidFill>
                <a:latin typeface="Calibri"/>
              </a:rPr>
              <a:t>Board (GitHub Projects) — colunas e WIP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794760"/>
            <a:ext cx="850392" cy="1371600"/>
          </a:xfrm>
          <a:prstGeom prst="roundRect">
            <a:avLst/>
          </a:prstGeom>
          <a:solidFill>
            <a:srgbClr val="B1D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3886200"/>
            <a:ext cx="79552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212529"/>
                </a:solidFill>
                <a:latin typeface="Calibri"/>
              </a:rPr>
              <a:t>To 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87184" y="3794760"/>
            <a:ext cx="850392" cy="1371600"/>
          </a:xfrm>
          <a:prstGeom prst="roundRect">
            <a:avLst/>
          </a:prstGeom>
          <a:solidFill>
            <a:srgbClr val="B1D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14616" y="3886200"/>
            <a:ext cx="79552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212529"/>
                </a:solidFill>
                <a:latin typeface="Calibri"/>
              </a:rPr>
              <a:t>In Dev
(WIP 2/pessoa)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0728" y="3794760"/>
            <a:ext cx="850392" cy="1371600"/>
          </a:xfrm>
          <a:prstGeom prst="roundRect">
            <a:avLst/>
          </a:prstGeom>
          <a:solidFill>
            <a:srgbClr val="B1D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3886200"/>
            <a:ext cx="79552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212529"/>
                </a:solidFill>
                <a:latin typeface="Calibri"/>
              </a:rPr>
              <a:t>Code Review
(WIP 3)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34272" y="3794760"/>
            <a:ext cx="850392" cy="1371600"/>
          </a:xfrm>
          <a:prstGeom prst="roundRect">
            <a:avLst/>
          </a:prstGeom>
          <a:solidFill>
            <a:srgbClr val="B1D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61704" y="3886200"/>
            <a:ext cx="79552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212529"/>
                </a:solidFill>
                <a:latin typeface="Calibri"/>
              </a:rPr>
              <a:t>In QA
(WIP 5)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57816" y="3794760"/>
            <a:ext cx="850392" cy="1371600"/>
          </a:xfrm>
          <a:prstGeom prst="round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85248" y="3886200"/>
            <a:ext cx="79552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FFFFFF"/>
                </a:solidFill>
                <a:latin typeface="Calibri"/>
              </a:rPr>
              <a:t>UAT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881360" y="3794760"/>
            <a:ext cx="850392" cy="1371600"/>
          </a:xfrm>
          <a:prstGeom prst="roundRect">
            <a:avLst/>
          </a:prstGeom>
          <a:solidFill>
            <a:srgbClr val="126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08792" y="3886200"/>
            <a:ext cx="79552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349240"/>
            <a:ext cx="5394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495257"/>
                </a:solidFill>
                <a:latin typeface="Calibri"/>
              </a:rPr>
              <a:t>Done só depois do merge E validação do PO na UAT. “Está pronto no meu
computador” não é Done.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399"/>
                </a:solidFill>
                <a:latin typeface="Calibri"/>
              </a:rPr>
              <a:t>Clínica Médica MVP · Equipe 01 · AV2 Engenharia de Software Moderna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4938F"/>
                </a:solidFill>
                <a:latin typeface="Calibri"/>
              </a:rPr>
              <a:t>PIRÂMIDE DE 4 NÍVEIS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12529"/>
                </a:solidFill>
                <a:latin typeface="Calibri"/>
              </a:rPr>
              <a:t>Plano de testes e cobertura das regras de negócio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05840" cy="44450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399"/>
                </a:solidFill>
                <a:latin typeface="Calibr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554480"/>
            <a:ext cx="822960" cy="731520"/>
          </a:xfrm>
          <a:prstGeom prst="roundRect">
            <a:avLst/>
          </a:prstGeom>
          <a:solidFill>
            <a:srgbClr val="B1D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62763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529"/>
                </a:solidFill>
                <a:latin typeface="Calibri"/>
              </a:rPr>
              <a:t>Exploratório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1901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12529"/>
                </a:solidFill>
                <a:latin typeface="Calibri"/>
              </a:rPr>
              <a:t>3 sessões (EXP-01–EXP-03), time-boxed, sem roteiro fixo (QA)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77540" y="2423160"/>
            <a:ext cx="1691640" cy="731520"/>
          </a:xfrm>
          <a:prstGeom prst="roundRect">
            <a:avLst/>
          </a:prstGeom>
          <a:solidFill>
            <a:srgbClr val="449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4700" y="249631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Funcional manual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4700" y="2770632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CT01–CT14 com evidência, jornada ponta a ponta (QA)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3291840"/>
            <a:ext cx="2560320" cy="731520"/>
          </a:xfrm>
          <a:prstGeom prst="round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336499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Integração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63931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TestClient + PostgreSQL real (Eng + QA)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08860" y="4160520"/>
            <a:ext cx="3429000" cy="731520"/>
          </a:xfrm>
          <a:prstGeom prst="roundRect">
            <a:avLst/>
          </a:prstGeom>
          <a:solidFill>
            <a:srgbClr val="126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46020" y="4233672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Unitário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6020" y="450799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fakes de repositório, sem banco (Engenharia)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7492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495257"/>
                </a:solidFill>
                <a:latin typeface="Calibri"/>
              </a:rPr>
              <a:t>Critério: toda RN tem ao menos 1 teste que a viola e espera bloqueio.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1554480"/>
            <a:ext cx="3977639" cy="4114800"/>
          </a:xfrm>
          <a:prstGeom prst="roundRect">
            <a:avLst/>
          </a:prstGeom>
          <a:solidFill>
            <a:srgbClr val="E7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17373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2635F"/>
                </a:solidFill>
                <a:latin typeface="Calibri"/>
              </a:rPr>
              <a:t>O que a suíte entrega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2194560"/>
            <a:ext cx="3566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b="1" sz="1300">
                <a:solidFill>
                  <a:srgbClr val="28726F"/>
                </a:solidFill>
                <a:latin typeface="Calibri"/>
              </a:rPr>
              <a:t>•  15/15 </a:t>
            </a:r>
            <a:r>
              <a:rPr sz="1300">
                <a:solidFill>
                  <a:srgbClr val="495257"/>
                </a:solidFill>
                <a:latin typeface="Calibri"/>
              </a:rPr>
              <a:t>regras de negócio com teste rastreado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b="1" sz="1300">
                <a:solidFill>
                  <a:srgbClr val="28726F"/>
                </a:solidFill>
                <a:latin typeface="Calibri"/>
              </a:rPr>
              <a:t>•  26 </a:t>
            </a:r>
            <a:r>
              <a:rPr sz="1300">
                <a:solidFill>
                  <a:srgbClr val="495257"/>
                </a:solidFill>
                <a:latin typeface="Calibri"/>
              </a:rPr>
              <a:t>testes unitários + 18 de integração no backend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b="1" sz="1300">
                <a:solidFill>
                  <a:srgbClr val="28726F"/>
                </a:solidFill>
                <a:latin typeface="Calibri"/>
              </a:rPr>
              <a:t>•  14 </a:t>
            </a:r>
            <a:r>
              <a:rPr sz="1300">
                <a:solidFill>
                  <a:srgbClr val="495257"/>
                </a:solidFill>
                <a:latin typeface="Calibri"/>
              </a:rPr>
              <a:t>testes automatizados no frontend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b="1" sz="1300">
                <a:solidFill>
                  <a:srgbClr val="28726F"/>
                </a:solidFill>
                <a:latin typeface="Calibri"/>
              </a:rPr>
              <a:t>•  84% </a:t>
            </a:r>
            <a:r>
              <a:rPr sz="1300">
                <a:solidFill>
                  <a:srgbClr val="495257"/>
                </a:solidFill>
                <a:latin typeface="Calibri"/>
              </a:rPr>
              <a:t>de cobertura de código no backend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b="1" sz="1300">
                <a:solidFill>
                  <a:srgbClr val="28726F"/>
                </a:solidFill>
                <a:latin typeface="Calibri"/>
              </a:rPr>
              <a:t>•  14/14 </a:t>
            </a:r>
            <a:r>
              <a:rPr sz="1300">
                <a:solidFill>
                  <a:srgbClr val="495257"/>
                </a:solidFill>
                <a:latin typeface="Calibri"/>
              </a:rPr>
              <a:t>casos de teste funcionais executados e aprovados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b="1" sz="1300">
                <a:solidFill>
                  <a:srgbClr val="28726F"/>
                </a:solidFill>
                <a:latin typeface="Calibri"/>
              </a:rPr>
              <a:t>•  3 </a:t>
            </a:r>
            <a:r>
              <a:rPr sz="1300">
                <a:solidFill>
                  <a:srgbClr val="495257"/>
                </a:solidFill>
                <a:latin typeface="Calibri"/>
              </a:rPr>
              <a:t>sessões exploratórias executadas (EXP-01 a EXP-03)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399"/>
                </a:solidFill>
                <a:latin typeface="Calibri"/>
              </a:rPr>
              <a:t>Clínica Médica MVP · Equipe 01 · AV2 Engenharia de Software Moderna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4938F"/>
                </a:solidFill>
                <a:latin typeface="Calibri"/>
              </a:rPr>
              <a:t>GITHUB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12529"/>
                </a:solidFill>
                <a:latin typeface="Calibri"/>
              </a:rPr>
              <a:t>Pipeline de integração contínua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05840" cy="44450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399"/>
                </a:solidFill>
                <a:latin typeface="Calibr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429000" cy="1554480"/>
          </a:xfrm>
          <a:prstGeom prst="roundRect">
            <a:avLst/>
          </a:prstGeom>
          <a:solidFill>
            <a:srgbClr val="449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10512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7F5F4"/>
                </a:solidFill>
                <a:latin typeface="Calibri"/>
              </a:rPr>
              <a:t>ruff · alembic upgrade
head · pytest --cov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645920"/>
            <a:ext cx="3429000" cy="1554480"/>
          </a:xfrm>
          <a:prstGeom prst="roundRect">
            <a:avLst/>
          </a:prstGeom>
          <a:solidFill>
            <a:srgbClr val="449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810512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12848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7F5F4"/>
                </a:solidFill>
                <a:latin typeface="Calibri"/>
              </a:rPr>
              <a:t>eslint · tsc · vitest
· next build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645920"/>
            <a:ext cx="3429000" cy="1554480"/>
          </a:xfrm>
          <a:prstGeom prst="roundRect">
            <a:avLst/>
          </a:prstGeom>
          <a:solidFill>
            <a:srgbClr val="449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810512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docker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212848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7F5F4"/>
                </a:solidFill>
                <a:latin typeface="Calibri"/>
              </a:rPr>
              <a:t>sobe stack do zero ·
seed rodado 2×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120640" y="3429000"/>
            <a:ext cx="1920240" cy="457200"/>
          </a:xfrm>
          <a:prstGeom prst="downArrow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91840" y="3977639"/>
            <a:ext cx="5577840" cy="777240"/>
          </a:xfrm>
          <a:prstGeom prst="roundRect">
            <a:avLst/>
          </a:prstGeom>
          <a:solidFill>
            <a:srgbClr val="126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4023360"/>
            <a:ext cx="5577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quality-gate — required status check de main e develop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>
                <a:solidFill>
                  <a:srgbClr val="495257"/>
                </a:solidFill>
                <a:latin typeface="Calibri"/>
              </a:rPr>
              <a:t>•  Sem o quality-gate como required check, a proteção de ramo é decorativa — é ele que de fato impede merge de código quebrado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>
                <a:solidFill>
                  <a:srgbClr val="495257"/>
                </a:solidFill>
                <a:latin typeface="Calibri"/>
              </a:rPr>
              <a:t>•  O seed rodar 2× no job docker não é redundância: é o teste da idempotência prometida no ADR-004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399"/>
                </a:solidFill>
                <a:latin typeface="Calibri"/>
              </a:rPr>
              <a:t>Clínica Médica MVP · Equipe 01 · AV2 Engenharia de Software Moderna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63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1D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B1D1CF"/>
                </a:solidFill>
                <a:latin typeface="Calibri"/>
              </a:rPr>
              <a:t>AO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Demonstração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8686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>
                <a:solidFill>
                  <a:srgbClr val="E7F5F4"/>
                </a:solidFill>
                <a:latin typeface="Calibri"/>
              </a:rPr>
              <a:t>•  1. Atendente — cadastra especialidade, médico, paciente e lança agenda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>
                <a:solidFill>
                  <a:srgbClr val="E7F5F4"/>
                </a:solidFill>
                <a:latin typeface="Calibri"/>
              </a:rPr>
              <a:t>•  2. Paciente — primeiro acesso pelo CPF, busca médico, agenda consulta (SOLICITADA)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>
                <a:solidFill>
                  <a:srgbClr val="E7F5F4"/>
                </a:solidFill>
                <a:latin typeface="Calibri"/>
              </a:rPr>
              <a:t>•  3. Atendente — confirma e finaliza a consulta (RN06/RN10)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>
                <a:solidFill>
                  <a:srgbClr val="E7F5F4"/>
                </a:solidFill>
                <a:latin typeface="Calibri"/>
              </a:rPr>
              <a:t>•  4. Paciente — tenta cancelar consulta finalizada → bloqueado (RN10)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>
                <a:solidFill>
                  <a:srgbClr val="E7F5F4"/>
                </a:solidFill>
                <a:latin typeface="Calibri"/>
              </a:rPr>
              <a:t>•  5. Atendente — agenda 2ª consulta; tenta duplicar horário → bloqueado (RN03/RN05)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>
                <a:solidFill>
                  <a:srgbClr val="E7F5F4"/>
                </a:solidFill>
                <a:latin typeface="Calibri"/>
              </a:rPr>
              <a:t>•  6. Sessão inválida — token corrompido força logout automático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B1D1CF"/>
                </a:solidFill>
                <a:latin typeface="Calibri"/>
              </a:rPr>
              <a:t>localhost:3000 · Swagger em localhost:8000/docs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4938F"/>
                </a:solidFill>
                <a:latin typeface="Calibri"/>
              </a:rPr>
              <a:t>ESTADO NA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12529"/>
                </a:solidFill>
                <a:latin typeface="Calibri"/>
              </a:rPr>
              <a:t>Métricas do projeto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05840" cy="44450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399"/>
                </a:solidFill>
                <a:latin typeface="Calibr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606040" cy="1554480"/>
          </a:xfrm>
          <a:prstGeom prst="roundRect">
            <a:avLst/>
          </a:prstGeom>
          <a:solidFill>
            <a:srgbClr val="126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14/14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2331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7F5F4"/>
                </a:solidFill>
                <a:latin typeface="Calibri"/>
              </a:rPr>
              <a:t>User Stories entregues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645920"/>
            <a:ext cx="2606040" cy="1554480"/>
          </a:xfrm>
          <a:prstGeom prst="round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82880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15/15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514600"/>
            <a:ext cx="2331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7F5F4"/>
                </a:solidFill>
                <a:latin typeface="Calibri"/>
              </a:rPr>
              <a:t>regras de negócio testadas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645920"/>
            <a:ext cx="2606040" cy="1554480"/>
          </a:xfrm>
          <a:prstGeom prst="roundRect">
            <a:avLst/>
          </a:prstGeom>
          <a:solidFill>
            <a:srgbClr val="449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82880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14/14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514600"/>
            <a:ext cx="2331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7F5F4"/>
                </a:solidFill>
                <a:latin typeface="Calibri"/>
              </a:rPr>
              <a:t>casos de teste (CT) aprovados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1645920"/>
            <a:ext cx="2606040" cy="1554480"/>
          </a:xfrm>
          <a:prstGeom prst="roundRect">
            <a:avLst/>
          </a:prstGeom>
          <a:solidFill>
            <a:srgbClr val="126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182880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44 + 14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514600"/>
            <a:ext cx="2331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7F5F4"/>
                </a:solidFill>
                <a:latin typeface="Calibri"/>
              </a:rPr>
              <a:t>testes automatizados (back + front)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29000"/>
            <a:ext cx="2606040" cy="1554480"/>
          </a:xfrm>
          <a:prstGeom prst="round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118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84%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97680"/>
            <a:ext cx="2331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7F5F4"/>
                </a:solidFill>
                <a:latin typeface="Calibri"/>
              </a:rPr>
              <a:t>cobertura de código no backend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3429000"/>
            <a:ext cx="2606040" cy="1554480"/>
          </a:xfrm>
          <a:prstGeom prst="roundRect">
            <a:avLst/>
          </a:prstGeom>
          <a:solidFill>
            <a:srgbClr val="449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36118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297680"/>
            <a:ext cx="2331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7F5F4"/>
                </a:solidFill>
                <a:latin typeface="Calibri"/>
              </a:rPr>
              <a:t>ADRs registrados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3429000"/>
            <a:ext cx="2606040" cy="1554480"/>
          </a:xfrm>
          <a:prstGeom prst="roundRect">
            <a:avLst/>
          </a:prstGeom>
          <a:solidFill>
            <a:srgbClr val="126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36118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297680"/>
            <a:ext cx="2331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7F5F4"/>
                </a:solidFill>
                <a:latin typeface="Calibri"/>
              </a:rPr>
              <a:t>bugs críticos/altos em aberto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78240" y="3429000"/>
            <a:ext cx="2606040" cy="1554480"/>
          </a:xfrm>
          <a:prstGeom prst="round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36118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4297680"/>
            <a:ext cx="2331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7F5F4"/>
                </a:solidFill>
                <a:latin typeface="Calibri"/>
              </a:rPr>
              <a:t>bugs de robustez achados e corrigidos em QA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399"/>
                </a:solidFill>
                <a:latin typeface="Calibri"/>
              </a:rPr>
              <a:t>Clínica Médica MVP · Equipe 01 · AV2 Engenharia de Software Moderna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4938F"/>
                </a:solidFill>
                <a:latin typeface="Calibri"/>
              </a:rPr>
              <a:t>BACKLOG DE EVOLUÇÃO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12529"/>
                </a:solidFill>
                <a:latin typeface="Calibri"/>
              </a:rPr>
              <a:t>Melhorias futuras — o que ficou fora, por quê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05840" cy="44450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399"/>
                </a:solidFill>
                <a:latin typeface="Calibr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005840" cy="777240"/>
          </a:xfrm>
          <a:prstGeom prst="round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19656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MF01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627632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529"/>
                </a:solidFill>
                <a:latin typeface="Calibri"/>
              </a:rPr>
              <a:t>Agenda geral consolidada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984248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8726F"/>
                </a:solidFill>
                <a:latin typeface="Calibri"/>
              </a:rPr>
              <a:t>alvo: v1.1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600200"/>
            <a:ext cx="6035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95257"/>
                </a:solidFill>
                <a:latin typeface="Calibri"/>
              </a:rPr>
              <a:t>Dado já acessível pelas telas existentes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14600"/>
            <a:ext cx="1005840" cy="777240"/>
          </a:xfrm>
          <a:prstGeom prst="round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34056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MF02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542032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529"/>
                </a:solidFill>
                <a:latin typeface="Calibri"/>
              </a:rPr>
              <a:t>Cadastro de atendente pela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898648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8726F"/>
                </a:solidFill>
                <a:latin typeface="Calibri"/>
              </a:rPr>
              <a:t>alvo: v1.1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514600"/>
            <a:ext cx="6035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95257"/>
                </a:solidFill>
                <a:latin typeface="Calibri"/>
              </a:rPr>
              <a:t>Seed basta; RN14 continua testada por CT14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29000"/>
            <a:ext cx="1005840" cy="777240"/>
          </a:xfrm>
          <a:prstGeom prst="round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648456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MF09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456432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529"/>
                </a:solidFill>
                <a:latin typeface="Calibri"/>
              </a:rPr>
              <a:t>Perfil de Médico com login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813048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8726F"/>
                </a:solidFill>
                <a:latin typeface="Calibri"/>
              </a:rPr>
              <a:t>alvo: v2.0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3429000"/>
            <a:ext cx="6035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95257"/>
                </a:solidFill>
                <a:latin typeface="Calibri"/>
              </a:rPr>
              <a:t>Mudaria todo o modelo de autorização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343400"/>
            <a:ext cx="1005840" cy="777240"/>
          </a:xfrm>
          <a:prstGeom prst="round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562856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MF14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370832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529"/>
                </a:solidFill>
                <a:latin typeface="Calibri"/>
              </a:rPr>
              <a:t>Testes end-to-end automatizados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727448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8726F"/>
                </a:solidFill>
                <a:latin typeface="Calibri"/>
              </a:rPr>
              <a:t>alvo: v1.2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4343400"/>
            <a:ext cx="6035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95257"/>
                </a:solidFill>
                <a:latin typeface="Calibri"/>
              </a:rPr>
              <a:t>Competiria com o próprio desenvolvimento em 11 dias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257800"/>
            <a:ext cx="1005840" cy="777240"/>
          </a:xfrm>
          <a:prstGeom prst="round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477256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MF16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285232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529"/>
                </a:solidFill>
                <a:latin typeface="Calibri"/>
              </a:rPr>
              <a:t>Rate limiting na autenticação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5641848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8726F"/>
                </a:solidFill>
                <a:latin typeface="Calibri"/>
              </a:rPr>
              <a:t>alvo: v1.1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5257800"/>
            <a:ext cx="6035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95257"/>
                </a:solidFill>
                <a:latin typeface="Calibri"/>
              </a:rPr>
              <a:t>Achado em QA (EXP-01); pentest é fora do escopo da AV2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1">
                <a:solidFill>
                  <a:srgbClr val="12635F"/>
                </a:solidFill>
                <a:latin typeface="Calibri"/>
              </a:rPr>
              <a:t>Escopo controlado é competência de Engenharia de Software, não limitação.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4938F"/>
                </a:solidFill>
                <a:latin typeface="Calibri"/>
              </a:rPr>
              <a:t>O QUE A EQUIPE LEVOU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12529"/>
                </a:solidFill>
                <a:latin typeface="Calibri"/>
              </a:rPr>
              <a:t>Retrospectiva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05840" cy="44450"/>
          </a:xfrm>
          <a:prstGeom prst="rect">
            <a:avLst/>
          </a:prstGeom>
          <a:solidFill>
            <a:srgbClr val="287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399"/>
                </a:solidFill>
                <a:latin typeface="Calibr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94960" cy="4480560"/>
          </a:xfrm>
          <a:prstGeom prst="roundRect">
            <a:avLst/>
          </a:prstGeom>
          <a:solidFill>
            <a:srgbClr val="E7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2635F"/>
                </a:solidFill>
                <a:latin typeface="Calibri"/>
              </a:rPr>
              <a:t>O que funcionou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00">
                <a:solidFill>
                  <a:srgbClr val="495257"/>
                </a:solidFill>
                <a:latin typeface="Calibri"/>
              </a:rPr>
              <a:t>•  Rebaseline de escopo antes de codificar — nenhuma US
entregue pela metade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00">
                <a:solidFill>
                  <a:srgbClr val="495257"/>
                </a:solidFill>
                <a:latin typeface="Calibri"/>
              </a:rPr>
              <a:t>•  Registrar conflito como ADR em vez de resolver em silêncio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00">
                <a:solidFill>
                  <a:srgbClr val="495257"/>
                </a:solidFill>
                <a:latin typeface="Calibri"/>
              </a:rPr>
              <a:t>•  Regra “uma US = backend + tela + teste”, sem exceção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00">
                <a:solidFill>
                  <a:srgbClr val="495257"/>
                </a:solidFill>
                <a:latin typeface="Calibri"/>
              </a:rPr>
              <a:t>•  Portão de qualidade único bloqueando merge de verdade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00">
                <a:solidFill>
                  <a:srgbClr val="495257"/>
                </a:solidFill>
                <a:latin typeface="Calibri"/>
              </a:rPr>
              <a:t>•  Testar pela interface revelou bugs que nenhum teste
unitário pegaria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394960" cy="4480560"/>
          </a:xfrm>
          <a:prstGeom prst="roundRect">
            <a:avLst/>
          </a:prstGeom>
          <a:solidFill>
            <a:srgbClr val="FA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12529"/>
                </a:solidFill>
                <a:latin typeface="Calibri"/>
              </a:rPr>
              <a:t>O que faríamos diferente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24028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00">
                <a:solidFill>
                  <a:srgbClr val="495257"/>
                </a:solidFill>
                <a:latin typeface="Calibri"/>
              </a:rPr>
              <a:t>•  Fazer a análise de rebaseline durante o levantamento
inicial, não no começo da Sprint 1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00">
                <a:solidFill>
                  <a:srgbClr val="495257"/>
                </a:solidFill>
                <a:latin typeface="Calibri"/>
              </a:rPr>
              <a:t>•  Alinhar o gerador do board ao backlog canônico antes do
kickoff, não durante a sprint (conflito C14)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00">
                <a:solidFill>
                  <a:srgbClr val="495257"/>
                </a:solidFill>
                <a:latin typeface="Calibri"/>
              </a:rPr>
              <a:t>•  Validar o dateParser de bibliotecas de terceiros com um
teste dedicado, em vez de descobrir em QA manual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399"/>
                </a:solidFill>
                <a:latin typeface="Calibri"/>
              </a:rPr>
              <a:t>Clínica Médica MVP · Equipe 01 · AV2 Engenharia de Software Moderna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
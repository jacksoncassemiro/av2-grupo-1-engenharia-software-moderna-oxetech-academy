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73" r:id="rId24"/>
    <p:sldId id="274" r:id="rId25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5" r:id="rId26"/>
    <p:sldId id="277" r:id="rId28"/>
    <p:sldId id="267" r:id="rId18"/>
    <p:sldId id="276" r:id="rId27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6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14.xml"/><Relationship Id="rId27" Type="http://schemas.openxmlformats.org/officeDocument/2006/relationships/slide" Target="slides/slide17.xml"/><Relationship Id="rId28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63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1188720" cy="6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E7F5F4"/>
                </a:solidFill>
                <a:latin typeface="Calibri"/>
              </a:rPr>
              <a:t>OXETECH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Sistema de Gestão de
Clínica Médica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B1D1CF"/>
                </a:solidFill>
                <a:latin typeface="Calibri"/>
              </a:rPr>
              <a:t>MVP com arquitetura MVC, Clean Code, Design Patterns e CI/CD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7F5F4"/>
                </a:solidFill>
                <a:latin typeface="Calibri"/>
              </a:rPr>
              <a:t>Engenharia de Software Moderna — Avaliação 2 (AV2)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Equipe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0789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E7F5F4"/>
                </a:solidFill>
                <a:latin typeface="Calibri"/>
              </a:rPr>
              <a:t>Product Owner — Jackson Cassemiro
Engenharia — Antonio Júnior · João Vitor Lira · Ronaldo Filho
Quality Assurance — Uanderson Silva · Felipe Araújo · Alyssandro Gouveia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0" y="63093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B1D1CF"/>
                </a:solidFill>
                <a:latin typeface="Calibri"/>
              </a:rPr>
              <a:t>Maceió – AL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VISÃO DO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O problema e a proposta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94960" cy="448056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92A2A"/>
                </a:solidFill>
                <a:latin typeface="Calibri"/>
              </a:rPr>
              <a:t>Hoje: telefone e planilha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Agendamento só funciona em horário comercial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Planilha não impede dois pacientes no mesmo horário — o
conflito só aparece no balcão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Paciente não consulta o próprio histórico sem ligar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Cancelamento de última hora deixa o horário vazio, porque
ninguém sabe que ele voltou a ficar livre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✕  Nenhum registro confiável de quem alterou o quê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94960" cy="4480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783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635F"/>
                </a:solidFill>
                <a:latin typeface="Calibri"/>
              </a:rPr>
              <a:t>MVP: sistema web com regras no banco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47548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Paciente agenda e cancela sozinho, 24 horas por dia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Banco recusa a operação na hora — conflito de horário
vira erro, não vira retrabalho no balcão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CPF e e-mail únicos por restrição de esquema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Cancelamento com regra de 24h devolve o horário
automaticamente à agenda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>
                <a:solidFill>
                  <a:srgbClr val="495257"/>
                </a:solidFill>
                <a:latin typeface="Calibri"/>
              </a:rPr>
              <a:t>✓  Quatro status auditáveis, com transição controlada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ADR-008 · ADR-009 — 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Escopo do MVP: dentro e fora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495257"/>
                </a:solidFill>
                <a:latin typeface="Calibri"/>
              </a:rPr>
              <a:t>14 User Stories certas de serem entregues, em vez de um escopo maior sujeito a corte pela metade.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5394960" cy="393192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Dentro do MVP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889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Autenticação única por CPF ou e-mail, com JWT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Primeiro acesso: ativa cadastro do balcão OU auto-cadastro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Cadastro de especialidades, médicos, pacientes e agenda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Solicitação (paciente) e agendamento (atendente) de consulta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Confirmação, finalização e cancelamento com regra de 24h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Liberação automática do horário ao cancelar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Autorização por perfil em toda rota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48840"/>
            <a:ext cx="5394960" cy="393192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C92A2A"/>
                </a:solidFill>
                <a:latin typeface="Calibri"/>
              </a:rPr>
              <a:t>Fora do MVP (registrado, não esquecido)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Agenda geral consolidada — </a:t>
            </a:r>
            <a:r>
              <a:rPr sz="1350">
                <a:solidFill>
                  <a:srgbClr val="495257"/>
                </a:solidFill>
                <a:latin typeface="Calibri"/>
              </a:rPr>
              <a:t>dado já acessível pelas telas existentes (MF01)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Cadastro de atendente pela UI — </a:t>
            </a:r>
            <a:r>
              <a:rPr sz="1350">
                <a:solidFill>
                  <a:srgbClr val="495257"/>
                </a:solidFill>
                <a:latin typeface="Calibri"/>
              </a:rPr>
              <a:t>o seed idempotente basta; RN14 continua testada (MF02)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Perfil Médico e notificação — </a:t>
            </a:r>
            <a:r>
              <a:rPr sz="1350">
                <a:solidFill>
                  <a:srgbClr val="495257"/>
                </a:solidFill>
                <a:latin typeface="Calibri"/>
              </a:rPr>
              <a:t>fora da lista de funcionalidades do enunciado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Editar e excluir especialidade e médico — </a:t>
            </a:r>
            <a:r>
              <a:rPr sz="1350">
                <a:solidFill>
                  <a:srgbClr val="495257"/>
                </a:solidFill>
                <a:latin typeface="Calibri"/>
              </a:rPr>
              <a:t>a inativação entrou no MVP pelo ADR-009; editar e excluir seguem fora (MF03/MF04)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PRODUCT BACKLOG · EXEMPLO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O que é uma User Story — a US-08 na prática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95257"/>
                </a:solidFill>
                <a:latin typeface="Calibri"/>
              </a:rPr>
              <a:t>Uma User Story descreve valor para um perfil, não uma tela. Abaixo, o texto real da US-08 (docs/02-backlog.md).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2057400"/>
            <a:ext cx="5394960" cy="28346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2194560"/>
            <a:ext cx="48463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2635F"/>
                </a:solidFill>
                <a:latin typeface="Calibri"/>
              </a:rPr>
              <a:t>US-08 — Solicitação de consulta pelo paciente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60320"/>
            <a:ext cx="484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28726F"/>
                </a:solidFill>
                <a:latin typeface="Calibri"/>
              </a:rPr>
              <a:t>Como </a:t>
            </a:r>
            <a:r>
              <a:rPr sz="1350" b="0">
                <a:solidFill>
                  <a:srgbClr val="495257"/>
                </a:solidFill>
                <a:latin typeface="Calibri"/>
              </a:rPr>
              <a:t>Paciente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28726F"/>
                </a:solidFill>
                <a:latin typeface="Calibri"/>
              </a:rPr>
              <a:t>Quero </a:t>
            </a:r>
            <a:r>
              <a:rPr sz="1350" b="0">
                <a:solidFill>
                  <a:srgbClr val="495257"/>
                </a:solidFill>
                <a:latin typeface="Calibri"/>
              </a:rPr>
              <a:t>escolher médico, data e horário disponível para solicitar uma consulta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28726F"/>
                </a:solidFill>
                <a:latin typeface="Calibri"/>
              </a:rPr>
              <a:t>Para </a:t>
            </a:r>
            <a:r>
              <a:rPr sz="1350" b="0">
                <a:solidFill>
                  <a:srgbClr val="495257"/>
                </a:solidFill>
                <a:latin typeface="Calibri"/>
              </a:rPr>
              <a:t>agendar meu atendimento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520440"/>
            <a:ext cx="48463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Como / Quero / Para</a:t>
            </a:r>
            <a:r>
              <a:rPr sz="1200" b="0">
                <a:solidFill>
                  <a:srgbClr val="495257"/>
                </a:solidFill>
                <a:latin typeface="Calibri"/>
              </a:rPr>
              <a:t> — quem, o quê e por quê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28726F"/>
                </a:solidFill>
                <a:latin typeface="Calibri"/>
              </a:rPr>
              <a:t>Critérios de aceite</a:t>
            </a:r>
            <a:r>
              <a:rPr sz="1200" b="0">
                <a:solidFill>
                  <a:srgbClr val="495257"/>
                </a:solidFill>
                <a:latin typeface="Calibri"/>
              </a:rPr>
              <a:t> — em Gherkin: Dado / Quando / Então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28726F"/>
                </a:solidFill>
                <a:latin typeface="Calibri"/>
              </a:rPr>
              <a:t>Regras de negócio</a:t>
            </a:r>
            <a:r>
              <a:rPr sz="1200" b="0">
                <a:solidFill>
                  <a:srgbClr val="495257"/>
                </a:solidFill>
                <a:latin typeface="Calibri"/>
              </a:rPr>
              <a:t> — RN03 · RN06 · RN17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00" b="1">
                <a:solidFill>
                  <a:srgbClr val="28726F"/>
                </a:solidFill>
                <a:latin typeface="Calibri"/>
              </a:rPr>
              <a:t>Tarefas</a:t>
            </a:r>
            <a:r>
              <a:rPr sz="1200" b="0">
                <a:solidFill>
                  <a:srgbClr val="495257"/>
                </a:solidFill>
                <a:latin typeface="Calibri"/>
              </a:rPr>
              <a:t> — [BACKEND] [FRONTEND] [QA]: só é Done com as três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2057400"/>
            <a:ext cx="5394960" cy="13258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19456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2635F"/>
                </a:solidFill>
                <a:latin typeface="Calibri"/>
              </a:rPr>
              <a:t>CA1 — o caminho feliz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2514600"/>
            <a:ext cx="484632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Dado</a:t>
            </a:r>
            <a:r>
              <a:rPr sz="1200" b="0">
                <a:solidFill>
                  <a:srgbClr val="495257"/>
                </a:solidFill>
                <a:latin typeface="Calibri"/>
              </a:rPr>
              <a:t> que escolhi o Dr. Silva em 2026-08-10 às 15:00, </a:t>
            </a:r>
            <a:r>
              <a:rPr sz="1200" b="1">
                <a:solidFill>
                  <a:srgbClr val="28726F"/>
                </a:solidFill>
                <a:latin typeface="Calibri"/>
              </a:rPr>
              <a:t>quando</a:t>
            </a:r>
            <a:r>
              <a:rPr sz="1200" b="0">
                <a:solidFill>
                  <a:srgbClr val="495257"/>
                </a:solidFill>
                <a:latin typeface="Calibri"/>
              </a:rPr>
              <a:t> eu confirmar a solicitação, </a:t>
            </a:r>
            <a:r>
              <a:rPr sz="1200" b="1">
                <a:solidFill>
                  <a:srgbClr val="28726F"/>
                </a:solidFill>
                <a:latin typeface="Calibri"/>
              </a:rPr>
              <a:t>então</a:t>
            </a:r>
            <a:r>
              <a:rPr sz="1200" b="0">
                <a:solidFill>
                  <a:srgbClr val="495257"/>
                </a:solidFill>
                <a:latin typeface="Calibri"/>
              </a:rPr>
              <a:t> a consulta deve ser salva e o status definido como SOLICITADA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3566160"/>
            <a:ext cx="5394960" cy="132588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70332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212529"/>
                </a:solidFill>
                <a:latin typeface="Calibri"/>
              </a:rPr>
              <a:t>CA2 — RN03: dois pacientes ao mesmo tempo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4023360"/>
            <a:ext cx="484632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Dado</a:t>
            </a:r>
            <a:r>
              <a:rPr sz="1200" b="0">
                <a:solidFill>
                  <a:srgbClr val="495257"/>
                </a:solidFill>
                <a:latin typeface="Calibri"/>
              </a:rPr>
              <a:t> que 15:00 estava livre, </a:t>
            </a:r>
            <a:r>
              <a:rPr sz="1200" b="1">
                <a:solidFill>
                  <a:srgbClr val="28726F"/>
                </a:solidFill>
                <a:latin typeface="Calibri"/>
              </a:rPr>
              <a:t>quando</a:t>
            </a:r>
            <a:r>
              <a:rPr sz="1200" b="0">
                <a:solidFill>
                  <a:srgbClr val="495257"/>
                </a:solidFill>
                <a:latin typeface="Calibri"/>
              </a:rPr>
              <a:t> dois pacientes confirmarem ao mesmo tempo, </a:t>
            </a:r>
            <a:r>
              <a:rPr sz="1200" b="1">
                <a:solidFill>
                  <a:srgbClr val="28726F"/>
                </a:solidFill>
                <a:latin typeface="Calibri"/>
              </a:rPr>
              <a:t>então</a:t>
            </a:r>
            <a:r>
              <a:rPr sz="1200" b="0">
                <a:solidFill>
                  <a:srgbClr val="495257"/>
                </a:solidFill>
                <a:latin typeface="Calibri"/>
              </a:rPr>
              <a:t> o primeiro deve ter sucesso e o segundo deve receber Horario indisponivel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983480"/>
            <a:ext cx="109728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212529"/>
                </a:solidFill>
                <a:latin typeface="Calibri"/>
              </a:rPr>
              <a:t>Do critério de aceite até a evidência — a rastreabilidade que a AV2 avalia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40680"/>
            <a:ext cx="2560320" cy="6400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2560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US-08 · CA2 (RN03)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163824" y="5650992"/>
            <a:ext cx="182880" cy="219456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3401568" y="5440680"/>
            <a:ext cx="2560320" cy="6400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01568" y="5440680"/>
            <a:ext cx="2560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índice parcial + SELECT FOR UPDATE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6016752" y="5650992"/>
            <a:ext cx="182880" cy="219456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254496" y="5440680"/>
            <a:ext cx="2560320" cy="6400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54496" y="5440680"/>
            <a:ext cx="2560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CTU03 (unitário) · CT05 (manual)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8869680" y="5650992"/>
            <a:ext cx="182880" cy="219456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107424" y="5440680"/>
            <a:ext cx="2560320" cy="64008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07424" y="5440680"/>
            <a:ext cx="2560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212529"/>
                </a:solidFill>
                <a:latin typeface="Calibri"/>
              </a:rPr>
              <a:t>EXP-02 · 3 bugs corrigidos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PRODUCT BACKLOG · SPRINTS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Duas sprints — o que entrou em cada uma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95257"/>
                </a:solidFill>
                <a:latin typeface="Calibri"/>
              </a:rPr>
              <a:t>As 14 User Stories (US-00 a US-13) distribuídas em duas sprints curtas, de 5 e 6 dias úteis.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965960"/>
            <a:ext cx="5394960" cy="342900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2121408"/>
            <a:ext cx="48463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2635F"/>
                </a:solidFill>
                <a:latin typeface="Calibri"/>
              </a:rPr>
              <a:t>SPRINT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450592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0">
                <a:solidFill>
                  <a:srgbClr val="495257"/>
                </a:solidFill>
                <a:latin typeface="Calibri"/>
              </a:rPr>
              <a:t>31/07 → 05/08 · 5 dias úteis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724912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8726F"/>
                </a:solidFill>
                <a:latin typeface="Calibri"/>
              </a:rPr>
              <a:t>Meta: acesso + cadastros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090672"/>
            <a:ext cx="48463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US-00  </a:t>
            </a:r>
            <a:r>
              <a:rPr sz="1250" b="0">
                <a:solidFill>
                  <a:srgbClr val="495257"/>
                </a:solidFill>
                <a:latin typeface="Calibri"/>
              </a:rPr>
              <a:t>Autenticação e vinculação de conta por CPF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US-01  </a:t>
            </a:r>
            <a:r>
              <a:rPr sz="1250" b="0">
                <a:solidFill>
                  <a:srgbClr val="495257"/>
                </a:solidFill>
                <a:latin typeface="Calibri"/>
              </a:rPr>
              <a:t>Gestão de especialidades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US-02  </a:t>
            </a:r>
            <a:r>
              <a:rPr sz="1250" b="0">
                <a:solidFill>
                  <a:srgbClr val="495257"/>
                </a:solidFill>
                <a:latin typeface="Calibri"/>
              </a:rPr>
              <a:t>Gestão de médicos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US-03  </a:t>
            </a:r>
            <a:r>
              <a:rPr sz="1250" b="0">
                <a:solidFill>
                  <a:srgbClr val="495257"/>
                </a:solidFill>
                <a:latin typeface="Calibri"/>
              </a:rPr>
              <a:t>Cadastro de pacientes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US-05  </a:t>
            </a:r>
            <a:r>
              <a:rPr sz="1250" b="0">
                <a:solidFill>
                  <a:srgbClr val="495257"/>
                </a:solidFill>
                <a:latin typeface="Calibri"/>
              </a:rPr>
              <a:t>Cadastro de agenda e horários disponíveis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26280"/>
            <a:ext cx="48463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Ao fim da Sprint 1 já existe login, cadastro e agenda — a base sem a qual nada da Sprint 2 é demonstrável.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1965960"/>
            <a:ext cx="5394960" cy="342900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2121408"/>
            <a:ext cx="48463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12635F"/>
                </a:solidFill>
                <a:latin typeface="Calibri"/>
              </a:rPr>
              <a:t>SPRINT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450592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0">
                <a:solidFill>
                  <a:srgbClr val="495257"/>
                </a:solidFill>
                <a:latin typeface="Calibri"/>
              </a:rPr>
              <a:t>05/08 → 10/08 · 6 dias úteis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2724912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8726F"/>
                </a:solidFill>
                <a:latin typeface="Calibri"/>
              </a:rPr>
              <a:t>Meta: agendamento + confirmação + cancelamento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3090672"/>
            <a:ext cx="4846320" cy="2194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US-04  </a:t>
            </a:r>
            <a:r>
              <a:rPr sz="1250" b="0">
                <a:solidFill>
                  <a:srgbClr val="495257"/>
                </a:solidFill>
                <a:latin typeface="Calibri"/>
              </a:rPr>
              <a:t>Atualização cadastral pelo paciente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US-06  </a:t>
            </a:r>
            <a:r>
              <a:rPr sz="1250" b="0">
                <a:solidFill>
                  <a:srgbClr val="495257"/>
                </a:solidFill>
                <a:latin typeface="Calibri"/>
              </a:rPr>
              <a:t>Consulta de médicos e especialidades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US-07  </a:t>
            </a:r>
            <a:r>
              <a:rPr sz="1250" b="0">
                <a:solidFill>
                  <a:srgbClr val="495257"/>
                </a:solidFill>
                <a:latin typeface="Calibri"/>
              </a:rPr>
              <a:t>Visualização de horários disponíveis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US-08  </a:t>
            </a:r>
            <a:r>
              <a:rPr sz="1250" b="0">
                <a:solidFill>
                  <a:srgbClr val="495257"/>
                </a:solidFill>
                <a:latin typeface="Calibri"/>
              </a:rPr>
              <a:t>Solicitação de consulta pelo paciente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US-09  </a:t>
            </a:r>
            <a:r>
              <a:rPr sz="1250" b="0">
                <a:solidFill>
                  <a:srgbClr val="495257"/>
                </a:solidFill>
                <a:latin typeface="Calibri"/>
              </a:rPr>
              <a:t>Cadastro de consultas pelo atendente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US-10  </a:t>
            </a:r>
            <a:r>
              <a:rPr sz="1250" b="0">
                <a:solidFill>
                  <a:srgbClr val="495257"/>
                </a:solidFill>
                <a:latin typeface="Calibri"/>
              </a:rPr>
              <a:t>Visualização de consultas e histórico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US-11  </a:t>
            </a:r>
            <a:r>
              <a:rPr sz="1250" b="0">
                <a:solidFill>
                  <a:srgbClr val="495257"/>
                </a:solidFill>
                <a:latin typeface="Calibri"/>
              </a:rPr>
              <a:t>Cancelamento de consulta pelo paciente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US-12  </a:t>
            </a:r>
            <a:r>
              <a:rPr sz="1250" b="0">
                <a:solidFill>
                  <a:srgbClr val="495257"/>
                </a:solidFill>
                <a:latin typeface="Calibri"/>
              </a:rPr>
              <a:t>Cancelamento de consultas pelo atendente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250" b="1">
                <a:solidFill>
                  <a:srgbClr val="28726F"/>
                </a:solidFill>
                <a:latin typeface="Calibri"/>
              </a:rPr>
              <a:t>US-13  </a:t>
            </a:r>
            <a:r>
              <a:rPr sz="1250" b="0">
                <a:solidFill>
                  <a:srgbClr val="495257"/>
                </a:solidFill>
                <a:latin typeface="Calibri"/>
              </a:rPr>
              <a:t>Confirmação e finalização de consultas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532120"/>
            <a:ext cx="11109960" cy="59436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532120"/>
            <a:ext cx="10561320" cy="5943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12529"/>
                </a:solidFill>
                <a:latin typeface="Calibri"/>
              </a:rPr>
              <a:t>Regra de corte: </a:t>
            </a:r>
            <a:r>
              <a:rPr sz="1300" b="0">
                <a:solidFill>
                  <a:srgbClr val="495257"/>
                </a:solidFill>
                <a:latin typeface="Calibri"/>
              </a:rPr>
              <a:t>a User Story sai inteira — backend sem tela não vira evidência, e evidência é entregável avaliado (ADR-008 §2).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PRODUCT BACKLOG · PRIORIZAÇÃO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Prioridade — o que seria cortado primeiro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95257"/>
                </a:solidFill>
                <a:latin typeface="Calibri"/>
              </a:rPr>
              <a:t>Três níveis definidos pelo PO. O nível responde a uma pergunta só: se o prazo apertar, o que sai do MVP?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965960"/>
            <a:ext cx="11109960" cy="160020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77240" y="2148840"/>
            <a:ext cx="1463040" cy="4114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148840"/>
            <a:ext cx="1463040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P0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633472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2635F"/>
                </a:solidFill>
                <a:latin typeface="Calibri"/>
              </a:rPr>
              <a:t>Prioridade máxima — não corta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907791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Sustentam as RN01–RN05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121408"/>
            <a:ext cx="7589520" cy="1325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US-00  </a:t>
            </a:r>
            <a:r>
              <a:rPr sz="1200" b="0">
                <a:solidFill>
                  <a:srgbClr val="495257"/>
                </a:solidFill>
                <a:latin typeface="Calibri"/>
              </a:rPr>
              <a:t>Autenticação e vinculação de conta por CPF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US-01  </a:t>
            </a:r>
            <a:r>
              <a:rPr sz="1200" b="0">
                <a:solidFill>
                  <a:srgbClr val="495257"/>
                </a:solidFill>
                <a:latin typeface="Calibri"/>
              </a:rPr>
              <a:t>Gestão de especialidades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US-02  </a:t>
            </a:r>
            <a:r>
              <a:rPr sz="1200" b="0">
                <a:solidFill>
                  <a:srgbClr val="495257"/>
                </a:solidFill>
                <a:latin typeface="Calibri"/>
              </a:rPr>
              <a:t>Gestão de médicos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US-03  </a:t>
            </a:r>
            <a:r>
              <a:rPr sz="1200" b="0">
                <a:solidFill>
                  <a:srgbClr val="495257"/>
                </a:solidFill>
                <a:latin typeface="Calibri"/>
              </a:rPr>
              <a:t>Cadastro de pacientes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US-05  </a:t>
            </a:r>
            <a:r>
              <a:rPr sz="1200" b="0">
                <a:solidFill>
                  <a:srgbClr val="495257"/>
                </a:solidFill>
                <a:latin typeface="Calibri"/>
              </a:rPr>
              <a:t>Cadastro de agenda e horários disponíveis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US-08  </a:t>
            </a:r>
            <a:r>
              <a:rPr sz="1200" b="0">
                <a:solidFill>
                  <a:srgbClr val="495257"/>
                </a:solidFill>
                <a:latin typeface="Calibri"/>
              </a:rPr>
              <a:t>Solicitação de consulta pelo paciente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US-11  </a:t>
            </a:r>
            <a:r>
              <a:rPr sz="1200" b="0">
                <a:solidFill>
                  <a:srgbClr val="495257"/>
                </a:solidFill>
                <a:latin typeface="Calibri"/>
              </a:rPr>
              <a:t>Cancelamento de consulta pelo paciente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703320"/>
            <a:ext cx="11109960" cy="12344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7240" y="3886200"/>
            <a:ext cx="1463040" cy="411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886200"/>
            <a:ext cx="1463040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P1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370831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2635F"/>
                </a:solidFill>
                <a:latin typeface="Calibri"/>
              </a:rPr>
              <a:t>Importante — entra depois do P0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645152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Completam o fluxo do atendente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40480" y="3858768"/>
            <a:ext cx="75895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US-07  </a:t>
            </a:r>
            <a:r>
              <a:rPr sz="1200" b="0">
                <a:solidFill>
                  <a:srgbClr val="495257"/>
                </a:solidFill>
                <a:latin typeface="Calibri"/>
              </a:rPr>
              <a:t>Visualização de horários disponíveis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US-09  </a:t>
            </a:r>
            <a:r>
              <a:rPr sz="1200" b="0">
                <a:solidFill>
                  <a:srgbClr val="495257"/>
                </a:solidFill>
                <a:latin typeface="Calibri"/>
              </a:rPr>
              <a:t>Cadastro de consultas pelo atendente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US-12  </a:t>
            </a:r>
            <a:r>
              <a:rPr sz="1200" b="0">
                <a:solidFill>
                  <a:srgbClr val="495257"/>
                </a:solidFill>
                <a:latin typeface="Calibri"/>
              </a:rPr>
              <a:t>Cancelamento de consultas pelo atendente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US-13  </a:t>
            </a:r>
            <a:r>
              <a:rPr sz="1200" b="0">
                <a:solidFill>
                  <a:srgbClr val="495257"/>
                </a:solidFill>
                <a:latin typeface="Calibri"/>
              </a:rPr>
              <a:t>Confirmação e finalização de consultas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074920"/>
            <a:ext cx="11109960" cy="118872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77240" y="5257800"/>
            <a:ext cx="1463040" cy="41148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257800"/>
            <a:ext cx="1463040" cy="411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212529"/>
                </a:solidFill>
                <a:latin typeface="Calibri"/>
              </a:rPr>
              <a:t>P2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5742431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2635F"/>
                </a:solidFill>
                <a:latin typeface="Calibri"/>
              </a:rPr>
              <a:t>Corta primeiro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6016752"/>
            <a:ext cx="3017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Contornáveis na demonstração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5230368"/>
            <a:ext cx="75895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US-04  </a:t>
            </a:r>
            <a:r>
              <a:rPr sz="1200" b="0">
                <a:solidFill>
                  <a:srgbClr val="495257"/>
                </a:solidFill>
                <a:latin typeface="Calibri"/>
              </a:rPr>
              <a:t>Atualização cadastral pelo paciente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US-06  </a:t>
            </a:r>
            <a:r>
              <a:rPr sz="1200" b="0">
                <a:solidFill>
                  <a:srgbClr val="495257"/>
                </a:solidFill>
                <a:latin typeface="Calibri"/>
              </a:rPr>
              <a:t>Consulta de médicos e especialidades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28726F"/>
                </a:solidFill>
                <a:latin typeface="Calibri"/>
              </a:rPr>
              <a:t>US-10  </a:t>
            </a:r>
            <a:r>
              <a:rPr sz="1200" b="0">
                <a:solidFill>
                  <a:srgbClr val="495257"/>
                </a:solidFill>
                <a:latin typeface="Calibri"/>
              </a:rPr>
              <a:t>Visualização de consultas e histórico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Duas aplicações — o MVC vive no backend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 i="1">
                <a:solidFill>
                  <a:srgbClr val="495257"/>
                </a:solidFill>
                <a:latin typeface="Calibri"/>
              </a:rPr>
              <a:t>backend/ e frontend/ são processos separados. O MVC avaliado se fecha inteiro em backend/app/.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965960" cy="2286000"/>
          </a:xfrm>
          <a:prstGeom prst="roundRect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HTTP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12529"/>
                </a:solidFill>
                <a:latin typeface="Calibri"/>
              </a:rPr>
              <a:t>Requisição do cliente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496312" y="3063240"/>
            <a:ext cx="265176" cy="457200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43200" y="2148840"/>
            <a:ext cx="1965960" cy="228600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CONTROLLER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routers/ — recebe, autoriza,
chama 1 service, commita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690872" y="3063240"/>
            <a:ext cx="265176" cy="457200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937760" y="2148840"/>
            <a:ext cx="1965960" cy="22860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services/ — regra de negócio,
Strategy, orquestra repositories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885432" y="3063240"/>
            <a:ext cx="265176" cy="457200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132320" y="2148840"/>
            <a:ext cx="1965960" cy="22860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REPOSITORY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repositories/ — SQLAlchemy
isolado, só flush()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079992" y="3063240"/>
            <a:ext cx="265176" cy="457200"/>
          </a:xfrm>
          <a:prstGeom prst="right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1965960" cy="228600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2313432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834640"/>
            <a:ext cx="1783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0" i="0">
                <a:solidFill>
                  <a:srgbClr val="212529"/>
                </a:solidFill>
                <a:latin typeface="Calibri"/>
              </a:rPr>
              <a:t>models/ — colunas, relações e
constraints das RNs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44200" y="2834640"/>
            <a:ext cx="914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PG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70916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Regra de dependência única: </a:t>
            </a:r>
            <a:r>
              <a:rPr sz="1350">
                <a:solidFill>
                  <a:srgbClr val="495257"/>
                </a:solidFill>
                <a:latin typeface="Calibri"/>
              </a:rPr>
              <a:t>sempre para dentro. Service nunca importa FastAPI/HTTPException; nenhum select() em services/ — verificável por busca textual no CI.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View do MVC = schemas Pydantic, </a:t>
            </a:r>
            <a:r>
              <a:rPr sz="1350">
                <a:solidFill>
                  <a:srgbClr val="495257"/>
                </a:solidFill>
                <a:latin typeface="Calibri"/>
              </a:rPr>
              <a:t>não o app React — mesma leitura do Serializer no Django REST Framework.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b="1" sz="1350">
                <a:solidFill>
                  <a:srgbClr val="28726F"/>
                </a:solidFill>
                <a:latin typeface="Calibri"/>
              </a:rPr>
              <a:t>•  Uma requisição, uma transação: </a:t>
            </a:r>
            <a:r>
              <a:rPr sz="1350">
                <a:solidFill>
                  <a:srgbClr val="495257"/>
                </a:solidFill>
                <a:latin typeface="Calibri"/>
              </a:rPr>
              <a:t>Repository só faz flush(); quem comita é o Controller.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Frontend: componentes e rotas — e o contrato entre as duas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486400" cy="29260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Frontend não é MVC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Rota (page.tsx): navegação + guarda de perfil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Componente de tela busca dados; componente de
apresentação só recebe props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src/lib/api.ts: único ponto que conhece a URL da API,
injeta token, traduz erro em ApiError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Regra de negócio nunca duplicada no cliente
(ex.: RN04 vem pronta como pode_cancelar)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94960" cy="292608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529"/>
                </a:solidFill>
                <a:latin typeface="Calibri"/>
              </a:rPr>
              <a:t>Contrato HTTP/JSON (o acoplamento real)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945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Formato do JSON — schema Pydantic ↔ types/dominio.ts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Caminho e método da rota — router ↔ lib/api.ts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Código HTTP de erro — exceção de domínio ↔ ApiError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Mudar qualquer um dos três = 1 PR só, tocando as duas pastas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529"/>
                </a:solidFill>
                <a:latin typeface="Calibri"/>
              </a:rPr>
              <a:t>Como um erro de negócio atravessa as duas aplicações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66360"/>
            <a:ext cx="2606040" cy="8686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30368"/>
            <a:ext cx="2423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raise CpfDuplicado
(Service)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172968" y="5468112"/>
            <a:ext cx="100584" cy="274320"/>
          </a:xfrm>
          <a:prstGeom prst="rightArrow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5166360"/>
            <a:ext cx="2606040" cy="8686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5230368"/>
            <a:ext cx="2423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handler único
→ HTTP 409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16168" y="5468112"/>
            <a:ext cx="100584" cy="274320"/>
          </a:xfrm>
          <a:prstGeom prst="rightArrow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35040" y="5166360"/>
            <a:ext cx="2606040" cy="8686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5230368"/>
            <a:ext cx="2423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ApiError("CPF ja
cadastrado", 409)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659368" y="5468112"/>
            <a:ext cx="100584" cy="274320"/>
          </a:xfrm>
          <a:prstGeom prst="rightArrow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778240" y="5166360"/>
            <a:ext cx="2606040" cy="8686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5230368"/>
            <a:ext cx="24231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notification
na tela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POSTGRESQL 16 · ALEMBIC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Modelo de dados — regra de negócio garantida no banco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011680" cy="77724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7276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USUARIO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554480"/>
            <a:ext cx="201168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57276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PACIENTE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554480"/>
            <a:ext cx="2011680" cy="77724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0" y="157276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ESPECIALIDADE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017520"/>
            <a:ext cx="201168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303580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MEDICO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4480560"/>
            <a:ext cx="2377440" cy="77724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4498848"/>
            <a:ext cx="2377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HORARIO_DISPONIVEL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34640" y="4480560"/>
            <a:ext cx="2011680" cy="77724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4498848"/>
            <a:ext cx="2011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CONSULTA</a:t>
            </a:r>
          </a:p>
        </p:txBody>
      </p:sp>
      <p:cxnSp>
        <p:nvCxnSpPr>
          <p:cNvPr id="19" name="Connector 18"/>
          <p:cNvCxnSpPr/>
          <p:nvPr/>
        </p:nvCxnSpPr>
        <p:spPr>
          <a:xfrm flipH="1" flipV="1">
            <a:off x="1554480" y="1554480"/>
            <a:ext cx="2286000" cy="77724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75520" y="2331720"/>
            <a:ext cx="0" cy="68580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040880" y="3794760"/>
            <a:ext cx="2834640" cy="68580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40480" y="2331720"/>
            <a:ext cx="0" cy="214884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3840480" y="4480560"/>
            <a:ext cx="3200400" cy="777240"/>
          </a:xfrm>
          <a:prstGeom prst="bentConnector3">
            <a:avLst/>
          </a:prstGeom>
          <a:ln w="15875">
            <a:solidFill>
              <a:srgbClr val="8A9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25146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1:0..1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24688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1:N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434840"/>
            <a:ext cx="5029200" cy="21488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5720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12635F"/>
                </a:solidFill>
                <a:latin typeface="Calibri"/>
              </a:rPr>
              <a:t>Constraints que materializam as RNs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3776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RN01  </a:t>
            </a:r>
            <a:r>
              <a:rPr sz="1100">
                <a:solidFill>
                  <a:srgbClr val="495257"/>
                </a:solidFill>
                <a:latin typeface="Calibri"/>
              </a:rPr>
              <a:t>UNIQUE (cpf)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RN02  </a:t>
            </a:r>
            <a:r>
              <a:rPr sz="1100">
                <a:solidFill>
                  <a:srgbClr val="495257"/>
                </a:solidFill>
                <a:latin typeface="Calibri"/>
              </a:rPr>
              <a:t>UNIQUE (email) × 2 + UNIQUE (login) — NULL não colide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RN03  </a:t>
            </a:r>
            <a:r>
              <a:rPr sz="1100">
                <a:solidFill>
                  <a:srgbClr val="495257"/>
                </a:solidFill>
                <a:latin typeface="Calibri"/>
              </a:rPr>
              <a:t>índice único PARCIAL em consulta.horario_disponivel_id (só ativas)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RN05  </a:t>
            </a:r>
            <a:r>
              <a:rPr sz="1100">
                <a:solidFill>
                  <a:srgbClr val="495257"/>
                </a:solidFill>
                <a:latin typeface="Calibri"/>
              </a:rPr>
              <a:t>UNIQUE (medico_id, data, horario)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b="1" sz="1100">
                <a:solidFill>
                  <a:srgbClr val="28726F"/>
                </a:solidFill>
                <a:latin typeface="Calibri"/>
              </a:rPr>
              <a:t>•  RN06  </a:t>
            </a:r>
            <a:r>
              <a:rPr sz="1100">
                <a:solidFill>
                  <a:srgbClr val="495257"/>
                </a:solidFill>
                <a:latin typeface="Calibri"/>
              </a:rPr>
              <a:t>ENUM status_consulta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SOLID COMPLEMENTAR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3 práticas de Clean Code — nas duas stacks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3611880" cy="19659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2635F"/>
                </a:solidFill>
                <a:latin typeface="Calibri"/>
              </a:rPr>
              <a:t>1. Nomes significativos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95257"/>
                </a:solidFill>
                <a:latin typeface="Calibri"/>
              </a:rPr>
              <a:t>StatusConsulta.CANCELADA em vez de status == 3;
settings.CANCELAMENTO_ANTECEDENCIA_HORAS
em vez de 24 hardcoded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00200"/>
            <a:ext cx="3611880" cy="19659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783080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2635F"/>
                </a:solidFill>
                <a:latin typeface="Calibri"/>
              </a:rPr>
              <a:t>2. Funções pequenas, 1 responsabilidade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23160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95257"/>
                </a:solidFill>
                <a:latin typeface="Calibri"/>
              </a:rPr>
              <a:t>cancelar() só orquestra: busca →
valida dono e transição → Strategy →
muda estado → libera slot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600200"/>
            <a:ext cx="3611880" cy="19659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1783080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2635F"/>
                </a:solidFill>
                <a:latin typeface="Calibri"/>
              </a:rPr>
              <a:t>3. Exceções tipadas, não código de erro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423160"/>
            <a:ext cx="3154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95257"/>
                </a:solidFill>
                <a:latin typeface="Calibri"/>
              </a:rPr>
              <a:t>raise CpfDuplicado, nunca
return {"error": "..."}; 1 handler
central traduz para HTTP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Exemplo — a mesma prática (exceção tipada) nas duas stacks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5394960" cy="201168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8912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1D1CF"/>
                </a:solidFill>
                <a:latin typeface="Calibri"/>
              </a:rPr>
              <a:t>backend/app/services/paciente_service.py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0916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9ECEF"/>
                </a:solidFill>
                <a:latin typeface="Consolas"/>
              </a:rPr>
              <a:t>def _garantir_cpf_inedito(self, cpf):
    if self.repositorio.buscar_por_cpf(cpf):
        raise CpfDuplicado  # RN01
# handler unico traduz p/ HTTP 409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51960"/>
            <a:ext cx="5394960" cy="201168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38912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B1D1CF"/>
                </a:solidFill>
                <a:latin typeface="Calibri"/>
              </a:rPr>
              <a:t>frontend/src/app/(atendente)/pacientes/page.tsx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709160"/>
            <a:ext cx="49377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E9ECEF"/>
                </a:solidFill>
                <a:latin typeface="Consolas"/>
              </a:rPr>
              <a:t>catch (erro) {
  if (erro instanceof ApiError)
    notifications.show({message: erro.message})
}
// mensagem vem pronta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GOF · ADR-006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2 Design Patterns do backend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394960" cy="46634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Strategy — regra de cancelamento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Problema: paciente cancela só com ≥24h (RN04); atendente
cancela sempre. if perfil == ... violaria OCP.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880360"/>
            <a:ext cx="3749039" cy="50292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16936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«abstract» CancelamentoStrategy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920240" y="3456432"/>
            <a:ext cx="228600" cy="365760"/>
          </a:xfrm>
          <a:prstGeom prst="down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wn Arrow 12"/>
          <p:cNvSpPr/>
          <p:nvPr/>
        </p:nvSpPr>
        <p:spPr>
          <a:xfrm>
            <a:off x="3703320" y="3456432"/>
            <a:ext cx="228600" cy="365760"/>
          </a:xfrm>
          <a:prstGeom prst="downArrow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188720" y="3913632"/>
            <a:ext cx="1783080" cy="6858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3950208"/>
            <a:ext cx="16916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CancelamentoPor
Paciente (RN04)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54680" y="3913632"/>
            <a:ext cx="1783080" cy="6858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950208"/>
            <a:ext cx="16916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CancelamentoPor
Atendente (US-12)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84632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495257"/>
                </a:solidFill>
                <a:latin typeface="Calibri"/>
              </a:rPr>
              <a:t>•  Perfil novo = classe nova; service intacto (OCP)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495257"/>
                </a:solidFill>
                <a:latin typeface="Calibri"/>
              </a:rPr>
              <a:t>•  agora é parâmetro → teste determinístico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200">
                <a:solidFill>
                  <a:srgbClr val="495257"/>
                </a:solidFill>
                <a:latin typeface="Calibri"/>
              </a:rPr>
              <a:t>•  24h vem de settings, nunca hardcoded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08760"/>
            <a:ext cx="5394960" cy="466344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529"/>
                </a:solidFill>
                <a:latin typeface="Calibri"/>
              </a:rPr>
              <a:t>Repository — isola o acesso a dados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10312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Problema: SQLAlchemy direto no service acopla regra a
banco e exige PostgreSQL rodando para testar RN01.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2880360"/>
            <a:ext cx="3749039" cy="50292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2916936"/>
            <a:ext cx="374903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«abstract» RepositorioBase&lt;T&gt;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7635240" y="3456432"/>
            <a:ext cx="228600" cy="365760"/>
          </a:xfrm>
          <a:prstGeom prst="downArrow">
            <a:avLst/>
          </a:prstGeom>
          <a:solidFill>
            <a:srgbClr val="495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wn Arrow 24"/>
          <p:cNvSpPr/>
          <p:nvPr/>
        </p:nvSpPr>
        <p:spPr>
          <a:xfrm>
            <a:off x="9418320" y="3456432"/>
            <a:ext cx="228600" cy="365760"/>
          </a:xfrm>
          <a:prstGeom prst="downArrow">
            <a:avLst/>
          </a:prstGeom>
          <a:solidFill>
            <a:srgbClr val="4952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03720" y="3913632"/>
            <a:ext cx="1783080" cy="6858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3950208"/>
            <a:ext cx="16916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PacienteRepository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3913632"/>
            <a:ext cx="1783080" cy="685800"/>
          </a:xfrm>
          <a:prstGeom prst="roundRect">
            <a:avLst/>
          </a:prstGeom>
          <a:solidFill>
            <a:srgbClr val="8A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15400" y="3950208"/>
            <a:ext cx="16916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212529"/>
                </a:solidFill>
                <a:latin typeface="Calibri"/>
              </a:rPr>
              <a:t>FakePaciente
Repository (teste)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846320"/>
            <a:ext cx="48463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b="1" sz="1200">
                <a:solidFill>
                  <a:srgbClr val="28726F"/>
                </a:solidFill>
                <a:latin typeface="Calibri"/>
              </a:rPr>
              <a:t>•  Fakes de repositório </a:t>
            </a:r>
            <a:r>
              <a:rPr sz="1200">
                <a:solidFill>
                  <a:srgbClr val="495257"/>
                </a:solidFill>
                <a:latin typeface="Calibri"/>
              </a:rPr>
              <a:t>fazem a suíte unitária rodar sem PostgreSQL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b="1" sz="1200">
                <a:solidFill>
                  <a:srgbClr val="28726F"/>
                </a:solidFill>
                <a:latin typeface="Calibri"/>
              </a:rPr>
              <a:t>•  SELECT ... FOR UPDATE </a:t>
            </a:r>
            <a:r>
              <a:rPr sz="1200">
                <a:solidFill>
                  <a:srgbClr val="495257"/>
                </a:solidFill>
                <a:latin typeface="Calibri"/>
              </a:rPr>
              <a:t>encapsulado em 1 linha (concorrência, US-08)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DIFERENCIAL DO TRABALHO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Conflitos do enunciado e decisões (ADRs)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3619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3619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Quem cadastra o paciente?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Um único endpoint converge os dois caminhos: ativa
credencial existente OU cria cadastro + login juntos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9631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9631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De onde vem o 1º atendente?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Seed idempotente via .env; nenhuma rota pública cria
atendente (RN14) — CI roda o seed 2× para provar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5643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UNIQUE no slot travava reagendar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Índice único PARCIAL — só considera consultas ativas;
CANCELADA sai do índice e libera o horário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1655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1655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Nada leva a CONFIRMADA/FINALIZADA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006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US-13 criada: sem ela a RN06 teria status morto,
nunca demonstrável por teste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00200"/>
            <a:ext cx="5394960" cy="461772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78308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2635F"/>
                </a:solidFill>
                <a:latin typeface="Calibri"/>
              </a:rPr>
              <a:t>9 ADRs registrados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224028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ADR-001 — Monorepo com backend/ e frontend/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ADR-002 — Camadas Controller → Service → Repository → Model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ADR-003 — Login flexível CPF ou e-mail com JWT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ADR-004 — Seed idempotente + RN14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ADR-005 — Auto-cadastro e cadastro por atendente convergindo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ADR-006 — Strategy + Repository; índice parcial (RN03)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ADR-007 — Vitest no Next.js (setup oficial), não Jest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ADR-008 — Rebaseline de escopo (14 US) + separação back/front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250">
                <a:solidFill>
                  <a:srgbClr val="495257"/>
                </a:solidFill>
                <a:latin typeface="Calibri"/>
              </a:rPr>
              <a:t>•  ADR-009 — Inativação entra no MVP (RN16/RN17)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3" name="Rectangle 6 copia"/>
          <p:cNvSpPr/>
          <p:nvPr/>
        </p:nvSpPr>
        <p:spPr>
          <a:xfrm>
            <a:off x="548640" y="5376672"/>
            <a:ext cx="82296" cy="8138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7 copia"/>
          <p:cNvSpPr txBox="1"/>
          <p:nvPr/>
        </p:nvSpPr>
        <p:spPr>
          <a:xfrm>
            <a:off x="777240" y="5376672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12529"/>
                </a:solidFill>
                <a:latin typeface="Calibri"/>
              </a:rPr>
              <a:t>O código passou o escopo congelado</a:t>
            </a:r>
          </a:p>
        </p:txBody>
      </p:sp>
      <p:sp>
        <p:nvSpPr>
          <p:cNvPr id="25" name="TextBox 8 copia"/>
          <p:cNvSpPr txBox="1"/>
          <p:nvPr/>
        </p:nvSpPr>
        <p:spPr>
          <a:xfrm>
            <a:off x="777240" y="576072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495257"/>
                </a:solidFill>
                <a:latin typeface="Calibri"/>
              </a:rPr>
              <a:t>Auditoria achou a inativação já mergeada: o PO formalizou no
ADR-009 em vez de descartar trabalho revisado e testado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ESTRATÉGIA DE ENTREGA · 1/3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Git Flow — o modelo de branches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95257"/>
                </a:solidFill>
                <a:latin typeface="Calibri"/>
              </a:rPr>
              <a:t>main ← develop ← feature/fix/docs — 2 ramos protegidos, 1 aprovação + quality-gate obrigatórios em ambos.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54480" y="2377440"/>
            <a:ext cx="10104120" cy="54864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54480" y="3794759"/>
            <a:ext cx="10104120" cy="54864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720840" y="3063240"/>
            <a:ext cx="1463040" cy="54864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651760" y="4521707"/>
            <a:ext cx="548640" cy="4572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20640" y="4521707"/>
            <a:ext cx="548640" cy="4572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138160" y="4521707"/>
            <a:ext cx="548640" cy="4572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011680" y="2404872"/>
            <a:ext cx="0" cy="1417319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446520" y="3090672"/>
            <a:ext cx="274320" cy="731519"/>
          </a:xfrm>
          <a:prstGeom prst="line">
            <a:avLst/>
          </a:prstGeom>
          <a:ln w="22225">
            <a:solidFill>
              <a:srgbClr val="4493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183879" y="2404872"/>
            <a:ext cx="502921" cy="685800"/>
          </a:xfrm>
          <a:prstGeom prst="line">
            <a:avLst/>
          </a:prstGeom>
          <a:ln w="22225">
            <a:solidFill>
              <a:srgbClr val="4493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37744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20040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231343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41071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59689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14553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84632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566928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78231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7959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06577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1441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>
            <a:off x="786384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8686800" y="3822191"/>
            <a:ext cx="274320" cy="722377"/>
          </a:xfrm>
          <a:prstGeom prst="line">
            <a:avLst/>
          </a:prstGeom>
          <a:ln w="19050">
            <a:solidFill>
              <a:srgbClr val="B1D1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7799831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897112" y="3758183"/>
            <a:ext cx="128016" cy="128016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08329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631936" y="4489704"/>
            <a:ext cx="109728" cy="109728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938528" y="2331720"/>
            <a:ext cx="146304" cy="146304"/>
          </a:xfrm>
          <a:prstGeom prst="ellipse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8613648" y="2331720"/>
            <a:ext cx="146304" cy="146304"/>
          </a:xfrm>
          <a:prstGeom prst="ellipse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356848" y="2331720"/>
            <a:ext cx="146304" cy="146304"/>
          </a:xfrm>
          <a:prstGeom prst="ellipse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938528" y="3749039"/>
            <a:ext cx="146304" cy="146304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373368" y="3749039"/>
            <a:ext cx="146304" cy="146304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356848" y="3749039"/>
            <a:ext cx="146304" cy="146304"/>
          </a:xfrm>
          <a:prstGeom prst="ellipse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119871" y="3026664"/>
            <a:ext cx="128016" cy="128016"/>
          </a:xfrm>
          <a:prstGeom prst="ellipse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258568"/>
            <a:ext cx="960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12635F"/>
                </a:solidFill>
                <a:latin typeface="Calibri"/>
              </a:rPr>
              <a:t>main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3675887"/>
            <a:ext cx="9601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15000"/>
              </a:lnSpc>
            </a:pPr>
            <a:r>
              <a:rPr sz="1300" b="1">
                <a:solidFill>
                  <a:srgbClr val="28726F"/>
                </a:solidFill>
                <a:latin typeface="Calibri"/>
              </a:rPr>
              <a:t>develop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84080" y="2020824"/>
            <a:ext cx="1874519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8A9399"/>
                </a:solidFill>
                <a:latin typeface="Calibri"/>
              </a:rPr>
              <a:t>produção (protegida)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3913631"/>
            <a:ext cx="1874519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8A9399"/>
                </a:solidFill>
                <a:latin typeface="Calibri"/>
              </a:rPr>
              <a:t>integração (protegida)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20840" y="2770632"/>
            <a:ext cx="14630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1">
                <a:solidFill>
                  <a:srgbClr val="44938F"/>
                </a:solidFill>
                <a:latin typeface="Calibri"/>
              </a:rPr>
              <a:t>release/1.0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31720" y="4690872"/>
            <a:ext cx="11887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8A9399"/>
                </a:solidFill>
                <a:latin typeface="Calibri"/>
              </a:rPr>
              <a:t>feature/us01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800600" y="4690872"/>
            <a:ext cx="11887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8A9399"/>
                </a:solidFill>
                <a:latin typeface="Calibri"/>
              </a:rPr>
              <a:t>feature/us08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18120" y="4690872"/>
            <a:ext cx="11887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8A9399"/>
                </a:solidFill>
                <a:latin typeface="Calibri"/>
              </a:rPr>
              <a:t>fix/us11-fuso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26880" y="4498848"/>
            <a:ext cx="2331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8A9399"/>
                </a:solidFill>
                <a:latin typeface="Calibri"/>
              </a:rPr>
              <a:t>feature/* · fix/* · docs/* nascem e morrem em develop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48640" y="5230368"/>
            <a:ext cx="11109960" cy="6400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2960" y="5230368"/>
            <a:ext cx="10561320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12529"/>
                </a:solidFill>
                <a:latin typeface="Calibri"/>
              </a:rPr>
              <a:t>Fluxo diário: </a:t>
            </a:r>
            <a:r>
              <a:rPr sz="1150" b="0">
                <a:solidFill>
                  <a:srgbClr val="495257"/>
                </a:solidFill>
                <a:latin typeface="Calibri"/>
              </a:rPr>
              <a:t>git switch -c feature/us08-solicitar-consulta  →  commits pequenos  →  git rebase develop  →  make lint &amp;&amp; make test  →  gh pr create --base develop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0" y="5989320"/>
            <a:ext cx="11109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12529"/>
                </a:solidFill>
                <a:latin typeface="Calibri"/>
              </a:rPr>
              <a:t>Rebase, não merge, na branch de trabalho: </a:t>
            </a:r>
            <a:r>
              <a:rPr sz="1200" b="0">
                <a:solidFill>
                  <a:srgbClr val="495257"/>
                </a:solidFill>
                <a:latin typeface="Calibri"/>
              </a:rPr>
              <a:t>mantém o histórico linear e o git log legível na apresentação.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ESTRATÉGIA DE ENTREGA · 2/3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Conventional Commits e code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12529"/>
                </a:solidFill>
                <a:latin typeface="Calibri"/>
              </a:rPr>
              <a:t>&lt;tipo&gt;(&lt;escopo&gt;): &lt;o que mudou, imperativo, minúsculo&gt; (&lt;RN&gt;)</a:t>
            </a:r>
            <a:r>
              <a:rPr sz="1300" b="0">
                <a:solidFill>
                  <a:srgbClr val="495257"/>
                </a:solidFill>
                <a:latin typeface="Calibri"/>
              </a:rPr>
              <a:t>  —  tipos: feat · fix · docs · test · refactor · chore · ci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920240"/>
            <a:ext cx="5394960" cy="182880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2635F"/>
                </a:solidFill>
                <a:latin typeface="Calibri"/>
              </a:rPr>
              <a:t>Commits bons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395728"/>
            <a:ext cx="484632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feat(consulta): impede reserva de horario ja ocupado (RN03)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495257"/>
                </a:solidFill>
                <a:latin typeface="Calibri"/>
              </a:rPr>
              <a:t>fix(consulta): corrige fuso no calculo das 24h (RN15) (#12)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495257"/>
                </a:solidFill>
                <a:latin typeface="Calibri"/>
              </a:rPr>
              <a:t>test(agenda): cobre bloqueio de alocacao dupla (RN05)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495257"/>
                </a:solidFill>
                <a:latin typeface="Calibri"/>
              </a:rPr>
              <a:t>docs(adr): registra escolha de Strategy para cancelamento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1920240"/>
            <a:ext cx="5394960" cy="182880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C92A2A"/>
                </a:solidFill>
                <a:latin typeface="Calibri"/>
              </a:rPr>
              <a:t>Commits ruins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2395728"/>
            <a:ext cx="484632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212529"/>
                </a:solidFill>
                <a:latin typeface="Calibri"/>
              </a:rPr>
              <a:t>ajustes</a:t>
            </a:r>
            <a:r>
              <a:rPr sz="1150" b="0">
                <a:solidFill>
                  <a:srgbClr val="8A9399"/>
                </a:solidFill>
                <a:latin typeface="Calibri"/>
              </a:rPr>
              <a:t>   ← o que foi ajustado?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212529"/>
                </a:solidFill>
                <a:latin typeface="Calibri"/>
              </a:rPr>
              <a:t>wip</a:t>
            </a:r>
            <a:r>
              <a:rPr sz="1150" b="0">
                <a:solidFill>
                  <a:srgbClr val="8A9399"/>
                </a:solidFill>
                <a:latin typeface="Calibri"/>
              </a:rPr>
              <a:t>   ← não commite WIP em branch que vira PR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212529"/>
                </a:solidFill>
                <a:latin typeface="Calibri"/>
              </a:rPr>
              <a:t>correções finais</a:t>
            </a:r>
            <a:r>
              <a:rPr sz="1150" b="0">
                <a:solidFill>
                  <a:srgbClr val="8A9399"/>
                </a:solidFill>
                <a:latin typeface="Calibri"/>
              </a:rPr>
              <a:t>   ← não diz nada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50" b="0">
                <a:solidFill>
                  <a:srgbClr val="212529"/>
                </a:solidFill>
                <a:latin typeface="Calibri"/>
              </a:rPr>
              <a:t>feat: várias coisas</a:t>
            </a:r>
            <a:r>
              <a:rPr sz="1150" b="0">
                <a:solidFill>
                  <a:srgbClr val="8A9399"/>
                </a:solidFill>
                <a:latin typeface="Calibri"/>
              </a:rPr>
              <a:t>   ← um commit, uma ideia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840480"/>
            <a:ext cx="11109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212529"/>
                </a:solidFill>
                <a:latin typeface="Calibri"/>
              </a:rPr>
              <a:t>Um commit = uma ideia. Se a mensagem precisa de "e", divida o commit.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206240"/>
            <a:ext cx="5394960" cy="19202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343400"/>
            <a:ext cx="48463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2635F"/>
                </a:solidFill>
                <a:latin typeface="Calibri"/>
              </a:rPr>
              <a:t>Checklist de code review — 1 a 4 reprovam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681728"/>
            <a:ext cx="484632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28726F"/>
                </a:solidFill>
                <a:latin typeface="Calibri"/>
              </a:rPr>
              <a:t>1   </a:t>
            </a:r>
            <a:r>
              <a:rPr sz="1100" b="0">
                <a:solidFill>
                  <a:srgbClr val="495257"/>
                </a:solidFill>
                <a:latin typeface="Calibri"/>
              </a:rPr>
              <a:t>Vazamento de camada — HTTPException/select em service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2   </a:t>
            </a:r>
            <a:r>
              <a:rPr sz="1100" b="0">
                <a:solidFill>
                  <a:srgbClr val="495257"/>
                </a:solidFill>
                <a:latin typeface="Calibri"/>
              </a:rPr>
              <a:t>if perfil == onde deveria haver Strategy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3   </a:t>
            </a:r>
            <a:r>
              <a:rPr sz="1100" b="0">
                <a:solidFill>
                  <a:srgbClr val="495257"/>
                </a:solidFill>
                <a:latin typeface="Calibri"/>
              </a:rPr>
              <a:t>RN sem teste, ou teste cujo nome não cita a RN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4   </a:t>
            </a:r>
            <a:r>
              <a:rPr sz="1100" b="0">
                <a:solidFill>
                  <a:srgbClr val="495257"/>
                </a:solidFill>
                <a:latin typeface="Calibri"/>
              </a:rPr>
              <a:t>Paciente agindo sobre id que não veio do token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5   </a:t>
            </a:r>
            <a:r>
              <a:rPr sz="1100" b="0">
                <a:solidFill>
                  <a:srgbClr val="495257"/>
                </a:solidFill>
                <a:latin typeface="Calibri"/>
              </a:rPr>
              <a:t>Número mágico em vez de settings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6   </a:t>
            </a:r>
            <a:r>
              <a:rPr sz="1100" b="0">
                <a:solidFill>
                  <a:srgbClr val="495257"/>
                </a:solidFill>
                <a:latin typeface="Calibri"/>
              </a:rPr>
              <a:t>any no TypeScript, fetch direto em componente</a:t>
            </a:r>
          </a:p>
          <a:p>
            <a:pPr>
              <a:lnSpc>
                <a:spcPct val="115000"/>
              </a:lnSpc>
              <a:spcBef>
                <a:spcPts val="200"/>
              </a:spcBef>
            </a:pPr>
            <a:r>
              <a:rPr sz="1100" b="1">
                <a:solidFill>
                  <a:srgbClr val="28726F"/>
                </a:solidFill>
                <a:latin typeface="Calibri"/>
              </a:rPr>
              <a:t>7   </a:t>
            </a:r>
            <a:r>
              <a:rPr sz="1100" b="0">
                <a:solidFill>
                  <a:srgbClr val="495257"/>
                </a:solidFill>
                <a:latin typeface="Calibri"/>
              </a:rPr>
              <a:t>print / console.log esquecido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206240"/>
            <a:ext cx="5394960" cy="1920240"/>
          </a:xfrm>
          <a:prstGeom prst="round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4343400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B1D1CF"/>
                </a:solidFill>
                <a:latin typeface="Calibri"/>
              </a:rPr>
              <a:t>Verificação por busca textual — objetiva, não opinativa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4681728"/>
            <a:ext cx="493776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E9ECEF"/>
                </a:solidFill>
                <a:latin typeface="Calibri"/>
              </a:rPr>
              <a:t>grep -rn "HTTPException\|select(" backend/app/services/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E9ECEF"/>
                </a:solidFill>
                <a:latin typeface="Calibri"/>
              </a:rPr>
              <a:t>grep -rn "\.commit()" backend/app/repositories/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E9ECEF"/>
                </a:solidFill>
                <a:latin typeface="Calibri"/>
              </a:rPr>
              <a:t>grep -rn "console.log" frontend/src/</a:t>
            </a:r>
          </a:p>
          <a:p>
            <a:pPr>
              <a:lnSpc>
                <a:spcPct val="115000"/>
              </a:lnSpc>
            </a:pPr>
            <a:r>
              <a:rPr sz="1050" b="0">
                <a:solidFill>
                  <a:srgbClr val="E9ECEF"/>
                </a:solidFill>
                <a:latin typeface="Calibri"/>
              </a:rPr>
              <a:t># os tres devem devolver vazio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5532120"/>
            <a:ext cx="49377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B1D1CF"/>
                </a:solidFill>
                <a:latin typeface="Calibri"/>
              </a:rPr>
              <a:t>PR acima de ~400 linhas alteradas é dividido: revisão de PR grande é revisão superficial.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ESTRATÉGIA DE ENTREGA · 3/3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O board — o que cada coluna significa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95257"/>
                </a:solidFill>
                <a:latin typeface="Calibri"/>
              </a:rPr>
              <a:t>GitHub Projects. A coluna diz em que mão o item está; o limite de WIP diz quantos itens aquela mão aguenta.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48640" y="1965960"/>
            <a:ext cx="1737360" cy="457200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212529"/>
                </a:solidFill>
                <a:latin typeface="Calibri"/>
              </a:rPr>
              <a:t>To 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sem limite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Priorizado e refinado, ainda não iniciado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432304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432304" y="1965960"/>
            <a:ext cx="1737360" cy="4572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32304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 Dev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304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WIP 2 por pessoa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78024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Alguém desenvolvendo, com responsável atribuído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15968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315968" y="1965960"/>
            <a:ext cx="1737360" cy="4572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15968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Code Review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WIP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61688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PR aberto aguardando revisão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99631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9631" y="1965960"/>
            <a:ext cx="1737360" cy="4572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9631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In QA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9631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WIP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45351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QA executando o caso de teste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83296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083296" y="1965960"/>
            <a:ext cx="1737360" cy="457200"/>
          </a:xfrm>
          <a:prstGeom prst="roundRect">
            <a:avLst/>
          </a:prstGeom>
          <a:solidFill>
            <a:srgbClr val="F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83296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UAT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83296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sem limite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29016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PO validando os critérios de aceite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66960" y="1965960"/>
            <a:ext cx="1737360" cy="1874519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966960" y="1965960"/>
            <a:ext cx="1737360" cy="45720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66960" y="1965960"/>
            <a:ext cx="173736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960" y="2487168"/>
            <a:ext cx="17373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12635F"/>
                </a:solidFill>
                <a:latin typeface="Calibri"/>
              </a:rPr>
              <a:t>sem limite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12680" y="2788920"/>
            <a:ext cx="1645920" cy="9601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95257"/>
                </a:solidFill>
                <a:latin typeface="Calibri"/>
              </a:rPr>
              <a:t>Merge em develop + critérios aprovados pelo PO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4114800"/>
            <a:ext cx="5394960" cy="1051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233672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2635F"/>
                </a:solidFill>
                <a:latin typeface="Calibri"/>
              </a:rPr>
              <a:t>WIP limit de 2 por pessoa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4553712"/>
            <a:ext cx="493776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O material do curso aponta “muitas tarefas em paralelo” e “não há limite de WIP” como as causas do atraso no case da EdTech.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263640" y="4114800"/>
            <a:ext cx="5394960" cy="1051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4233672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12635F"/>
                </a:solidFill>
                <a:latin typeface="Calibri"/>
              </a:rPr>
              <a:t>UAT separado de Done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37960" y="4553712"/>
            <a:ext cx="493776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Deixa visível o que a engenharia terminou e o PO ainda não aprovou. “Está pronto no meu computador” não é Done.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5349240"/>
            <a:ext cx="11109960" cy="77724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2960" y="5349240"/>
            <a:ext cx="10561320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12529"/>
                </a:solidFill>
                <a:latin typeface="Calibri"/>
              </a:rPr>
              <a:t>Débito técnico também vira item: </a:t>
            </a:r>
            <a:r>
              <a:rPr sz="1200" b="0">
                <a:solidFill>
                  <a:srgbClr val="495257"/>
                </a:solidFill>
                <a:latin typeface="Calibri"/>
              </a:rPr>
              <a:t>antipadrão encontrado entra no board com a label tech-debt, em vez de virar comentário perdido no PR.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PLANO DE TESTES ·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Pirâmide de testes e cobertura das 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212529"/>
                </a:solidFill>
                <a:latin typeface="Calibri"/>
              </a:rPr>
              <a:t>Critério norteador: </a:t>
            </a:r>
            <a:r>
              <a:rPr sz="1400" b="0">
                <a:solidFill>
                  <a:srgbClr val="495257"/>
                </a:solidFill>
                <a:latin typeface="Calibri"/>
              </a:rPr>
              <a:t>toda regra de negócio tem ao menos um teste que a viola e espera bloqueio.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1965960"/>
            <a:ext cx="1828800" cy="658368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1965960"/>
            <a:ext cx="1828800" cy="6583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212529"/>
                </a:solidFill>
                <a:latin typeface="Calibri"/>
              </a:rPr>
              <a:t>Exploratório · 3 sessões (EXP-01 a EXP-03)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45920" y="2697480"/>
            <a:ext cx="2926080" cy="658368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20" y="2697480"/>
            <a:ext cx="2926080" cy="6583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Funcional manual · CT01–CT14 com evidência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7280" y="3429000"/>
            <a:ext cx="4023360" cy="658368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429000"/>
            <a:ext cx="4023360" cy="6583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Integração · TestClient + PostgreSQL real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60520"/>
            <a:ext cx="5120640" cy="658368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160520"/>
            <a:ext cx="5120640" cy="65836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Unitário · fakes de repositório, sem banco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983480"/>
            <a:ext cx="512064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Cada nível responde a uma pergunta diferente: o unitário prova a regra isolada; o exploratório procura o que ninguém escreveu no roteiro.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1965960"/>
            <a:ext cx="5394960" cy="192024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103120"/>
            <a:ext cx="49377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12635F"/>
                </a:solidFill>
                <a:latin typeface="Calibri"/>
              </a:rPr>
              <a:t>O que a suíte entrega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468880"/>
            <a:ext cx="493776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17/17 </a:t>
            </a:r>
            <a:r>
              <a:rPr sz="1250" b="0">
                <a:solidFill>
                  <a:srgbClr val="495257"/>
                </a:solidFill>
                <a:latin typeface="Calibri"/>
              </a:rPr>
              <a:t>regras de negócio com teste rastreado</a:t>
            </a:r>
          </a:p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95 </a:t>
            </a:r>
            <a:r>
              <a:rPr sz="1250" b="0">
                <a:solidFill>
                  <a:srgbClr val="495257"/>
                </a:solidFill>
                <a:latin typeface="Calibri"/>
              </a:rPr>
              <a:t>testes no backend (pytest)</a:t>
            </a:r>
          </a:p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116 </a:t>
            </a:r>
            <a:r>
              <a:rPr sz="1250" b="0">
                <a:solidFill>
                  <a:srgbClr val="495257"/>
                </a:solidFill>
                <a:latin typeface="Calibri"/>
              </a:rPr>
              <a:t>testes no frontend (Vitest, 18 arquivos)</a:t>
            </a:r>
          </a:p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14/14 </a:t>
            </a:r>
            <a:r>
              <a:rPr sz="1250" b="0">
                <a:solidFill>
                  <a:srgbClr val="495257"/>
                </a:solidFill>
                <a:latin typeface="Calibri"/>
              </a:rPr>
              <a:t>casos de teste funcionais aprovados</a:t>
            </a:r>
          </a:p>
          <a:p>
            <a:pPr>
              <a:lnSpc>
                <a:spcPct val="115000"/>
              </a:lnSpc>
            </a:pPr>
            <a:r>
              <a:rPr sz="1250" b="1">
                <a:solidFill>
                  <a:srgbClr val="28726F"/>
                </a:solidFill>
                <a:latin typeface="Calibri"/>
              </a:rPr>
              <a:t>•  84% </a:t>
            </a:r>
            <a:r>
              <a:rPr sz="1250" b="0">
                <a:solidFill>
                  <a:srgbClr val="495257"/>
                </a:solidFill>
                <a:latin typeface="Calibri"/>
              </a:rPr>
              <a:t>de cobertura de código no backend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5394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212529"/>
                </a:solidFill>
                <a:latin typeface="Calibri"/>
              </a:rPr>
              <a:t>Matriz de cobertura — 4 das 17 linhas reais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370832"/>
            <a:ext cx="5394960" cy="38404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370832"/>
            <a:ext cx="512064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8726F"/>
                </a:solidFill>
                <a:latin typeface="Calibri"/>
              </a:rPr>
              <a:t>RN03  </a:t>
            </a:r>
            <a:r>
              <a:rPr sz="1150" b="0">
                <a:solidFill>
                  <a:srgbClr val="495257"/>
                </a:solidFill>
                <a:latin typeface="Calibri"/>
              </a:rPr>
              <a:t>horário ocupado · CTU03 · CT05 e CT10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800600"/>
            <a:ext cx="5394960" cy="38404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4800600"/>
            <a:ext cx="512064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8726F"/>
                </a:solidFill>
                <a:latin typeface="Calibri"/>
              </a:rPr>
              <a:t>RN04  </a:t>
            </a:r>
            <a:r>
              <a:rPr sz="1150" b="0">
                <a:solidFill>
                  <a:srgbClr val="495257"/>
                </a:solidFill>
                <a:latin typeface="Calibri"/>
              </a:rPr>
              <a:t>antecedência de 24h · CTU04 · CT06 e CT07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230368"/>
            <a:ext cx="5394960" cy="38404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5230368"/>
            <a:ext cx="512064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8726F"/>
                </a:solidFill>
                <a:latin typeface="Calibri"/>
              </a:rPr>
              <a:t>RN16  </a:t>
            </a:r>
            <a:r>
              <a:rPr sz="1150" b="0">
                <a:solidFill>
                  <a:srgbClr val="495257"/>
                </a:solidFill>
                <a:latin typeface="Calibri"/>
              </a:rPr>
              <a:t>médico inativo · CTU12 · agenda vazia + 409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5660136"/>
            <a:ext cx="5394960" cy="384048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5660136"/>
            <a:ext cx="512064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8726F"/>
                </a:solidFill>
                <a:latin typeface="Calibri"/>
              </a:rPr>
              <a:t>RN17  </a:t>
            </a:r>
            <a:r>
              <a:rPr sz="1150" b="0">
                <a:solidFill>
                  <a:srgbClr val="495257"/>
                </a:solidFill>
                <a:latin typeface="Calibri"/>
              </a:rPr>
              <a:t>especialidade inativa · CTU13 · barra o novo sem cascatear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GESTÃO DE DEFEITOS ·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Do bug encontrado ao bug fechado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95257"/>
                </a:solidFill>
                <a:latin typeface="Calibri"/>
              </a:rPr>
              <a:t>O EXP-02 é esse processo rodando de verdade: 3 bugs achados em sessão exploratória e 3 corrigidos.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2011680"/>
            <a:ext cx="1645920" cy="68580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QA encontra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2240280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432304" y="2011680"/>
            <a:ext cx="1645920" cy="6858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32304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Issue com bug.yml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23944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315968" y="2011680"/>
            <a:ext cx="1645920" cy="6858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Item no board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6007608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99631" y="2011680"/>
            <a:ext cx="1645920" cy="68580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99631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PR: fix + teste de regressão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891271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83296" y="2011680"/>
            <a:ext cx="1645920" cy="68580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CI verde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9774936" y="2267712"/>
            <a:ext cx="146304" cy="182880"/>
          </a:xfrm>
          <a:prstGeom prst="rightArrow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966960" y="2011680"/>
            <a:ext cx="1645920" cy="68580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966960" y="2011680"/>
            <a:ext cx="1645920" cy="6858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Calibri"/>
              </a:rPr>
              <a:t>QA reexecuta →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926080"/>
            <a:ext cx="5394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212529"/>
                </a:solidFill>
                <a:latin typeface="Calibri"/>
              </a:rPr>
              <a:t>Severidade e SLA dentro da sprint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3291840"/>
            <a:ext cx="1051560" cy="384048"/>
          </a:xfrm>
          <a:prstGeom prst="roundRect">
            <a:avLst/>
          </a:prstGeom>
          <a:solidFill>
            <a:srgbClr val="C9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291840"/>
            <a:ext cx="10515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Crítica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91640" y="3291840"/>
            <a:ext cx="42519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bloqueia fluxo ou viola RN01–RN06 · mesmo 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3749039"/>
            <a:ext cx="1051560" cy="384048"/>
          </a:xfrm>
          <a:prstGeom prst="roundRect">
            <a:avLst/>
          </a:prstGeom>
          <a:solidFill>
            <a:srgbClr val="F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749039"/>
            <a:ext cx="10515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Alta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91640" y="3749039"/>
            <a:ext cx="42519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viola RN, mas há contorno · corrigir na sprint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4206240"/>
            <a:ext cx="1051560" cy="384048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4206240"/>
            <a:ext cx="10515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Média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691640" y="4206240"/>
            <a:ext cx="42519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validação ou UX sem violar RN · backlog priorizado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4663440"/>
            <a:ext cx="1051560" cy="384048"/>
          </a:xfrm>
          <a:prstGeom prst="round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663440"/>
            <a:ext cx="10515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212529"/>
                </a:solidFill>
                <a:latin typeface="Calibri"/>
              </a:rPr>
              <a:t>Baixa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91640" y="4663440"/>
            <a:ext cx="4251960" cy="384048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495257"/>
                </a:solidFill>
                <a:latin typeface="Calibri"/>
              </a:rPr>
              <a:t>cosmético, texto, alinhamento · backlog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5212080"/>
            <a:ext cx="5394960" cy="100584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5212080"/>
            <a:ext cx="4937760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15000"/>
              </a:lnSpc>
            </a:pPr>
            <a:r>
              <a:rPr sz="1150" b="1">
                <a:solidFill>
                  <a:srgbClr val="212529"/>
                </a:solidFill>
                <a:latin typeface="Calibri"/>
              </a:rPr>
              <a:t>Critério de saída da sprint: </a:t>
            </a:r>
            <a:r>
              <a:rPr sz="1150" b="0">
                <a:solidFill>
                  <a:srgbClr val="495257"/>
                </a:solidFill>
                <a:latin typeface="Calibri"/>
              </a:rPr>
              <a:t>0 defeito Crítico ou Alto em aberto. O achado Alto do EXP-01 é exatamente o que falta fechar — está registrado, não escondido.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3291840"/>
            <a:ext cx="5394960" cy="1051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37960" y="3383280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2635F"/>
                </a:solidFill>
                <a:latin typeface="Calibri"/>
              </a:rPr>
              <a:t>EXP-02 · agendamento e concorrência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7960" y="3685032"/>
            <a:ext cx="4937760" cy="5943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495257"/>
                </a:solidFill>
                <a:latin typeface="Calibri"/>
              </a:rPr>
              <a:t>3 bugs achados, 3 corrigidos com teste de regressão: slot não liberado ao cancelar via /status, corrida entre confirmar e cancelar, grade obsoleta após o 409.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63640" y="4434840"/>
            <a:ext cx="5394960" cy="86868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37960" y="4526279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2635F"/>
                </a:solidFill>
                <a:latin typeface="Calibri"/>
              </a:rPr>
              <a:t>EXP-03 · fronteira das 24h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37960" y="4828031"/>
            <a:ext cx="4937760" cy="41147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495257"/>
                </a:solidFill>
                <a:latin typeface="Calibri"/>
              </a:rPr>
              <a:t>1 suspeita investigada e descartada: o cálculo no fuso America/Maceio (RN15) está correto.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263640" y="5394960"/>
            <a:ext cx="5394960" cy="86868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37960" y="5486400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C92A2A"/>
                </a:solidFill>
                <a:latin typeface="Calibri"/>
              </a:rPr>
              <a:t>EXP-01 · 1 achado Alto em aberto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37960" y="5788152"/>
            <a:ext cx="4937760" cy="41147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495257"/>
                </a:solidFill>
                <a:latin typeface="Calibri"/>
              </a:rPr>
              <a:t>No primeiro acesso, validarSenha() aceita senha só de espaços ou de um caractere repetido; validarNome() não valida composição.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Pipeline de integração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429000" cy="1554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10512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12848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7F5F4"/>
                </a:solidFill>
                <a:latin typeface="Calibri"/>
              </a:rPr>
              <a:t>ruff · alembic upgrade
head · pytest --cov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645920"/>
            <a:ext cx="3429000" cy="1554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810512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212848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7F5F4"/>
                </a:solidFill>
                <a:latin typeface="Calibri"/>
              </a:rPr>
              <a:t>eslint · tsc · vitest
· next build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645920"/>
            <a:ext cx="3429000" cy="1554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1810512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212848"/>
            <a:ext cx="3063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E7F5F4"/>
                </a:solidFill>
                <a:latin typeface="Calibri"/>
              </a:rPr>
              <a:t>sobe stack do zero ·
seed rodado 2×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120640" y="3429000"/>
            <a:ext cx="1920240" cy="457200"/>
          </a:xfrm>
          <a:prstGeom prst="downArrow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3977639"/>
            <a:ext cx="5577840" cy="77724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4023360"/>
            <a:ext cx="55778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quality-gate — required status check de main e develop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29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Sem o quality-gate como required check, a proteção de ramo é decorativa — é ele que de fato impede merge de código quebrado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50">
                <a:solidFill>
                  <a:srgbClr val="495257"/>
                </a:solidFill>
                <a:latin typeface="Calibri"/>
              </a:rPr>
              <a:t>•  O seed rodar 2× no job docker não é redundância: é o teste da idempotência prometida no ADR-004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63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1D1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B1D1CF"/>
                </a:solidFill>
                <a:latin typeface="Calibri"/>
              </a:rPr>
              <a:t>AO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8686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1. Atendente — cadastra especialidade, médico, paciente e lança agenda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2. Paciente — primeiro acesso pelo CPF, busca médico, agenda consulta (SOLICITADA)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3. Atendente — confirma e finaliza a consulta (RN06/RN10)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4. Paciente — tenta cancelar consulta finalizada → bloqueado (RN10)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5. Atendente — agenda 2ª consulta; tenta duplicar horário → bloqueado (RN03/RN05)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700">
                <a:solidFill>
                  <a:srgbClr val="E7F5F4"/>
                </a:solidFill>
                <a:latin typeface="Calibri"/>
              </a:rPr>
              <a:t>•  6. Sessão inválida — token corrompido força logout automático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B1D1CF"/>
                </a:solidFill>
                <a:latin typeface="Calibri"/>
              </a:rPr>
              <a:t>localhost:3000 · Swagger em localhost:8000/docs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ESTADO NA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Métricas do projeto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606040" cy="15544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14/14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1460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User Stories entregues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606040" cy="15544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82880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17/17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51460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regras de negócio testadas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645920"/>
            <a:ext cx="2606040" cy="1554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14/14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251460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casos de teste (CT) aprovados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78240" y="1645920"/>
            <a:ext cx="2606040" cy="15544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182880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95 + 116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51460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testes automatizados (back + front)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29000"/>
            <a:ext cx="2606040" cy="15544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1188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84%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9768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cobertura de código no backend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3429000"/>
            <a:ext cx="2606040" cy="1554480"/>
          </a:xfrm>
          <a:prstGeom prst="roundRect">
            <a:avLst/>
          </a:prstGeom>
          <a:solidFill>
            <a:srgbClr val="4493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0" y="361188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29768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ADRs registrados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3429000"/>
            <a:ext cx="2606040" cy="1554480"/>
          </a:xfrm>
          <a:prstGeom prst="roundRect">
            <a:avLst/>
          </a:prstGeom>
          <a:solidFill>
            <a:srgbClr val="126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40" y="361188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429768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bug de robustez em aberto (Alta — validação de senha, EXP-01)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778240" y="3429000"/>
            <a:ext cx="2606040" cy="155448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3611880"/>
            <a:ext cx="2606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297680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0" i="0">
                <a:solidFill>
                  <a:srgbClr val="E7F5F4"/>
                </a:solidFill>
                <a:latin typeface="Calibri"/>
              </a:rPr>
              <a:t>bugs de concorrência achados e corrigidos (EXP-02)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BACKLOG DE EVOLUÇÃO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Melhorias futuras — o que ficou fora, por quê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96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276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Agenda geral consolidada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9842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6002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Dado já acessível pelas telas existentes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146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340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5420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Cadastro de atendente pela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8986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v1.1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0" y="25146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Seed basta; RN14 continua testada por CT14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6484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4564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Perfil de Médico com login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8130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v2.0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34290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Mudaria todo o modelo de autorização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3434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628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3708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Testes end-to-end automatizados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7274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v1.2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77840" y="43434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Competiria com o próprio desenvolvimento em 11 dias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257800"/>
            <a:ext cx="1005840" cy="777240"/>
          </a:xfrm>
          <a:prstGeom prst="round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77256"/>
            <a:ext cx="1005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MF03/04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85232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529"/>
                </a:solidFill>
                <a:latin typeface="Calibri"/>
              </a:rPr>
              <a:t>Editar e excluir especialidade/médico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41848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8726F"/>
                </a:solidFill>
                <a:latin typeface="Calibri"/>
              </a:rPr>
              <a:t>alvo: v1.1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77840" y="5257800"/>
            <a:ext cx="6035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95257"/>
                </a:solidFill>
                <a:latin typeface="Calibri"/>
              </a:rPr>
              <a:t>A inativação entrou no MVP (ADR-009); excluir quebraria o histórico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12635F"/>
                </a:solidFill>
                <a:latin typeface="Calibri"/>
              </a:rPr>
              <a:t>Escopo controlado é competência de Engenharia de Software, não limitação.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44938F"/>
                </a:solidFill>
                <a:latin typeface="Calibri"/>
              </a:rPr>
              <a:t>O QUE A EQUIPE LEVOU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529"/>
                </a:solidFill>
                <a:latin typeface="Calibri"/>
              </a:rPr>
              <a:t>Retrospectiva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1005840" cy="44450"/>
          </a:xfrm>
          <a:prstGeom prst="rect">
            <a:avLst/>
          </a:prstGeom>
          <a:solidFill>
            <a:srgbClr val="287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399"/>
                </a:solidFill>
                <a:latin typeface="Calibr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394960" cy="4480560"/>
          </a:xfrm>
          <a:prstGeom prst="roundRect">
            <a:avLst/>
          </a:prstGeom>
          <a:solidFill>
            <a:srgbClr val="E7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2635F"/>
                </a:solidFill>
                <a:latin typeface="Calibri"/>
              </a:rPr>
              <a:t>O que funcionou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Rebaseline de escopo antes de codificar — nenhuma US
entregue pela metade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Registrar conflito como ADR em vez de resolver em silêncio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Regra “uma US = backend + tela + teste”, sem exceção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Portão de qualidade único bloqueando merge de verdade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Testar pela interface revelou bugs que nenhum teste
unitário pegaria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94960" cy="4480560"/>
          </a:xfrm>
          <a:prstGeom prst="roundRect">
            <a:avLst/>
          </a:prstGeom>
          <a:solidFill>
            <a:srgbClr val="FA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737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529"/>
                </a:solidFill>
                <a:latin typeface="Calibri"/>
              </a:rPr>
              <a:t>O que faríamos diferente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Fazer a análise de rebaseline durante o levantamento
inicial, não no começo da Sprint 1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Alinhar o gerador do board ao backlog canônico antes do
kickoff, não durante a sprint (conflito C14)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300">
                <a:solidFill>
                  <a:srgbClr val="495257"/>
                </a:solidFill>
                <a:latin typeface="Calibri"/>
              </a:rPr>
              <a:t>•  Validar o dateParser de bibliotecas de terceiros com um
teste dedicado, em vez de descobrir em QA manual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399"/>
                </a:solidFill>
                <a:latin typeface="Calibri"/>
              </a:rPr>
              <a:t>Clínica Médica MVP · Equipe 01 · AV2 Engenharia de Software Moderna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